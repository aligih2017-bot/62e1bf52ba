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Montserrat Bold" charset="1" panose="00000800000000000000"/>
      <p:regular r:id="rId23"/>
    </p:embeddedFont>
    <p:embeddedFont>
      <p:font typeface="Atkinson Hyperlegible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10750" y="0"/>
            <a:ext cx="8477250" cy="10287000"/>
          </a:xfrm>
          <a:custGeom>
            <a:avLst/>
            <a:gdLst/>
            <a:ahLst/>
            <a:cxnLst/>
            <a:rect r="r" b="b" t="t" l="l"/>
            <a:pathLst>
              <a:path h="10287000" w="8477250">
                <a:moveTo>
                  <a:pt x="0" y="0"/>
                </a:moveTo>
                <a:lnTo>
                  <a:pt x="8477250" y="0"/>
                </a:lnTo>
                <a:lnTo>
                  <a:pt x="84772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" r="0" b="-19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8096250" y="0"/>
            <a:ext cx="3810000" cy="10287000"/>
            <a:chOff x="0" y="0"/>
            <a:chExt cx="5080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80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7111F">
                    <a:alpha val="70000"/>
                  </a:srgbClr>
                </a:gs>
                <a:gs pos="100000">
                  <a:srgbClr val="07111F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080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52500" y="1390650"/>
            <a:ext cx="7143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27D3C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INFORMATIK · STUNDE 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2552700"/>
            <a:ext cx="9525000" cy="2239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7"/>
              </a:lnSpc>
            </a:pPr>
            <a:r>
              <a:rPr lang="en-US" sz="904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ALGORITHMUS-</a:t>
            </a:r>
          </a:p>
          <a:p>
            <a:pPr algn="l">
              <a:lnSpc>
                <a:spcPts val="8597"/>
              </a:lnSpc>
            </a:pPr>
            <a:r>
              <a:rPr lang="en-US" sz="904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DETEKTIVE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" y="5781675"/>
            <a:ext cx="7429500" cy="125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9"/>
              </a:lnSpc>
            </a:pPr>
            <a:r>
              <a:rPr lang="en-US" sz="3899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Kann ein Computer überhaupt Fehler machen?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3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19100"/>
            <a:ext cx="285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6E7E8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 / RÜCKBLICK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811250" y="419100"/>
            <a:ext cx="3524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32">
                <a:solidFill>
                  <a:srgbClr val="1022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ALGORITHMUS-DETEKTIVE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838200"/>
            <a:ext cx="16383000" cy="19050"/>
            <a:chOff x="0" y="0"/>
            <a:chExt cx="21844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25400"/>
            </a:xfrm>
            <a:custGeom>
              <a:avLst/>
              <a:gdLst/>
              <a:ahLst/>
              <a:cxnLst/>
              <a:rect r="r" b="b" t="t" l="l"/>
              <a:pathLst>
                <a:path h="254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BDD0D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52500" y="1476375"/>
            <a:ext cx="114300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1022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Was wissen wir noch?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" y="2305050"/>
            <a:ext cx="952500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6E7E8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Was war letzte Woche wichtig?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2500" y="4857750"/>
            <a:ext cx="4953000" cy="2000250"/>
            <a:chOff x="0" y="0"/>
            <a:chExt cx="6604000" cy="2667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04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6604000">
                  <a:moveTo>
                    <a:pt x="43962" y="0"/>
                  </a:moveTo>
                  <a:lnTo>
                    <a:pt x="6560038" y="0"/>
                  </a:lnTo>
                  <a:cubicBezTo>
                    <a:pt x="6571698" y="0"/>
                    <a:pt x="6582880" y="4632"/>
                    <a:pt x="6591124" y="12876"/>
                  </a:cubicBezTo>
                  <a:cubicBezTo>
                    <a:pt x="6599368" y="21120"/>
                    <a:pt x="6604000" y="32302"/>
                    <a:pt x="6604000" y="43962"/>
                  </a:cubicBezTo>
                  <a:lnTo>
                    <a:pt x="6604000" y="2623039"/>
                  </a:lnTo>
                  <a:cubicBezTo>
                    <a:pt x="6604000" y="2634698"/>
                    <a:pt x="6599368" y="2645880"/>
                    <a:pt x="6591124" y="2654124"/>
                  </a:cubicBezTo>
                  <a:cubicBezTo>
                    <a:pt x="6582880" y="2662368"/>
                    <a:pt x="6571698" y="2667000"/>
                    <a:pt x="6560038" y="2667000"/>
                  </a:cubicBezTo>
                  <a:lnTo>
                    <a:pt x="43962" y="2667000"/>
                  </a:lnTo>
                  <a:cubicBezTo>
                    <a:pt x="32302" y="2667000"/>
                    <a:pt x="21120" y="2662368"/>
                    <a:pt x="12876" y="2654124"/>
                  </a:cubicBezTo>
                  <a:cubicBezTo>
                    <a:pt x="4632" y="2645880"/>
                    <a:pt x="0" y="2634698"/>
                    <a:pt x="0" y="2623039"/>
                  </a:cubicBezTo>
                  <a:lnTo>
                    <a:pt x="0" y="43962"/>
                  </a:lnTo>
                  <a:cubicBezTo>
                    <a:pt x="0" y="32302"/>
                    <a:pt x="4632" y="21120"/>
                    <a:pt x="12876" y="12876"/>
                  </a:cubicBezTo>
                  <a:cubicBezTo>
                    <a:pt x="21120" y="4632"/>
                    <a:pt x="32302" y="0"/>
                    <a:pt x="43962" y="0"/>
                  </a:cubicBezTo>
                  <a:close/>
                </a:path>
              </a:pathLst>
            </a:custGeom>
            <a:solidFill>
              <a:srgbClr val="102235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6604000" cy="264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5"/>
                </a:lnSpc>
              </a:pPr>
              <a:r>
                <a:rPr lang="en-US" sz="25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INFORMATIK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477000" y="4857750"/>
            <a:ext cx="4953000" cy="2000250"/>
            <a:chOff x="0" y="0"/>
            <a:chExt cx="6604000" cy="2667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04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6604000">
                  <a:moveTo>
                    <a:pt x="43962" y="0"/>
                  </a:moveTo>
                  <a:lnTo>
                    <a:pt x="6560038" y="0"/>
                  </a:lnTo>
                  <a:cubicBezTo>
                    <a:pt x="6571698" y="0"/>
                    <a:pt x="6582880" y="4632"/>
                    <a:pt x="6591124" y="12876"/>
                  </a:cubicBezTo>
                  <a:cubicBezTo>
                    <a:pt x="6599368" y="21120"/>
                    <a:pt x="6604000" y="32302"/>
                    <a:pt x="6604000" y="43962"/>
                  </a:cubicBezTo>
                  <a:lnTo>
                    <a:pt x="6604000" y="2623039"/>
                  </a:lnTo>
                  <a:cubicBezTo>
                    <a:pt x="6604000" y="2634698"/>
                    <a:pt x="6599368" y="2645880"/>
                    <a:pt x="6591124" y="2654124"/>
                  </a:cubicBezTo>
                  <a:cubicBezTo>
                    <a:pt x="6582880" y="2662368"/>
                    <a:pt x="6571698" y="2667000"/>
                    <a:pt x="6560038" y="2667000"/>
                  </a:cubicBezTo>
                  <a:lnTo>
                    <a:pt x="43962" y="2667000"/>
                  </a:lnTo>
                  <a:cubicBezTo>
                    <a:pt x="32302" y="2667000"/>
                    <a:pt x="21120" y="2662368"/>
                    <a:pt x="12876" y="2654124"/>
                  </a:cubicBezTo>
                  <a:cubicBezTo>
                    <a:pt x="4632" y="2645880"/>
                    <a:pt x="0" y="2634698"/>
                    <a:pt x="0" y="2623039"/>
                  </a:cubicBezTo>
                  <a:lnTo>
                    <a:pt x="0" y="43962"/>
                  </a:lnTo>
                  <a:cubicBezTo>
                    <a:pt x="0" y="32302"/>
                    <a:pt x="4632" y="21120"/>
                    <a:pt x="12876" y="12876"/>
                  </a:cubicBezTo>
                  <a:cubicBezTo>
                    <a:pt x="21120" y="4632"/>
                    <a:pt x="32302" y="0"/>
                    <a:pt x="43962" y="0"/>
                  </a:cubicBezTo>
                  <a:close/>
                </a:path>
              </a:pathLst>
            </a:custGeom>
            <a:solidFill>
              <a:srgbClr val="27D3C2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6604000" cy="264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5"/>
                </a:lnSpc>
              </a:pPr>
              <a:r>
                <a:rPr lang="en-US" sz="25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ALGORITHMUS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01500" y="4857750"/>
            <a:ext cx="4953000" cy="2000250"/>
            <a:chOff x="0" y="0"/>
            <a:chExt cx="6604000" cy="2667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04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6604000">
                  <a:moveTo>
                    <a:pt x="43962" y="0"/>
                  </a:moveTo>
                  <a:lnTo>
                    <a:pt x="6560038" y="0"/>
                  </a:lnTo>
                  <a:cubicBezTo>
                    <a:pt x="6571698" y="0"/>
                    <a:pt x="6582880" y="4632"/>
                    <a:pt x="6591124" y="12876"/>
                  </a:cubicBezTo>
                  <a:cubicBezTo>
                    <a:pt x="6599368" y="21120"/>
                    <a:pt x="6604000" y="32302"/>
                    <a:pt x="6604000" y="43962"/>
                  </a:cubicBezTo>
                  <a:lnTo>
                    <a:pt x="6604000" y="2623039"/>
                  </a:lnTo>
                  <a:cubicBezTo>
                    <a:pt x="6604000" y="2634698"/>
                    <a:pt x="6599368" y="2645880"/>
                    <a:pt x="6591124" y="2654124"/>
                  </a:cubicBezTo>
                  <a:cubicBezTo>
                    <a:pt x="6582880" y="2662368"/>
                    <a:pt x="6571698" y="2667000"/>
                    <a:pt x="6560038" y="2667000"/>
                  </a:cubicBezTo>
                  <a:lnTo>
                    <a:pt x="43962" y="2667000"/>
                  </a:lnTo>
                  <a:cubicBezTo>
                    <a:pt x="32302" y="2667000"/>
                    <a:pt x="21120" y="2662368"/>
                    <a:pt x="12876" y="2654124"/>
                  </a:cubicBezTo>
                  <a:cubicBezTo>
                    <a:pt x="4632" y="2645880"/>
                    <a:pt x="0" y="2634698"/>
                    <a:pt x="0" y="2623039"/>
                  </a:cubicBezTo>
                  <a:lnTo>
                    <a:pt x="0" y="43962"/>
                  </a:lnTo>
                  <a:cubicBezTo>
                    <a:pt x="0" y="32302"/>
                    <a:pt x="4632" y="21120"/>
                    <a:pt x="12876" y="12876"/>
                  </a:cubicBezTo>
                  <a:cubicBezTo>
                    <a:pt x="21120" y="4632"/>
                    <a:pt x="32302" y="0"/>
                    <a:pt x="43962" y="0"/>
                  </a:cubicBezTo>
                  <a:close/>
                </a:path>
              </a:pathLst>
            </a:custGeom>
            <a:solidFill>
              <a:srgbClr val="102235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6604000" cy="264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5"/>
                </a:lnSpc>
              </a:pPr>
              <a:r>
                <a:rPr lang="en-US" sz="25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ANWEISUNG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19100"/>
            <a:ext cx="285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27D3C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 / DENKFRAGE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811250" y="419100"/>
            <a:ext cx="3524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3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ALGORITHMUS-DETEKTIVE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838200"/>
            <a:ext cx="16383000" cy="19050"/>
            <a:chOff x="0" y="0"/>
            <a:chExt cx="21844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25400"/>
            </a:xfrm>
            <a:custGeom>
              <a:avLst/>
              <a:gdLst/>
              <a:ahLst/>
              <a:cxnLst/>
              <a:rect r="r" b="b" t="t" l="l"/>
              <a:pathLst>
                <a:path h="254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7D3C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192000" y="2095500"/>
            <a:ext cx="4953000" cy="6191250"/>
          </a:xfrm>
          <a:custGeom>
            <a:avLst/>
            <a:gdLst/>
            <a:ahLst/>
            <a:cxnLst/>
            <a:rect r="r" b="b" t="t" l="l"/>
            <a:pathLst>
              <a:path h="6191250" w="4953000">
                <a:moveTo>
                  <a:pt x="0" y="0"/>
                </a:moveTo>
                <a:lnTo>
                  <a:pt x="4953000" y="0"/>
                </a:lnTo>
                <a:lnTo>
                  <a:pt x="4953000" y="6191250"/>
                </a:lnTo>
                <a:lnTo>
                  <a:pt x="0" y="619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" r="0" b="-78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143000" y="2476500"/>
            <a:ext cx="11334750" cy="1881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7"/>
              </a:lnSpc>
            </a:pPr>
            <a:r>
              <a:rPr lang="en-US" sz="76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„Computer machen</a:t>
            </a:r>
          </a:p>
          <a:p>
            <a:pPr algn="l">
              <a:lnSpc>
                <a:spcPts val="7267"/>
              </a:lnSpc>
            </a:pPr>
            <a:r>
              <a:rPr lang="en-US" sz="76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keine Fehler.“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6572250"/>
            <a:ext cx="666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B8F3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Oder doch?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19100"/>
            <a:ext cx="285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6E7E8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 / FALL 01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811250" y="419100"/>
            <a:ext cx="3524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32">
                <a:solidFill>
                  <a:srgbClr val="1022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ALGORITHMUS-DETEKTIVE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838200"/>
            <a:ext cx="16383000" cy="19050"/>
            <a:chOff x="0" y="0"/>
            <a:chExt cx="21844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25400"/>
            </a:xfrm>
            <a:custGeom>
              <a:avLst/>
              <a:gdLst/>
              <a:ahLst/>
              <a:cxnLst/>
              <a:rect r="r" b="b" t="t" l="l"/>
              <a:pathLst>
                <a:path h="254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BDD0D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9048750" y="1428750"/>
            <a:ext cx="8286750" cy="7620000"/>
          </a:xfrm>
          <a:custGeom>
            <a:avLst/>
            <a:gdLst/>
            <a:ahLst/>
            <a:cxnLst/>
            <a:rect r="r" b="b" t="t" l="l"/>
            <a:pathLst>
              <a:path h="7620000" w="8286750">
                <a:moveTo>
                  <a:pt x="0" y="0"/>
                </a:moveTo>
                <a:lnTo>
                  <a:pt x="8286750" y="0"/>
                </a:lnTo>
                <a:lnTo>
                  <a:pt x="8286750" y="7620000"/>
                </a:lnTo>
                <a:lnTo>
                  <a:pt x="0" y="762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" t="0" r="-43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952500" y="1581150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FF6B5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FALL 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500" y="2486025"/>
            <a:ext cx="8096250" cy="159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21"/>
              </a:lnSpc>
            </a:pPr>
            <a:r>
              <a:rPr lang="en-US" sz="6099" b="true">
                <a:solidFill>
                  <a:srgbClr val="1022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„Packe deinen</a:t>
            </a:r>
          </a:p>
          <a:p>
            <a:pPr algn="l">
              <a:lnSpc>
                <a:spcPts val="6221"/>
              </a:lnSpc>
            </a:pPr>
            <a:r>
              <a:rPr lang="en-US" sz="6099" b="true">
                <a:solidFill>
                  <a:srgbClr val="1022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Rucksack.“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5686425"/>
            <a:ext cx="704850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6E7E8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Reicht diese Anweisung</a:t>
            </a:r>
          </a:p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6E7E8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für einen Computer?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19100"/>
            <a:ext cx="285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27D3C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 / FEHLERSUCHE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811250" y="419100"/>
            <a:ext cx="3524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3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ALGORITHMUS-DETEKTIVE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838200"/>
            <a:ext cx="16383000" cy="19050"/>
            <a:chOff x="0" y="0"/>
            <a:chExt cx="21844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25400"/>
            </a:xfrm>
            <a:custGeom>
              <a:avLst/>
              <a:gdLst/>
              <a:ahLst/>
              <a:cxnLst/>
              <a:rect r="r" b="b" t="t" l="l"/>
              <a:pathLst>
                <a:path h="254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7D3C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52500" y="1381125"/>
            <a:ext cx="114300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 ist das Problem?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" y="8067675"/>
            <a:ext cx="142875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999">
                <a:solidFill>
                  <a:srgbClr val="B8F34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Ein Computer kann nicht erraten, was wir meinen.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2500" y="2857500"/>
            <a:ext cx="7620000" cy="1809750"/>
            <a:chOff x="0" y="0"/>
            <a:chExt cx="10160000" cy="2413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0160000" cy="2413000"/>
              <a:chOff x="0" y="0"/>
              <a:chExt cx="10160000" cy="2413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160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1328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0160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82600" y="428625"/>
              <a:ext cx="9017000" cy="508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„Nimm das Heft.“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82600" y="1384300"/>
              <a:ext cx="9017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FF6B5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WELCHES?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239250" y="2857500"/>
            <a:ext cx="7620000" cy="1809750"/>
            <a:chOff x="0" y="0"/>
            <a:chExt cx="10160000" cy="2413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0160000" cy="2413000"/>
              <a:chOff x="0" y="0"/>
              <a:chExt cx="10160000" cy="2413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160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1328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0160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82600" y="428625"/>
              <a:ext cx="9017000" cy="508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„Pack alles ein.“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82600" y="1384300"/>
              <a:ext cx="9017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FF6B5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WAS IST „ALLES“?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52500" y="5143500"/>
            <a:ext cx="7620000" cy="1809750"/>
            <a:chOff x="0" y="0"/>
            <a:chExt cx="10160000" cy="2413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0160000" cy="2413000"/>
              <a:chOff x="0" y="0"/>
              <a:chExt cx="10160000" cy="2413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160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1328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0160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82600" y="428625"/>
              <a:ext cx="9017000" cy="508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„Mach die Tasche fertig.“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82600" y="1384300"/>
              <a:ext cx="9017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FF6B5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WANN FERTIG?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239250" y="5143500"/>
            <a:ext cx="7620000" cy="1809750"/>
            <a:chOff x="0" y="0"/>
            <a:chExt cx="10160000" cy="24130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0160000" cy="2413000"/>
              <a:chOff x="0" y="0"/>
              <a:chExt cx="10160000" cy="2413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0160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1328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0160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482600" y="428625"/>
              <a:ext cx="9017000" cy="508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„Nimm das da.“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482600" y="1384300"/>
              <a:ext cx="9017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FF6B5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WAS IST „DAS“?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38150"/>
            <a:ext cx="2857500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08" b="true">
                <a:solidFill>
                  <a:srgbClr val="6E7E8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06 / PARTNER-CHALLENGE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811250" y="419100"/>
            <a:ext cx="3524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32">
                <a:solidFill>
                  <a:srgbClr val="1022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ALGORITHMUS-DETEKTIVE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838200"/>
            <a:ext cx="16383000" cy="19050"/>
            <a:chOff x="0" y="0"/>
            <a:chExt cx="21844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25400"/>
            </a:xfrm>
            <a:custGeom>
              <a:avLst/>
              <a:gdLst/>
              <a:ahLst/>
              <a:cxnLst/>
              <a:rect r="r" b="b" t="t" l="l"/>
              <a:pathLst>
                <a:path h="254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BDD0D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668000" y="1714500"/>
            <a:ext cx="6667500" cy="7239000"/>
          </a:xfrm>
          <a:custGeom>
            <a:avLst/>
            <a:gdLst/>
            <a:ahLst/>
            <a:cxnLst/>
            <a:rect r="r" b="b" t="t" l="l"/>
            <a:pathLst>
              <a:path h="7239000" w="6667500">
                <a:moveTo>
                  <a:pt x="0" y="0"/>
                </a:moveTo>
                <a:lnTo>
                  <a:pt x="6667500" y="0"/>
                </a:lnTo>
                <a:lnTo>
                  <a:pt x="6667500" y="7239000"/>
                </a:lnTo>
                <a:lnTo>
                  <a:pt x="0" y="7239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7" r="0" b="-57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952500" y="1571625"/>
            <a:ext cx="95250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9"/>
              </a:lnSpc>
            </a:pPr>
            <a:r>
              <a:rPr lang="en-US" sz="4999" b="true">
                <a:solidFill>
                  <a:srgbClr val="1022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DU BIST DER</a:t>
            </a:r>
          </a:p>
          <a:p>
            <a:pPr algn="l">
              <a:lnSpc>
                <a:spcPts val="5099"/>
              </a:lnSpc>
            </a:pPr>
            <a:r>
              <a:rPr lang="en-US" sz="4999" b="true">
                <a:solidFill>
                  <a:srgbClr val="1022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PROGRAMMIERER.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500" y="4143375"/>
            <a:ext cx="8858250" cy="200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999">
                <a:solidFill>
                  <a:srgbClr val="102235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1  Programmiere deinen Partner.</a:t>
            </a:r>
          </a:p>
          <a:p>
            <a:pPr algn="l">
              <a:lnSpc>
                <a:spcPts val="4049"/>
              </a:lnSpc>
            </a:pPr>
            <a:r>
              <a:rPr lang="en-US" sz="2999">
                <a:solidFill>
                  <a:srgbClr val="102235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2  Partner darf nicht nachfragen.</a:t>
            </a:r>
          </a:p>
          <a:p>
            <a:pPr algn="l">
              <a:lnSpc>
                <a:spcPts val="4049"/>
              </a:lnSpc>
            </a:pPr>
            <a:r>
              <a:rPr lang="en-US" sz="2999">
                <a:solidFill>
                  <a:srgbClr val="102235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3  Er macht nur, was du schreibst.</a:t>
            </a:r>
          </a:p>
          <a:p>
            <a:pPr algn="l">
              <a:lnSpc>
                <a:spcPts val="4049"/>
              </a:lnSpc>
            </a:pPr>
            <a:r>
              <a:rPr lang="en-US" sz="2999">
                <a:solidFill>
                  <a:srgbClr val="102235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4  Fehler zeigen: Algorithmus verbessern.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19100"/>
            <a:ext cx="285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27D3C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07 / ANALYSE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811250" y="419100"/>
            <a:ext cx="3524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3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ALGORITHMUS-DETEKTIVE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838200"/>
            <a:ext cx="16383000" cy="19050"/>
            <a:chOff x="0" y="0"/>
            <a:chExt cx="21844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25400"/>
            </a:xfrm>
            <a:custGeom>
              <a:avLst/>
              <a:gdLst/>
              <a:ahLst/>
              <a:cxnLst/>
              <a:rect r="r" b="b" t="t" l="l"/>
              <a:pathLst>
                <a:path h="254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7D3C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52500" y="1381125"/>
            <a:ext cx="95250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FINDE DEN FEHLER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63250" y="7781925"/>
            <a:ext cx="619125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B8F34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Was stimmt hier nicht?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43000" y="2762250"/>
            <a:ext cx="8572500" cy="914400"/>
            <a:chOff x="0" y="0"/>
            <a:chExt cx="114300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430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430000">
                  <a:moveTo>
                    <a:pt x="25400" y="0"/>
                  </a:moveTo>
                  <a:lnTo>
                    <a:pt x="11404600" y="0"/>
                  </a:lnTo>
                  <a:cubicBezTo>
                    <a:pt x="11418628" y="0"/>
                    <a:pt x="11430000" y="11372"/>
                    <a:pt x="11430000" y="25400"/>
                  </a:cubicBezTo>
                  <a:lnTo>
                    <a:pt x="11430000" y="1193800"/>
                  </a:lnTo>
                  <a:cubicBezTo>
                    <a:pt x="11430000" y="1207828"/>
                    <a:pt x="11418628" y="1219200"/>
                    <a:pt x="11404600" y="1219200"/>
                  </a:cubicBezTo>
                  <a:lnTo>
                    <a:pt x="25400" y="1219200"/>
                  </a:lnTo>
                  <a:cubicBezTo>
                    <a:pt x="11372" y="1219200"/>
                    <a:pt x="0" y="1207828"/>
                    <a:pt x="0" y="11938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FF6B5E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11430000" cy="1200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2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   Putze deine Zähne.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43000" y="4048125"/>
            <a:ext cx="8572500" cy="914400"/>
            <a:chOff x="0" y="0"/>
            <a:chExt cx="11430000" cy="1219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430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430000">
                  <a:moveTo>
                    <a:pt x="25400" y="0"/>
                  </a:moveTo>
                  <a:lnTo>
                    <a:pt x="11404600" y="0"/>
                  </a:lnTo>
                  <a:cubicBezTo>
                    <a:pt x="11418628" y="0"/>
                    <a:pt x="11430000" y="11372"/>
                    <a:pt x="11430000" y="25400"/>
                  </a:cubicBezTo>
                  <a:lnTo>
                    <a:pt x="11430000" y="1193800"/>
                  </a:lnTo>
                  <a:cubicBezTo>
                    <a:pt x="11430000" y="1207828"/>
                    <a:pt x="11418628" y="1219200"/>
                    <a:pt x="11404600" y="1219200"/>
                  </a:cubicBezTo>
                  <a:lnTo>
                    <a:pt x="25400" y="1219200"/>
                  </a:lnTo>
                  <a:cubicBezTo>
                    <a:pt x="11372" y="1219200"/>
                    <a:pt x="0" y="1207828"/>
                    <a:pt x="0" y="11938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183146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11430000" cy="1200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2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   Nimm Zahnpasta.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43000" y="5334000"/>
            <a:ext cx="8572500" cy="914400"/>
            <a:chOff x="0" y="0"/>
            <a:chExt cx="11430000" cy="1219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430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430000">
                  <a:moveTo>
                    <a:pt x="25400" y="0"/>
                  </a:moveTo>
                  <a:lnTo>
                    <a:pt x="11404600" y="0"/>
                  </a:lnTo>
                  <a:cubicBezTo>
                    <a:pt x="11418628" y="0"/>
                    <a:pt x="11430000" y="11372"/>
                    <a:pt x="11430000" y="25400"/>
                  </a:cubicBezTo>
                  <a:lnTo>
                    <a:pt x="11430000" y="1193800"/>
                  </a:lnTo>
                  <a:cubicBezTo>
                    <a:pt x="11430000" y="1207828"/>
                    <a:pt x="11418628" y="1219200"/>
                    <a:pt x="11404600" y="1219200"/>
                  </a:cubicBezTo>
                  <a:lnTo>
                    <a:pt x="25400" y="1219200"/>
                  </a:lnTo>
                  <a:cubicBezTo>
                    <a:pt x="11372" y="1219200"/>
                    <a:pt x="0" y="1207828"/>
                    <a:pt x="0" y="11938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183146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11430000" cy="1200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2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   Nimm die Zahnbürste.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43000" y="6619875"/>
            <a:ext cx="8572500" cy="914400"/>
            <a:chOff x="0" y="0"/>
            <a:chExt cx="11430000" cy="1219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430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430000">
                  <a:moveTo>
                    <a:pt x="25400" y="0"/>
                  </a:moveTo>
                  <a:lnTo>
                    <a:pt x="11404600" y="0"/>
                  </a:lnTo>
                  <a:cubicBezTo>
                    <a:pt x="11418628" y="0"/>
                    <a:pt x="11430000" y="11372"/>
                    <a:pt x="11430000" y="25400"/>
                  </a:cubicBezTo>
                  <a:lnTo>
                    <a:pt x="11430000" y="1193800"/>
                  </a:lnTo>
                  <a:cubicBezTo>
                    <a:pt x="11430000" y="1207828"/>
                    <a:pt x="11418628" y="1219200"/>
                    <a:pt x="11404600" y="1219200"/>
                  </a:cubicBezTo>
                  <a:lnTo>
                    <a:pt x="25400" y="1219200"/>
                  </a:lnTo>
                  <a:cubicBezTo>
                    <a:pt x="11372" y="1219200"/>
                    <a:pt x="0" y="1207828"/>
                    <a:pt x="0" y="11938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183146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11430000" cy="1200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2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4   Fertig.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1239500" y="2571750"/>
            <a:ext cx="5143500" cy="4762500"/>
          </a:xfrm>
          <a:custGeom>
            <a:avLst/>
            <a:gdLst/>
            <a:ahLst/>
            <a:cxnLst/>
            <a:rect r="r" b="b" t="t" l="l"/>
            <a:pathLst>
              <a:path h="4762500" w="5143500">
                <a:moveTo>
                  <a:pt x="0" y="0"/>
                </a:moveTo>
                <a:lnTo>
                  <a:pt x="5143500" y="0"/>
                </a:lnTo>
                <a:lnTo>
                  <a:pt x="5143500" y="4762500"/>
                </a:lnTo>
                <a:lnTo>
                  <a:pt x="0" y="476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" t="0" r="-5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3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19100"/>
            <a:ext cx="285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6E7E8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 / LÖSUNG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811250" y="419100"/>
            <a:ext cx="3524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32">
                <a:solidFill>
                  <a:srgbClr val="1022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ALGORITHMUS-DETEKTIVE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838200"/>
            <a:ext cx="16383000" cy="19050"/>
            <a:chOff x="0" y="0"/>
            <a:chExt cx="21844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25400"/>
            </a:xfrm>
            <a:custGeom>
              <a:avLst/>
              <a:gdLst/>
              <a:ahLst/>
              <a:cxnLst/>
              <a:rect r="r" b="b" t="t" l="l"/>
              <a:pathLst>
                <a:path h="254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BDD0D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52500" y="1381125"/>
            <a:ext cx="8572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1022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DETEKTIV-LÖSUNG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" y="2705100"/>
            <a:ext cx="12751879" cy="2253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1"/>
              </a:lnSpc>
            </a:pPr>
            <a:r>
              <a:rPr lang="en-US" sz="4534">
                <a:solidFill>
                  <a:srgbClr val="FF6B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× Falsche Reihenfolge</a:t>
            </a:r>
          </a:p>
          <a:p>
            <a:pPr algn="l">
              <a:lnSpc>
                <a:spcPts val="6121"/>
              </a:lnSpc>
            </a:pPr>
            <a:r>
              <a:rPr lang="en-US" sz="4534">
                <a:solidFill>
                  <a:srgbClr val="FF6B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× Fehlende Schritte</a:t>
            </a:r>
          </a:p>
          <a:p>
            <a:pPr algn="l">
              <a:lnSpc>
                <a:spcPts val="6121"/>
              </a:lnSpc>
            </a:pPr>
            <a:r>
              <a:rPr lang="en-US" sz="4534">
                <a:solidFill>
                  <a:srgbClr val="FF6B5E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× Unklare Abläufe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239000" y="2333625"/>
            <a:ext cx="4095750" cy="1428750"/>
            <a:chOff x="0" y="0"/>
            <a:chExt cx="5461000" cy="190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61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5461000">
                  <a:moveTo>
                    <a:pt x="53163" y="0"/>
                  </a:moveTo>
                  <a:lnTo>
                    <a:pt x="5407837" y="0"/>
                  </a:lnTo>
                  <a:cubicBezTo>
                    <a:pt x="5421937" y="0"/>
                    <a:pt x="5435459" y="5601"/>
                    <a:pt x="5445429" y="15571"/>
                  </a:cubicBezTo>
                  <a:cubicBezTo>
                    <a:pt x="5455399" y="25541"/>
                    <a:pt x="5461000" y="39063"/>
                    <a:pt x="5461000" y="53163"/>
                  </a:cubicBezTo>
                  <a:lnTo>
                    <a:pt x="5461000" y="1851837"/>
                  </a:lnTo>
                  <a:cubicBezTo>
                    <a:pt x="5461000" y="1865937"/>
                    <a:pt x="5455399" y="1879459"/>
                    <a:pt x="5445429" y="1889429"/>
                  </a:cubicBezTo>
                  <a:cubicBezTo>
                    <a:pt x="5435459" y="1899399"/>
                    <a:pt x="5421937" y="1905000"/>
                    <a:pt x="5407837" y="1905000"/>
                  </a:cubicBezTo>
                  <a:lnTo>
                    <a:pt x="53163" y="1905000"/>
                  </a:lnTo>
                  <a:cubicBezTo>
                    <a:pt x="39063" y="1905000"/>
                    <a:pt x="25541" y="1899399"/>
                    <a:pt x="15571" y="1889429"/>
                  </a:cubicBezTo>
                  <a:cubicBezTo>
                    <a:pt x="5601" y="1879459"/>
                    <a:pt x="0" y="1865937"/>
                    <a:pt x="0" y="1851837"/>
                  </a:cubicBezTo>
                  <a:lnTo>
                    <a:pt x="0" y="53163"/>
                  </a:lnTo>
                  <a:cubicBezTo>
                    <a:pt x="0" y="39063"/>
                    <a:pt x="5601" y="25541"/>
                    <a:pt x="15571" y="15571"/>
                  </a:cubicBezTo>
                  <a:cubicBezTo>
                    <a:pt x="25541" y="5601"/>
                    <a:pt x="39063" y="0"/>
                    <a:pt x="53163" y="0"/>
                  </a:cubicBezTo>
                  <a:close/>
                </a:path>
              </a:pathLst>
            </a:custGeom>
            <a:solidFill>
              <a:srgbClr val="102235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54610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Zahnbürste nehmen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001500" y="2333625"/>
            <a:ext cx="4095750" cy="1428750"/>
            <a:chOff x="0" y="0"/>
            <a:chExt cx="5461000" cy="190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61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5461000">
                  <a:moveTo>
                    <a:pt x="53163" y="0"/>
                  </a:moveTo>
                  <a:lnTo>
                    <a:pt x="5407837" y="0"/>
                  </a:lnTo>
                  <a:cubicBezTo>
                    <a:pt x="5421937" y="0"/>
                    <a:pt x="5435459" y="5601"/>
                    <a:pt x="5445429" y="15571"/>
                  </a:cubicBezTo>
                  <a:cubicBezTo>
                    <a:pt x="5455399" y="25541"/>
                    <a:pt x="5461000" y="39063"/>
                    <a:pt x="5461000" y="53163"/>
                  </a:cubicBezTo>
                  <a:lnTo>
                    <a:pt x="5461000" y="1851837"/>
                  </a:lnTo>
                  <a:cubicBezTo>
                    <a:pt x="5461000" y="1865937"/>
                    <a:pt x="5455399" y="1879459"/>
                    <a:pt x="5445429" y="1889429"/>
                  </a:cubicBezTo>
                  <a:cubicBezTo>
                    <a:pt x="5435459" y="1899399"/>
                    <a:pt x="5421937" y="1905000"/>
                    <a:pt x="5407837" y="1905000"/>
                  </a:cubicBezTo>
                  <a:lnTo>
                    <a:pt x="53163" y="1905000"/>
                  </a:lnTo>
                  <a:cubicBezTo>
                    <a:pt x="39063" y="1905000"/>
                    <a:pt x="25541" y="1899399"/>
                    <a:pt x="15571" y="1889429"/>
                  </a:cubicBezTo>
                  <a:cubicBezTo>
                    <a:pt x="5601" y="1879459"/>
                    <a:pt x="0" y="1865937"/>
                    <a:pt x="0" y="1851837"/>
                  </a:cubicBezTo>
                  <a:lnTo>
                    <a:pt x="0" y="53163"/>
                  </a:lnTo>
                  <a:cubicBezTo>
                    <a:pt x="0" y="39063"/>
                    <a:pt x="5601" y="25541"/>
                    <a:pt x="15571" y="15571"/>
                  </a:cubicBezTo>
                  <a:cubicBezTo>
                    <a:pt x="25541" y="5601"/>
                    <a:pt x="39063" y="0"/>
                    <a:pt x="53163" y="0"/>
                  </a:cubicBezTo>
                  <a:close/>
                </a:path>
              </a:pathLst>
            </a:custGeom>
            <a:solidFill>
              <a:srgbClr val="102235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54610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Zahnpasta auftragen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239000" y="4381500"/>
            <a:ext cx="4095750" cy="1428750"/>
            <a:chOff x="0" y="0"/>
            <a:chExt cx="5461000" cy="1905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61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5461000">
                  <a:moveTo>
                    <a:pt x="53163" y="0"/>
                  </a:moveTo>
                  <a:lnTo>
                    <a:pt x="5407837" y="0"/>
                  </a:lnTo>
                  <a:cubicBezTo>
                    <a:pt x="5421937" y="0"/>
                    <a:pt x="5435459" y="5601"/>
                    <a:pt x="5445429" y="15571"/>
                  </a:cubicBezTo>
                  <a:cubicBezTo>
                    <a:pt x="5455399" y="25541"/>
                    <a:pt x="5461000" y="39063"/>
                    <a:pt x="5461000" y="53163"/>
                  </a:cubicBezTo>
                  <a:lnTo>
                    <a:pt x="5461000" y="1851837"/>
                  </a:lnTo>
                  <a:cubicBezTo>
                    <a:pt x="5461000" y="1865937"/>
                    <a:pt x="5455399" y="1879459"/>
                    <a:pt x="5445429" y="1889429"/>
                  </a:cubicBezTo>
                  <a:cubicBezTo>
                    <a:pt x="5435459" y="1899399"/>
                    <a:pt x="5421937" y="1905000"/>
                    <a:pt x="5407837" y="1905000"/>
                  </a:cubicBezTo>
                  <a:lnTo>
                    <a:pt x="53163" y="1905000"/>
                  </a:lnTo>
                  <a:cubicBezTo>
                    <a:pt x="39063" y="1905000"/>
                    <a:pt x="25541" y="1899399"/>
                    <a:pt x="15571" y="1889429"/>
                  </a:cubicBezTo>
                  <a:cubicBezTo>
                    <a:pt x="5601" y="1879459"/>
                    <a:pt x="0" y="1865937"/>
                    <a:pt x="0" y="1851837"/>
                  </a:cubicBezTo>
                  <a:lnTo>
                    <a:pt x="0" y="53163"/>
                  </a:lnTo>
                  <a:cubicBezTo>
                    <a:pt x="0" y="39063"/>
                    <a:pt x="5601" y="25541"/>
                    <a:pt x="15571" y="15571"/>
                  </a:cubicBezTo>
                  <a:cubicBezTo>
                    <a:pt x="25541" y="5601"/>
                    <a:pt x="39063" y="0"/>
                    <a:pt x="53163" y="0"/>
                  </a:cubicBezTo>
                  <a:close/>
                </a:path>
              </a:pathLst>
            </a:custGeom>
            <a:solidFill>
              <a:srgbClr val="102235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54610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Zähne putzen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001500" y="4381500"/>
            <a:ext cx="4095750" cy="1428750"/>
            <a:chOff x="0" y="0"/>
            <a:chExt cx="5461000" cy="1905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61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5461000">
                  <a:moveTo>
                    <a:pt x="53163" y="0"/>
                  </a:moveTo>
                  <a:lnTo>
                    <a:pt x="5407837" y="0"/>
                  </a:lnTo>
                  <a:cubicBezTo>
                    <a:pt x="5421937" y="0"/>
                    <a:pt x="5435459" y="5601"/>
                    <a:pt x="5445429" y="15571"/>
                  </a:cubicBezTo>
                  <a:cubicBezTo>
                    <a:pt x="5455399" y="25541"/>
                    <a:pt x="5461000" y="39063"/>
                    <a:pt x="5461000" y="53163"/>
                  </a:cubicBezTo>
                  <a:lnTo>
                    <a:pt x="5461000" y="1851837"/>
                  </a:lnTo>
                  <a:cubicBezTo>
                    <a:pt x="5461000" y="1865937"/>
                    <a:pt x="5455399" y="1879459"/>
                    <a:pt x="5445429" y="1889429"/>
                  </a:cubicBezTo>
                  <a:cubicBezTo>
                    <a:pt x="5435459" y="1899399"/>
                    <a:pt x="5421937" y="1905000"/>
                    <a:pt x="5407837" y="1905000"/>
                  </a:cubicBezTo>
                  <a:lnTo>
                    <a:pt x="53163" y="1905000"/>
                  </a:lnTo>
                  <a:cubicBezTo>
                    <a:pt x="39063" y="1905000"/>
                    <a:pt x="25541" y="1899399"/>
                    <a:pt x="15571" y="1889429"/>
                  </a:cubicBezTo>
                  <a:cubicBezTo>
                    <a:pt x="5601" y="1879459"/>
                    <a:pt x="0" y="1865937"/>
                    <a:pt x="0" y="1851837"/>
                  </a:cubicBezTo>
                  <a:lnTo>
                    <a:pt x="0" y="53163"/>
                  </a:lnTo>
                  <a:cubicBezTo>
                    <a:pt x="0" y="39063"/>
                    <a:pt x="5601" y="25541"/>
                    <a:pt x="15571" y="15571"/>
                  </a:cubicBezTo>
                  <a:cubicBezTo>
                    <a:pt x="25541" y="5601"/>
                    <a:pt x="39063" y="0"/>
                    <a:pt x="53163" y="0"/>
                  </a:cubicBezTo>
                  <a:close/>
                </a:path>
              </a:pathLst>
            </a:custGeom>
            <a:solidFill>
              <a:srgbClr val="102235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54610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4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Mund ausspülen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239000" y="6429375"/>
            <a:ext cx="4095750" cy="1428750"/>
            <a:chOff x="0" y="0"/>
            <a:chExt cx="5461000" cy="1905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61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5461000">
                  <a:moveTo>
                    <a:pt x="53163" y="0"/>
                  </a:moveTo>
                  <a:lnTo>
                    <a:pt x="5407837" y="0"/>
                  </a:lnTo>
                  <a:cubicBezTo>
                    <a:pt x="5421937" y="0"/>
                    <a:pt x="5435459" y="5601"/>
                    <a:pt x="5445429" y="15571"/>
                  </a:cubicBezTo>
                  <a:cubicBezTo>
                    <a:pt x="5455399" y="25541"/>
                    <a:pt x="5461000" y="39063"/>
                    <a:pt x="5461000" y="53163"/>
                  </a:cubicBezTo>
                  <a:lnTo>
                    <a:pt x="5461000" y="1851837"/>
                  </a:lnTo>
                  <a:cubicBezTo>
                    <a:pt x="5461000" y="1865937"/>
                    <a:pt x="5455399" y="1879459"/>
                    <a:pt x="5445429" y="1889429"/>
                  </a:cubicBezTo>
                  <a:cubicBezTo>
                    <a:pt x="5435459" y="1899399"/>
                    <a:pt x="5421937" y="1905000"/>
                    <a:pt x="5407837" y="1905000"/>
                  </a:cubicBezTo>
                  <a:lnTo>
                    <a:pt x="53163" y="1905000"/>
                  </a:lnTo>
                  <a:cubicBezTo>
                    <a:pt x="39063" y="1905000"/>
                    <a:pt x="25541" y="1899399"/>
                    <a:pt x="15571" y="1889429"/>
                  </a:cubicBezTo>
                  <a:cubicBezTo>
                    <a:pt x="5601" y="1879459"/>
                    <a:pt x="0" y="1865937"/>
                    <a:pt x="0" y="1851837"/>
                  </a:cubicBezTo>
                  <a:lnTo>
                    <a:pt x="0" y="53163"/>
                  </a:lnTo>
                  <a:cubicBezTo>
                    <a:pt x="0" y="39063"/>
                    <a:pt x="5601" y="25541"/>
                    <a:pt x="15571" y="15571"/>
                  </a:cubicBezTo>
                  <a:cubicBezTo>
                    <a:pt x="25541" y="5601"/>
                    <a:pt x="39063" y="0"/>
                    <a:pt x="53163" y="0"/>
                  </a:cubicBezTo>
                  <a:close/>
                </a:path>
              </a:pathLst>
            </a:custGeom>
            <a:solidFill>
              <a:srgbClr val="27D3C2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19050"/>
              <a:ext cx="54610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5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Bürste abspülen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19100"/>
            <a:ext cx="285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27D3C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09 / SYSTEM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811250" y="419100"/>
            <a:ext cx="3524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3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ALGORITHMUS-DETEKTIVE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838200"/>
            <a:ext cx="16383000" cy="19050"/>
            <a:chOff x="0" y="0"/>
            <a:chExt cx="21844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25400"/>
            </a:xfrm>
            <a:custGeom>
              <a:avLst/>
              <a:gdLst/>
              <a:ahLst/>
              <a:cxnLst/>
              <a:rect r="r" b="b" t="t" l="l"/>
              <a:pathLst>
                <a:path h="254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7D3C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52500" y="1381125"/>
            <a:ext cx="114300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Die vier Fehlerarten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2500" y="2952750"/>
            <a:ext cx="7620000" cy="2095500"/>
            <a:chOff x="0" y="0"/>
            <a:chExt cx="10160000" cy="2794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0160000" cy="2794000"/>
              <a:chOff x="0" y="0"/>
              <a:chExt cx="10160000" cy="2794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160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1328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0160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508000" y="469900"/>
              <a:ext cx="889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27D3C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UNKLAR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508000" y="1304925"/>
              <a:ext cx="8890000" cy="445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FFFFFF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„Mach die Tasche fertig.“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239250" y="2952750"/>
            <a:ext cx="7620000" cy="2095500"/>
            <a:chOff x="0" y="0"/>
            <a:chExt cx="10160000" cy="2794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160000" cy="2794000"/>
              <a:chOff x="0" y="0"/>
              <a:chExt cx="10160000" cy="2794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160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1328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0160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508000" y="469900"/>
              <a:ext cx="889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27D3C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UNVOLLSTÄNDIG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508000" y="1304925"/>
              <a:ext cx="8890000" cy="445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FFFFFF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Wichtige Schritte fehlen.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2500" y="5715000"/>
            <a:ext cx="7620000" cy="2095500"/>
            <a:chOff x="0" y="0"/>
            <a:chExt cx="10160000" cy="27940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0160000" cy="2794000"/>
              <a:chOff x="0" y="0"/>
              <a:chExt cx="10160000" cy="2794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0160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1328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0160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508000" y="469900"/>
              <a:ext cx="889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27D3C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FALSCHE REIHENFOLGE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508000" y="1304925"/>
              <a:ext cx="8890000" cy="445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FFFFFF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Schritte an falscher Stelle.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239250" y="5715000"/>
            <a:ext cx="7620000" cy="2095500"/>
            <a:chOff x="0" y="0"/>
            <a:chExt cx="10160000" cy="27940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10160000" cy="2794000"/>
              <a:chOff x="0" y="0"/>
              <a:chExt cx="10160000" cy="27940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0160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1328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10160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508000" y="469900"/>
              <a:ext cx="889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FF6B5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FEHLER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508000" y="1304925"/>
              <a:ext cx="8890000" cy="445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FFFFFF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Falsches Ergebnis.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3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19100"/>
            <a:ext cx="285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6E7E8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 / PARTNERARBEIT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811250" y="419100"/>
            <a:ext cx="3524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32">
                <a:solidFill>
                  <a:srgbClr val="1022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ALGORITHMUS-DETEKTIVE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838200"/>
            <a:ext cx="16383000" cy="19050"/>
            <a:chOff x="0" y="0"/>
            <a:chExt cx="21844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25400"/>
            </a:xfrm>
            <a:custGeom>
              <a:avLst/>
              <a:gdLst/>
              <a:ahLst/>
              <a:cxnLst/>
              <a:rect r="r" b="b" t="t" l="l"/>
              <a:pathLst>
                <a:path h="254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BDD0D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52500" y="1381125"/>
            <a:ext cx="666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1022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FALLAKTEN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" y="2114550"/>
            <a:ext cx="1047750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6E7E8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Findet Fehler. Verbessert den Algorithmus.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06250" y="8724900"/>
            <a:ext cx="5429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32">
                <a:solidFill>
                  <a:srgbClr val="6E7E8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Arbeitsblatt zur Unterstützung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52500" y="3714750"/>
            <a:ext cx="7620000" cy="1666875"/>
            <a:chOff x="0" y="0"/>
            <a:chExt cx="10160000" cy="2222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60000" cy="2222500"/>
            </a:xfrm>
            <a:custGeom>
              <a:avLst/>
              <a:gdLst/>
              <a:ahLst/>
              <a:cxnLst/>
              <a:rect r="r" b="b" t="t" l="l"/>
              <a:pathLst>
                <a:path h="2222500" w="10160000">
                  <a:moveTo>
                    <a:pt x="28575" y="0"/>
                  </a:moveTo>
                  <a:lnTo>
                    <a:pt x="10131425" y="0"/>
                  </a:lnTo>
                  <a:cubicBezTo>
                    <a:pt x="10147206" y="0"/>
                    <a:pt x="10160000" y="12793"/>
                    <a:pt x="10160000" y="28575"/>
                  </a:cubicBezTo>
                  <a:lnTo>
                    <a:pt x="10160000" y="2193925"/>
                  </a:lnTo>
                  <a:cubicBezTo>
                    <a:pt x="10160000" y="2209707"/>
                    <a:pt x="10147206" y="2222500"/>
                    <a:pt x="10131425" y="2222500"/>
                  </a:cubicBezTo>
                  <a:lnTo>
                    <a:pt x="28575" y="2222500"/>
                  </a:lnTo>
                  <a:cubicBezTo>
                    <a:pt x="12793" y="2222500"/>
                    <a:pt x="0" y="2209707"/>
                    <a:pt x="0" y="21939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27D3C2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10160000" cy="2193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  ZÄHNE PUTZEN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239250" y="3714750"/>
            <a:ext cx="7620000" cy="1666875"/>
            <a:chOff x="0" y="0"/>
            <a:chExt cx="10160000" cy="2222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60000" cy="2222500"/>
            </a:xfrm>
            <a:custGeom>
              <a:avLst/>
              <a:gdLst/>
              <a:ahLst/>
              <a:cxnLst/>
              <a:rect r="r" b="b" t="t" l="l"/>
              <a:pathLst>
                <a:path h="2222500" w="10160000">
                  <a:moveTo>
                    <a:pt x="28575" y="0"/>
                  </a:moveTo>
                  <a:lnTo>
                    <a:pt x="10131425" y="0"/>
                  </a:lnTo>
                  <a:cubicBezTo>
                    <a:pt x="10147206" y="0"/>
                    <a:pt x="10160000" y="12793"/>
                    <a:pt x="10160000" y="28575"/>
                  </a:cubicBezTo>
                  <a:lnTo>
                    <a:pt x="10160000" y="2193925"/>
                  </a:lnTo>
                  <a:cubicBezTo>
                    <a:pt x="10160000" y="2209707"/>
                    <a:pt x="10147206" y="2222500"/>
                    <a:pt x="10131425" y="2222500"/>
                  </a:cubicBezTo>
                  <a:lnTo>
                    <a:pt x="28575" y="2222500"/>
                  </a:lnTo>
                  <a:cubicBezTo>
                    <a:pt x="12793" y="2222500"/>
                    <a:pt x="0" y="2209707"/>
                    <a:pt x="0" y="21939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02235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10160000" cy="2193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  SCHULTASCHE PACKEN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2500" y="5905500"/>
            <a:ext cx="7620000" cy="1666875"/>
            <a:chOff x="0" y="0"/>
            <a:chExt cx="10160000" cy="2222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160000" cy="2222500"/>
            </a:xfrm>
            <a:custGeom>
              <a:avLst/>
              <a:gdLst/>
              <a:ahLst/>
              <a:cxnLst/>
              <a:rect r="r" b="b" t="t" l="l"/>
              <a:pathLst>
                <a:path h="2222500" w="10160000">
                  <a:moveTo>
                    <a:pt x="28575" y="0"/>
                  </a:moveTo>
                  <a:lnTo>
                    <a:pt x="10131425" y="0"/>
                  </a:lnTo>
                  <a:cubicBezTo>
                    <a:pt x="10147206" y="0"/>
                    <a:pt x="10160000" y="12793"/>
                    <a:pt x="10160000" y="28575"/>
                  </a:cubicBezTo>
                  <a:lnTo>
                    <a:pt x="10160000" y="2193925"/>
                  </a:lnTo>
                  <a:cubicBezTo>
                    <a:pt x="10160000" y="2209707"/>
                    <a:pt x="10147206" y="2222500"/>
                    <a:pt x="10131425" y="2222500"/>
                  </a:cubicBezTo>
                  <a:lnTo>
                    <a:pt x="28575" y="2222500"/>
                  </a:lnTo>
                  <a:cubicBezTo>
                    <a:pt x="12793" y="2222500"/>
                    <a:pt x="0" y="2209707"/>
                    <a:pt x="0" y="21939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02235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10160000" cy="2193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  TOAST MACHEN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239250" y="5905500"/>
            <a:ext cx="7620000" cy="1666875"/>
            <a:chOff x="0" y="0"/>
            <a:chExt cx="10160000" cy="2222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160000" cy="2222500"/>
            </a:xfrm>
            <a:custGeom>
              <a:avLst/>
              <a:gdLst/>
              <a:ahLst/>
              <a:cxnLst/>
              <a:rect r="r" b="b" t="t" l="l"/>
              <a:pathLst>
                <a:path h="2222500" w="10160000">
                  <a:moveTo>
                    <a:pt x="28575" y="0"/>
                  </a:moveTo>
                  <a:lnTo>
                    <a:pt x="10131425" y="0"/>
                  </a:lnTo>
                  <a:cubicBezTo>
                    <a:pt x="10147206" y="0"/>
                    <a:pt x="10160000" y="12793"/>
                    <a:pt x="10160000" y="28575"/>
                  </a:cubicBezTo>
                  <a:lnTo>
                    <a:pt x="10160000" y="2193925"/>
                  </a:lnTo>
                  <a:cubicBezTo>
                    <a:pt x="10160000" y="2209707"/>
                    <a:pt x="10147206" y="2222500"/>
                    <a:pt x="10131425" y="2222500"/>
                  </a:cubicBezTo>
                  <a:lnTo>
                    <a:pt x="28575" y="2222500"/>
                  </a:lnTo>
                  <a:cubicBezTo>
                    <a:pt x="12793" y="2222500"/>
                    <a:pt x="0" y="2209707"/>
                    <a:pt x="0" y="21939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02235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10160000" cy="2193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  HANDY ENTSPERREN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19100"/>
            <a:ext cx="285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27D3C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11 / PROZESS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811250" y="419100"/>
            <a:ext cx="3524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3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ALGORITHMUS-DETEKTIVE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838200"/>
            <a:ext cx="16383000" cy="19050"/>
            <a:chOff x="0" y="0"/>
            <a:chExt cx="21844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25400"/>
            </a:xfrm>
            <a:custGeom>
              <a:avLst/>
              <a:gdLst/>
              <a:ahLst/>
              <a:cxnLst/>
              <a:rect r="r" b="b" t="t" l="l"/>
              <a:pathLst>
                <a:path h="254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7D3C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52500" y="1428750"/>
            <a:ext cx="6191250" cy="966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7"/>
              </a:lnSpc>
            </a:pPr>
            <a:r>
              <a:rPr lang="en-US" sz="7650" b="true">
                <a:solidFill>
                  <a:srgbClr val="B8F3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TESTEN!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" y="2305050"/>
            <a:ext cx="114300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Ein Algorithmus ist erst dann gut,</a:t>
            </a:r>
          </a:p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wenn er funktioniert.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62000" y="5429250"/>
            <a:ext cx="2857500" cy="1428750"/>
            <a:chOff x="0" y="0"/>
            <a:chExt cx="3810000" cy="190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1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828800"/>
                  </a:lnTo>
                  <a:cubicBezTo>
                    <a:pt x="3810000" y="1870884"/>
                    <a:pt x="3775884" y="1905000"/>
                    <a:pt x="3733800" y="1905000"/>
                  </a:cubicBezTo>
                  <a:lnTo>
                    <a:pt x="76200" y="1905000"/>
                  </a:lnTo>
                  <a:cubicBezTo>
                    <a:pt x="34116" y="1905000"/>
                    <a:pt x="0" y="1870884"/>
                    <a:pt x="0" y="1828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7D3C2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38100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PLANEN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3667125" y="6143625"/>
            <a:ext cx="476250" cy="0"/>
          </a:xfrm>
          <a:prstGeom prst="line">
            <a:avLst/>
          </a:prstGeom>
          <a:ln cap="rnd" w="47625">
            <a:solidFill>
              <a:srgbClr val="B8F34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4238625" y="5429250"/>
            <a:ext cx="2857500" cy="1428750"/>
            <a:chOff x="0" y="0"/>
            <a:chExt cx="3810000" cy="1905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1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828800"/>
                  </a:lnTo>
                  <a:cubicBezTo>
                    <a:pt x="3810000" y="1870884"/>
                    <a:pt x="3775884" y="1905000"/>
                    <a:pt x="3733800" y="1905000"/>
                  </a:cubicBezTo>
                  <a:lnTo>
                    <a:pt x="76200" y="1905000"/>
                  </a:lnTo>
                  <a:cubicBezTo>
                    <a:pt x="34116" y="1905000"/>
                    <a:pt x="0" y="1870884"/>
                    <a:pt x="0" y="1828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7D3C2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38100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AUSFÜHREN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7143750" y="6143625"/>
            <a:ext cx="476250" cy="0"/>
          </a:xfrm>
          <a:prstGeom prst="line">
            <a:avLst/>
          </a:prstGeom>
          <a:ln cap="rnd" w="47625">
            <a:solidFill>
              <a:srgbClr val="B8F34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7715250" y="5429250"/>
            <a:ext cx="2857500" cy="1428750"/>
            <a:chOff x="0" y="0"/>
            <a:chExt cx="3810000" cy="1905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1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828800"/>
                  </a:lnTo>
                  <a:cubicBezTo>
                    <a:pt x="3810000" y="1870884"/>
                    <a:pt x="3775884" y="1905000"/>
                    <a:pt x="3733800" y="1905000"/>
                  </a:cubicBezTo>
                  <a:lnTo>
                    <a:pt x="76200" y="1905000"/>
                  </a:lnTo>
                  <a:cubicBezTo>
                    <a:pt x="34116" y="1905000"/>
                    <a:pt x="0" y="1870884"/>
                    <a:pt x="0" y="1828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6B5E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19050"/>
              <a:ext cx="38100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FEHLER FINDEN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0620375" y="6143625"/>
            <a:ext cx="476250" cy="0"/>
          </a:xfrm>
          <a:prstGeom prst="line">
            <a:avLst/>
          </a:prstGeom>
          <a:ln cap="rnd" w="47625">
            <a:solidFill>
              <a:srgbClr val="B8F34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1191875" y="5429250"/>
            <a:ext cx="2857500" cy="1428750"/>
            <a:chOff x="0" y="0"/>
            <a:chExt cx="3810000" cy="1905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1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828800"/>
                  </a:lnTo>
                  <a:cubicBezTo>
                    <a:pt x="3810000" y="1870884"/>
                    <a:pt x="3775884" y="1905000"/>
                    <a:pt x="3733800" y="1905000"/>
                  </a:cubicBezTo>
                  <a:lnTo>
                    <a:pt x="76200" y="1905000"/>
                  </a:lnTo>
                  <a:cubicBezTo>
                    <a:pt x="34116" y="1905000"/>
                    <a:pt x="0" y="1870884"/>
                    <a:pt x="0" y="1828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7D3C2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19050"/>
              <a:ext cx="38100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VERBESSERN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14097000" y="6143625"/>
            <a:ext cx="476250" cy="0"/>
          </a:xfrm>
          <a:prstGeom prst="line">
            <a:avLst/>
          </a:prstGeom>
          <a:ln cap="rnd" w="47625">
            <a:solidFill>
              <a:srgbClr val="B8F34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14668500" y="5429250"/>
            <a:ext cx="2857500" cy="1428750"/>
            <a:chOff x="0" y="0"/>
            <a:chExt cx="3810000" cy="1905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81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1828800"/>
                  </a:lnTo>
                  <a:cubicBezTo>
                    <a:pt x="3810000" y="1870884"/>
                    <a:pt x="3775884" y="1905000"/>
                    <a:pt x="3733800" y="1905000"/>
                  </a:cubicBezTo>
                  <a:lnTo>
                    <a:pt x="76200" y="1905000"/>
                  </a:lnTo>
                  <a:cubicBezTo>
                    <a:pt x="34116" y="1905000"/>
                    <a:pt x="0" y="1870884"/>
                    <a:pt x="0" y="1828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7D3C2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38100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NOCHMAL TESTEN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19100"/>
            <a:ext cx="285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6E7E8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12 / NEUER BEGRIFF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811250" y="419100"/>
            <a:ext cx="3524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32">
                <a:solidFill>
                  <a:srgbClr val="1022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ALGORITHMUS-DETEKTIVE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838200"/>
            <a:ext cx="16383000" cy="19050"/>
            <a:chOff x="0" y="0"/>
            <a:chExt cx="21844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25400"/>
            </a:xfrm>
            <a:custGeom>
              <a:avLst/>
              <a:gdLst/>
              <a:ahLst/>
              <a:cxnLst/>
              <a:rect r="r" b="b" t="t" l="l"/>
              <a:pathLst>
                <a:path h="254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BDD0D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572750" y="1143000"/>
            <a:ext cx="6762750" cy="8001000"/>
          </a:xfrm>
          <a:custGeom>
            <a:avLst/>
            <a:gdLst/>
            <a:ahLst/>
            <a:cxnLst/>
            <a:rect r="r" b="b" t="t" l="l"/>
            <a:pathLst>
              <a:path h="8001000" w="6762750">
                <a:moveTo>
                  <a:pt x="0" y="0"/>
                </a:moveTo>
                <a:lnTo>
                  <a:pt x="6762750" y="0"/>
                </a:lnTo>
                <a:lnTo>
                  <a:pt x="6762750" y="8001000"/>
                </a:lnTo>
                <a:lnTo>
                  <a:pt x="0" y="8001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" r="0" b="-14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952500" y="2000250"/>
            <a:ext cx="9239250" cy="966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7"/>
              </a:lnSpc>
            </a:pPr>
            <a:r>
              <a:rPr lang="en-US" sz="7650" b="true">
                <a:solidFill>
                  <a:srgbClr val="1022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DEBUGGING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500" y="3971925"/>
            <a:ext cx="85725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102235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Fehler in einem Programm oder Algorithmus suchen und beheben.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6638925"/>
            <a:ext cx="790575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6E7E8D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Debugging gehört zum Programmieren dazu.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19100"/>
            <a:ext cx="285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27D3C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13 / MINI-CHALLENGE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811250" y="419100"/>
            <a:ext cx="3524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3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ALGORITHMUS-DETEKTIVE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838200"/>
            <a:ext cx="16383000" cy="19050"/>
            <a:chOff x="0" y="0"/>
            <a:chExt cx="21844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25400"/>
            </a:xfrm>
            <a:custGeom>
              <a:avLst/>
              <a:gdLst/>
              <a:ahLst/>
              <a:cxnLst/>
              <a:rect r="r" b="b" t="t" l="l"/>
              <a:pathLst>
                <a:path h="254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7D3C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52500" y="1381125"/>
            <a:ext cx="1000125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Jetzt bist du dran.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" y="2305050"/>
            <a:ext cx="12858750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B8F34A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Erstelle deinen eigenen Algorithmus — 5 bis 7 Schritte.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500" y="8534400"/>
            <a:ext cx="1047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27D3C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Teste den Algorithmus mit deinem Partner.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52500" y="3810000"/>
            <a:ext cx="4762500" cy="1000125"/>
            <a:chOff x="0" y="0"/>
            <a:chExt cx="6350000" cy="1333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6350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1287780"/>
                  </a:lnTo>
                  <a:cubicBezTo>
                    <a:pt x="6350000" y="1313031"/>
                    <a:pt x="6329530" y="1333500"/>
                    <a:pt x="6304280" y="1333500"/>
                  </a:cubicBezTo>
                  <a:lnTo>
                    <a:pt x="45720" y="1333500"/>
                  </a:lnTo>
                  <a:cubicBezTo>
                    <a:pt x="20470" y="1333500"/>
                    <a:pt x="0" y="1313031"/>
                    <a:pt x="0" y="12877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183146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6350000" cy="1314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Zähne putzen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381750" y="3810000"/>
            <a:ext cx="4762500" cy="1000125"/>
            <a:chOff x="0" y="0"/>
            <a:chExt cx="6350000" cy="1333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6350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1287780"/>
                  </a:lnTo>
                  <a:cubicBezTo>
                    <a:pt x="6350000" y="1313031"/>
                    <a:pt x="6329530" y="1333500"/>
                    <a:pt x="6304280" y="1333500"/>
                  </a:cubicBezTo>
                  <a:lnTo>
                    <a:pt x="45720" y="1333500"/>
                  </a:lnTo>
                  <a:cubicBezTo>
                    <a:pt x="20470" y="1333500"/>
                    <a:pt x="0" y="1313031"/>
                    <a:pt x="0" y="12877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183146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6350000" cy="1314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Schuhe anziehen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11000" y="3810000"/>
            <a:ext cx="4762500" cy="1000125"/>
            <a:chOff x="0" y="0"/>
            <a:chExt cx="6350000" cy="1333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6350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1287780"/>
                  </a:lnTo>
                  <a:cubicBezTo>
                    <a:pt x="6350000" y="1313031"/>
                    <a:pt x="6329530" y="1333500"/>
                    <a:pt x="6304280" y="1333500"/>
                  </a:cubicBezTo>
                  <a:lnTo>
                    <a:pt x="45720" y="1333500"/>
                  </a:lnTo>
                  <a:cubicBezTo>
                    <a:pt x="20470" y="1333500"/>
                    <a:pt x="0" y="1313031"/>
                    <a:pt x="0" y="12877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183146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6350000" cy="1314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Rucksack packen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2500" y="5238750"/>
            <a:ext cx="4762500" cy="1000125"/>
            <a:chOff x="0" y="0"/>
            <a:chExt cx="6350000" cy="1333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50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6350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1287780"/>
                  </a:lnTo>
                  <a:cubicBezTo>
                    <a:pt x="6350000" y="1313031"/>
                    <a:pt x="6329530" y="1333500"/>
                    <a:pt x="6304280" y="1333500"/>
                  </a:cubicBezTo>
                  <a:lnTo>
                    <a:pt x="45720" y="1333500"/>
                  </a:lnTo>
                  <a:cubicBezTo>
                    <a:pt x="20470" y="1333500"/>
                    <a:pt x="0" y="1313031"/>
                    <a:pt x="0" y="12877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183146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6350000" cy="1314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Müsli machen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381750" y="5238750"/>
            <a:ext cx="4762500" cy="1000125"/>
            <a:chOff x="0" y="0"/>
            <a:chExt cx="6350000" cy="1333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50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6350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1287780"/>
                  </a:lnTo>
                  <a:cubicBezTo>
                    <a:pt x="6350000" y="1313031"/>
                    <a:pt x="6329530" y="1333500"/>
                    <a:pt x="6304280" y="1333500"/>
                  </a:cubicBezTo>
                  <a:lnTo>
                    <a:pt x="45720" y="1333500"/>
                  </a:lnTo>
                  <a:cubicBezTo>
                    <a:pt x="20470" y="1333500"/>
                    <a:pt x="0" y="1313031"/>
                    <a:pt x="0" y="12877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183146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6350000" cy="1314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Fahrrad abschließen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811000" y="5238750"/>
            <a:ext cx="4762500" cy="1000125"/>
            <a:chOff x="0" y="0"/>
            <a:chExt cx="6350000" cy="1333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50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6350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1287780"/>
                  </a:lnTo>
                  <a:cubicBezTo>
                    <a:pt x="6350000" y="1313031"/>
                    <a:pt x="6329530" y="1333500"/>
                    <a:pt x="6304280" y="1333500"/>
                  </a:cubicBezTo>
                  <a:lnTo>
                    <a:pt x="45720" y="1333500"/>
                  </a:lnTo>
                  <a:cubicBezTo>
                    <a:pt x="20470" y="1333500"/>
                    <a:pt x="0" y="1313031"/>
                    <a:pt x="0" y="12877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183146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6350000" cy="1314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Handy entsperren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52500" y="6667500"/>
            <a:ext cx="4762500" cy="1000125"/>
            <a:chOff x="0" y="0"/>
            <a:chExt cx="6350000" cy="1333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50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6350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1287780"/>
                  </a:lnTo>
                  <a:cubicBezTo>
                    <a:pt x="6350000" y="1313031"/>
                    <a:pt x="6329530" y="1333500"/>
                    <a:pt x="6304280" y="1333500"/>
                  </a:cubicBezTo>
                  <a:lnTo>
                    <a:pt x="45720" y="1333500"/>
                  </a:lnTo>
                  <a:cubicBezTo>
                    <a:pt x="20470" y="1333500"/>
                    <a:pt x="0" y="1313031"/>
                    <a:pt x="0" y="12877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FF6B5E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19050"/>
              <a:ext cx="6350000" cy="1314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Hände waschen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3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19100"/>
            <a:ext cx="285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6E7E8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14 / MERKSATZ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811250" y="419100"/>
            <a:ext cx="3524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32">
                <a:solidFill>
                  <a:srgbClr val="1022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ALGORITHMUS-DETEKTIVE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838200"/>
            <a:ext cx="16383000" cy="19050"/>
            <a:chOff x="0" y="0"/>
            <a:chExt cx="21844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25400"/>
            </a:xfrm>
            <a:custGeom>
              <a:avLst/>
              <a:gdLst/>
              <a:ahLst/>
              <a:cxnLst/>
              <a:rect r="r" b="b" t="t" l="l"/>
              <a:pathLst>
                <a:path h="254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BDD0D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52500" y="1381125"/>
            <a:ext cx="8096250" cy="125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1022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 NEHME ICH</a:t>
            </a:r>
          </a:p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1022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HEUTE MIT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68000" y="7620000"/>
            <a:ext cx="6667500" cy="966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267"/>
              </a:lnSpc>
            </a:pPr>
            <a:r>
              <a:rPr lang="en-US" sz="7650" b="true">
                <a:solidFill>
                  <a:srgbClr val="FF6B5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DEBUGGING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10500" y="1714500"/>
            <a:ext cx="8572500" cy="1381125"/>
            <a:chOff x="0" y="0"/>
            <a:chExt cx="114300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4300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11430000">
                  <a:moveTo>
                    <a:pt x="25400" y="0"/>
                  </a:moveTo>
                  <a:lnTo>
                    <a:pt x="11404600" y="0"/>
                  </a:lnTo>
                  <a:cubicBezTo>
                    <a:pt x="11418628" y="0"/>
                    <a:pt x="11430000" y="11372"/>
                    <a:pt x="11430000" y="25400"/>
                  </a:cubicBezTo>
                  <a:lnTo>
                    <a:pt x="11430000" y="1816100"/>
                  </a:lnTo>
                  <a:cubicBezTo>
                    <a:pt x="11430000" y="1830128"/>
                    <a:pt x="11418628" y="1841500"/>
                    <a:pt x="11404600" y="1841500"/>
                  </a:cubicBezTo>
                  <a:lnTo>
                    <a:pt x="25400" y="1841500"/>
                  </a:lnTo>
                  <a:cubicBezTo>
                    <a:pt x="11372" y="1841500"/>
                    <a:pt x="0" y="1830128"/>
                    <a:pt x="0" y="18161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102235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11430000" cy="1812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  Algorithmen müssen</a:t>
              </a:r>
            </a:p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eindeutig sein.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810500" y="3524250"/>
            <a:ext cx="8572500" cy="1381125"/>
            <a:chOff x="0" y="0"/>
            <a:chExt cx="11430000" cy="1841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4300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11430000">
                  <a:moveTo>
                    <a:pt x="25400" y="0"/>
                  </a:moveTo>
                  <a:lnTo>
                    <a:pt x="11404600" y="0"/>
                  </a:lnTo>
                  <a:cubicBezTo>
                    <a:pt x="11418628" y="0"/>
                    <a:pt x="11430000" y="11372"/>
                    <a:pt x="11430000" y="25400"/>
                  </a:cubicBezTo>
                  <a:lnTo>
                    <a:pt x="11430000" y="1816100"/>
                  </a:lnTo>
                  <a:cubicBezTo>
                    <a:pt x="11430000" y="1830128"/>
                    <a:pt x="11418628" y="1841500"/>
                    <a:pt x="11404600" y="1841500"/>
                  </a:cubicBezTo>
                  <a:lnTo>
                    <a:pt x="25400" y="1841500"/>
                  </a:lnTo>
                  <a:cubicBezTo>
                    <a:pt x="11372" y="1841500"/>
                    <a:pt x="0" y="1830128"/>
                    <a:pt x="0" y="18161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27D3C2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11430000" cy="1812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  Algorithmen müssen</a:t>
              </a:r>
            </a:p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getestet werden.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810500" y="5334000"/>
            <a:ext cx="8572500" cy="1381125"/>
            <a:chOff x="0" y="0"/>
            <a:chExt cx="11430000" cy="1841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4300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11430000">
                  <a:moveTo>
                    <a:pt x="25400" y="0"/>
                  </a:moveTo>
                  <a:lnTo>
                    <a:pt x="11404600" y="0"/>
                  </a:lnTo>
                  <a:cubicBezTo>
                    <a:pt x="11418628" y="0"/>
                    <a:pt x="11430000" y="11372"/>
                    <a:pt x="11430000" y="25400"/>
                  </a:cubicBezTo>
                  <a:lnTo>
                    <a:pt x="11430000" y="1816100"/>
                  </a:lnTo>
                  <a:cubicBezTo>
                    <a:pt x="11430000" y="1830128"/>
                    <a:pt x="11418628" y="1841500"/>
                    <a:pt x="11404600" y="1841500"/>
                  </a:cubicBezTo>
                  <a:lnTo>
                    <a:pt x="25400" y="1841500"/>
                  </a:lnTo>
                  <a:cubicBezTo>
                    <a:pt x="11372" y="1841500"/>
                    <a:pt x="0" y="1830128"/>
                    <a:pt x="0" y="18161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102235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11430000" cy="1812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  Fehler werden gesucht</a:t>
              </a:r>
            </a:p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und verbessert.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19100"/>
            <a:ext cx="285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27D3C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15 / AUSBLICK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811250" y="419100"/>
            <a:ext cx="3524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3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ALGORITHMUS-DETEKTIVE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838200"/>
            <a:ext cx="16383000" cy="19050"/>
            <a:chOff x="0" y="0"/>
            <a:chExt cx="21844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25400"/>
            </a:xfrm>
            <a:custGeom>
              <a:avLst/>
              <a:gdLst/>
              <a:ahLst/>
              <a:cxnLst/>
              <a:rect r="r" b="b" t="t" l="l"/>
              <a:pathLst>
                <a:path h="254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7D3C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9906000" y="1333500"/>
            <a:ext cx="7429500" cy="7810500"/>
          </a:xfrm>
          <a:custGeom>
            <a:avLst/>
            <a:gdLst/>
            <a:ahLst/>
            <a:cxnLst/>
            <a:rect r="r" b="b" t="t" l="l"/>
            <a:pathLst>
              <a:path h="7810500" w="7429500">
                <a:moveTo>
                  <a:pt x="0" y="0"/>
                </a:moveTo>
                <a:lnTo>
                  <a:pt x="7429500" y="0"/>
                </a:lnTo>
                <a:lnTo>
                  <a:pt x="7429500" y="7810500"/>
                </a:lnTo>
                <a:lnTo>
                  <a:pt x="0" y="7810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4" r="0" b="-64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952500" y="1533525"/>
            <a:ext cx="7143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27D3C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NÄCHSTE MISSION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500" y="2619375"/>
            <a:ext cx="8572500" cy="1871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Was passiert, wenn ein Computer entscheiden muss?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7239000"/>
            <a:ext cx="7810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B8F3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WENN … DANN …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3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19100"/>
            <a:ext cx="285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6E7E8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16 / REFLEXION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811250" y="419100"/>
            <a:ext cx="3524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32">
                <a:solidFill>
                  <a:srgbClr val="1022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ALGORITHMUS-DETEKTIVE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838200"/>
            <a:ext cx="16383000" cy="19050"/>
            <a:chOff x="0" y="0"/>
            <a:chExt cx="21844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25400"/>
            </a:xfrm>
            <a:custGeom>
              <a:avLst/>
              <a:gdLst/>
              <a:ahLst/>
              <a:cxnLst/>
              <a:rect r="r" b="b" t="t" l="l"/>
              <a:pathLst>
                <a:path h="254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BDD0D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52500" y="1381125"/>
            <a:ext cx="76200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1022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EXIT-TICKET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43000" y="3000375"/>
            <a:ext cx="14573250" cy="733425"/>
            <a:chOff x="0" y="0"/>
            <a:chExt cx="19431000" cy="9779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1651000" y="952500"/>
              <a:ext cx="17780000" cy="25400"/>
              <a:chOff x="0" y="0"/>
              <a:chExt cx="17780000" cy="254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77800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17780000">
                    <a:moveTo>
                      <a:pt x="0" y="0"/>
                    </a:moveTo>
                    <a:lnTo>
                      <a:pt x="17780000" y="0"/>
                    </a:lnTo>
                    <a:lnTo>
                      <a:pt x="17780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DD0D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77800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0" y="152400"/>
              <a:ext cx="127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FF6B5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651000" y="-28575"/>
              <a:ext cx="17780000" cy="508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400">
                  <a:solidFill>
                    <a:srgbClr val="102235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Nenne einen Fehler, den ein Algorithmus haben kann.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43000" y="5000625"/>
            <a:ext cx="14573250" cy="733425"/>
            <a:chOff x="0" y="0"/>
            <a:chExt cx="19431000" cy="9779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1651000" y="952500"/>
              <a:ext cx="17780000" cy="25400"/>
              <a:chOff x="0" y="0"/>
              <a:chExt cx="17780000" cy="254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77800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17780000">
                    <a:moveTo>
                      <a:pt x="0" y="0"/>
                    </a:moveTo>
                    <a:lnTo>
                      <a:pt x="17780000" y="0"/>
                    </a:lnTo>
                    <a:lnTo>
                      <a:pt x="17780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DD0D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77800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0" y="152400"/>
              <a:ext cx="127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FF6B5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651000" y="-28575"/>
              <a:ext cx="17780000" cy="508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400">
                  <a:solidFill>
                    <a:srgbClr val="102235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Warum muss man Algorithmen testen?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43000" y="7000875"/>
            <a:ext cx="14573250" cy="733425"/>
            <a:chOff x="0" y="0"/>
            <a:chExt cx="19431000" cy="9779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1651000" y="952500"/>
              <a:ext cx="17780000" cy="25400"/>
              <a:chOff x="0" y="0"/>
              <a:chExt cx="17780000" cy="254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77800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17780000">
                    <a:moveTo>
                      <a:pt x="0" y="0"/>
                    </a:moveTo>
                    <a:lnTo>
                      <a:pt x="17780000" y="0"/>
                    </a:lnTo>
                    <a:lnTo>
                      <a:pt x="17780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BDD0D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77800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0" y="152400"/>
              <a:ext cx="127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32" b="true">
                  <a:solidFill>
                    <a:srgbClr val="FF6B5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651000" y="-28575"/>
              <a:ext cx="17780000" cy="508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400">
                  <a:solidFill>
                    <a:srgbClr val="102235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Was bedeutet „Debugging“?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3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419100"/>
            <a:ext cx="285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32" b="true">
                <a:solidFill>
                  <a:srgbClr val="6E7E8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17 / HEFTEINTRAG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811250" y="419100"/>
            <a:ext cx="3524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32">
                <a:solidFill>
                  <a:srgbClr val="1022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ALGORITHMUS-DETEKTIVE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838200"/>
            <a:ext cx="16383000" cy="19050"/>
            <a:chOff x="0" y="0"/>
            <a:chExt cx="21844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25400"/>
            </a:xfrm>
            <a:custGeom>
              <a:avLst/>
              <a:gdLst/>
              <a:ahLst/>
              <a:cxnLst/>
              <a:rect r="r" b="b" t="t" l="l"/>
              <a:pathLst>
                <a:path h="254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BDD0D8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44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750" y="1095375"/>
            <a:ext cx="16192500" cy="8334375"/>
            <a:chOff x="0" y="0"/>
            <a:chExt cx="21590000" cy="11112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90000" cy="11112500"/>
            </a:xfrm>
            <a:custGeom>
              <a:avLst/>
              <a:gdLst/>
              <a:ahLst/>
              <a:cxnLst/>
              <a:rect r="r" b="b" t="t" l="l"/>
              <a:pathLst>
                <a:path h="11112500" w="21590000">
                  <a:moveTo>
                    <a:pt x="0" y="0"/>
                  </a:moveTo>
                  <a:lnTo>
                    <a:pt x="21590000" y="0"/>
                  </a:lnTo>
                  <a:lnTo>
                    <a:pt x="21590000" y="11112500"/>
                  </a:lnTo>
                  <a:lnTo>
                    <a:pt x="0" y="111125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590000" cy="11150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19250" y="1381125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1022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HE2: Algorithmen testen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9250" y="2343150"/>
            <a:ext cx="14287500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99">
                <a:solidFill>
                  <a:srgbClr val="102235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Ein Algorithmus muss nicht nur richtig gedacht, sondern auch getestet werden.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9250" y="3429000"/>
            <a:ext cx="8572500" cy="43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 spc="203" b="true">
                <a:solidFill>
                  <a:srgbClr val="27D3C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Beim Testen achten wir auf: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00250" y="4086225"/>
            <a:ext cx="15541156" cy="2316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0"/>
              </a:lnSpc>
            </a:pPr>
            <a:r>
              <a:rPr lang="en-US" sz="3414">
                <a:solidFill>
                  <a:srgbClr val="102235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• eindeutige Anweisungen</a:t>
            </a:r>
          </a:p>
          <a:p>
            <a:pPr algn="l">
              <a:lnSpc>
                <a:spcPts val="4610"/>
              </a:lnSpc>
            </a:pPr>
            <a:r>
              <a:rPr lang="en-US" sz="3414">
                <a:solidFill>
                  <a:srgbClr val="102235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• vollständige Schritte</a:t>
            </a:r>
          </a:p>
          <a:p>
            <a:pPr algn="l">
              <a:lnSpc>
                <a:spcPts val="4610"/>
              </a:lnSpc>
            </a:pPr>
            <a:r>
              <a:rPr lang="en-US" sz="3414">
                <a:solidFill>
                  <a:srgbClr val="102235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• richtige Reihenfolge</a:t>
            </a:r>
          </a:p>
          <a:p>
            <a:pPr algn="l">
              <a:lnSpc>
                <a:spcPts val="4610"/>
              </a:lnSpc>
            </a:pPr>
            <a:r>
              <a:rPr lang="en-US" sz="3414">
                <a:solidFill>
                  <a:srgbClr val="102235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• mögliche Fehler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19250" y="6905625"/>
            <a:ext cx="1428750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999">
                <a:solidFill>
                  <a:srgbClr val="102235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Wenn ein Algorithmus nicht funktioniert, suchen wir den Fehler und verbessern ihn. Das nennt man Debugging.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73000" y="8820150"/>
            <a:ext cx="3333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132">
                <a:solidFill>
                  <a:srgbClr val="FF6B5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DEBUGGING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DAHWkD4VRho</dc:identifier>
  <dcterms:modified xsi:type="dcterms:W3CDTF">2011-08-01T06:04:30Z</dcterms:modified>
  <cp:revision>1</cp:revision>
  <dc:title>Algorithmus-Detektive</dc:title>
</cp:coreProperties>
</file>