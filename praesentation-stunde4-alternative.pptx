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IBM Plex Mono Bold" charset="1" panose="020B0809050203000203"/>
      <p:regular r:id="rId25"/>
    </p:embeddedFont>
    <p:embeddedFont>
      <p:font typeface="Montserrat Bold" charset="1" panose="00000800000000000000"/>
      <p:regular r:id="rId26"/>
    </p:embeddedFont>
    <p:embeddedFont>
      <p:font typeface="DM Sans" charset="1" panose="00000000000000000000"/>
      <p:regular r:id="rId27"/>
    </p:embeddedFont>
    <p:embeddedFont>
      <p:font typeface="IBM Plex Mono" charset="1" panose="020B05090502030002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0750" y="0"/>
            <a:ext cx="8477250" cy="10287000"/>
          </a:xfrm>
          <a:custGeom>
            <a:avLst/>
            <a:gdLst/>
            <a:ahLst/>
            <a:cxnLst/>
            <a:rect r="r" b="b" t="t" l="l"/>
            <a:pathLst>
              <a:path h="10287000" w="8477250">
                <a:moveTo>
                  <a:pt x="0" y="0"/>
                </a:moveTo>
                <a:lnTo>
                  <a:pt x="8477250" y="0"/>
                </a:lnTo>
                <a:lnTo>
                  <a:pt x="8477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" r="0" b="-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3238500" cy="10287000"/>
            <a:chOff x="0" y="0"/>
            <a:chExt cx="4318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18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82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18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66800" y="1200150"/>
            <a:ext cx="7239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9D3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INFORMATIK · ENTSCHEIDUNGEN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2476500"/>
            <a:ext cx="10744200" cy="213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2"/>
              </a:lnSpc>
            </a:pPr>
            <a:r>
              <a:rPr lang="en-US" sz="8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WENN...    DANN …</a:t>
            </a:r>
          </a:p>
          <a:p>
            <a:pPr algn="l">
              <a:lnSpc>
                <a:spcPts val="8262"/>
              </a:lnSpc>
            </a:pPr>
            <a:r>
              <a:rPr lang="en-US" sz="8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SONST …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6524625"/>
            <a:ext cx="74295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>
                <a:solidFill>
                  <a:srgbClr val="19D3C5"/>
                </a:solidFill>
                <a:latin typeface="DM Sans"/>
                <a:ea typeface="DM Sans"/>
                <a:cs typeface="DM Sans"/>
                <a:sym typeface="DM Sans"/>
              </a:rPr>
              <a:t>Wie entscheidet ein Computer?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66800" y="7858125"/>
            <a:ext cx="1714500" cy="76200"/>
            <a:chOff x="0" y="0"/>
            <a:chExt cx="2286000" cy="10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6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9D3C5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86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14350"/>
            <a:ext cx="2095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9D3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 · RÜCKBLICK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572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5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Was wissen wir schon?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66800" y="3048000"/>
            <a:ext cx="3524250" cy="2000250"/>
            <a:chOff x="0" y="0"/>
            <a:chExt cx="4699000" cy="266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99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699000">
                  <a:moveTo>
                    <a:pt x="0" y="0"/>
                  </a:moveTo>
                  <a:lnTo>
                    <a:pt x="4699000" y="0"/>
                  </a:lnTo>
                  <a:lnTo>
                    <a:pt x="4699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699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067300" y="3048000"/>
            <a:ext cx="3524250" cy="2000250"/>
            <a:chOff x="0" y="0"/>
            <a:chExt cx="4699000" cy="266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99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699000">
                  <a:moveTo>
                    <a:pt x="0" y="0"/>
                  </a:moveTo>
                  <a:lnTo>
                    <a:pt x="4699000" y="0"/>
                  </a:lnTo>
                  <a:lnTo>
                    <a:pt x="4699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699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67800" y="3048000"/>
            <a:ext cx="3524250" cy="2000250"/>
            <a:chOff x="0" y="0"/>
            <a:chExt cx="4699000" cy="266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99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699000">
                  <a:moveTo>
                    <a:pt x="0" y="0"/>
                  </a:moveTo>
                  <a:lnTo>
                    <a:pt x="4699000" y="0"/>
                  </a:lnTo>
                  <a:lnTo>
                    <a:pt x="4699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699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068300" y="3048000"/>
            <a:ext cx="3524250" cy="2000250"/>
            <a:chOff x="0" y="0"/>
            <a:chExt cx="4699000" cy="266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99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699000">
                  <a:moveTo>
                    <a:pt x="0" y="0"/>
                  </a:moveTo>
                  <a:lnTo>
                    <a:pt x="4699000" y="0"/>
                  </a:lnTo>
                  <a:lnTo>
                    <a:pt x="4699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19D3C5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699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52550" y="3371850"/>
            <a:ext cx="295275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</a:t>
            </a:r>
          </a:p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Algorithmus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53050" y="3371850"/>
            <a:ext cx="295275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</a:t>
            </a:r>
          </a:p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Debugging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53550" y="3371850"/>
            <a:ext cx="295275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</a:t>
            </a:r>
          </a:p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Bedingung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54050" y="3371850"/>
            <a:ext cx="2952750" cy="793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175" b="true">
                <a:solidFill>
                  <a:srgbClr val="0718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  <a:p>
            <a:pPr algn="l">
              <a:lnSpc>
                <a:spcPts val="3262"/>
              </a:lnSpc>
            </a:pPr>
            <a:r>
              <a:rPr lang="en-US" sz="2175" b="true">
                <a:solidFill>
                  <a:srgbClr val="0718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WENN–DANN-Regel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66800" y="6000750"/>
            <a:ext cx="16154400" cy="2095500"/>
            <a:chOff x="0" y="0"/>
            <a:chExt cx="21539200" cy="2794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21539200" cy="2794000"/>
              <a:chOff x="0" y="0"/>
              <a:chExt cx="21539200" cy="2794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5392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21539200">
                    <a:moveTo>
                      <a:pt x="0" y="0"/>
                    </a:moveTo>
                    <a:lnTo>
                      <a:pt x="21539200" y="0"/>
                    </a:lnTo>
                    <a:lnTo>
                      <a:pt x="215392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DFF6F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15392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215900"/>
              <a:ext cx="381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19D3C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PARTNER-CHECK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885825"/>
              <a:ext cx="17780000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true">
                  <a:solidFill>
                    <a:srgbClr val="1025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Erkläre deinem Partner eine WENN-DANN-Regel.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66800" y="97250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F718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INFORMATIK · ENTSCHEIDUNGEN   02/19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23875"/>
            <a:ext cx="2095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19D3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 · DAS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695450"/>
            <a:ext cx="142875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9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Ein Weg reicht nicht.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0" y="2381250"/>
            <a:ext cx="6858000" cy="5715000"/>
          </a:xfrm>
          <a:custGeom>
            <a:avLst/>
            <a:gdLst/>
            <a:ahLst/>
            <a:cxnLst/>
            <a:rect r="r" b="b" t="t" l="l"/>
            <a:pathLst>
              <a:path h="5715000" w="6858000">
                <a:moveTo>
                  <a:pt x="0" y="0"/>
                </a:moveTo>
                <a:lnTo>
                  <a:pt x="6858000" y="0"/>
                </a:lnTo>
                <a:lnTo>
                  <a:pt x="68580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" t="0" r="-50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1066800" y="3478982"/>
            <a:ext cx="781050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WENN das Passwort richtig ist,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DANN öffnet sich der Zugang.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" y="5600700"/>
            <a:ext cx="7810500" cy="103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5"/>
              </a:lnSpc>
            </a:pPr>
            <a:r>
              <a:rPr lang="en-US" sz="3674" b="true">
                <a:solidFill>
                  <a:srgbClr val="FF5D6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Was passiert, wenn das Passwort FALSCH ist?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66800" y="7810500"/>
            <a:ext cx="6858000" cy="76200"/>
            <a:chOff x="0" y="0"/>
            <a:chExt cx="9144000" cy="10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F5D6C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14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66800" y="97250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8FA9BE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INFORMATIK · ENTSCHEIDUNGEN   03/19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23875"/>
            <a:ext cx="20955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126" b="true">
                <a:solidFill>
                  <a:srgbClr val="19D3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 · DIE LÖSUNG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572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5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Zwei Wege. Eine Entscheidung.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381250" y="2857500"/>
            <a:ext cx="13525500" cy="5238750"/>
            <a:chOff x="0" y="0"/>
            <a:chExt cx="18034000" cy="6985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5842000" y="0"/>
              <a:ext cx="6350000" cy="1905000"/>
              <a:chOff x="0" y="0"/>
              <a:chExt cx="6350000" cy="1905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6350000">
                    <a:moveTo>
                      <a:pt x="45720" y="0"/>
                    </a:moveTo>
                    <a:lnTo>
                      <a:pt x="6304280" y="0"/>
                    </a:lnTo>
                    <a:cubicBezTo>
                      <a:pt x="6316406" y="0"/>
                      <a:pt x="6328035" y="4817"/>
                      <a:pt x="6336609" y="13391"/>
                    </a:cubicBezTo>
                    <a:cubicBezTo>
                      <a:pt x="6345183" y="21965"/>
                      <a:pt x="6350000" y="33594"/>
                      <a:pt x="6350000" y="45720"/>
                    </a:cubicBezTo>
                    <a:lnTo>
                      <a:pt x="6350000" y="1859280"/>
                    </a:lnTo>
                    <a:cubicBezTo>
                      <a:pt x="6350000" y="1884531"/>
                      <a:pt x="6329530" y="1905000"/>
                      <a:pt x="6304280" y="1905000"/>
                    </a:cubicBezTo>
                    <a:lnTo>
                      <a:pt x="45720" y="1905000"/>
                    </a:lnTo>
                    <a:cubicBezTo>
                      <a:pt x="20470" y="1905000"/>
                      <a:pt x="0" y="1884531"/>
                      <a:pt x="0" y="1859280"/>
                    </a:cubicBezTo>
                    <a:lnTo>
                      <a:pt x="0" y="45720"/>
                    </a:lnTo>
                    <a:cubicBezTo>
                      <a:pt x="0" y="20470"/>
                      <a:pt x="20470" y="0"/>
                      <a:pt x="45720" y="0"/>
                    </a:cubicBezTo>
                    <a:close/>
                  </a:path>
                </a:pathLst>
              </a:custGeom>
              <a:solidFill>
                <a:srgbClr val="102B4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19050"/>
                <a:ext cx="6350000" cy="1885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21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BEDINGUNG?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5080000"/>
              <a:ext cx="6604000" cy="1905000"/>
              <a:chOff x="0" y="0"/>
              <a:chExt cx="6604000" cy="1905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604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6604000">
                    <a:moveTo>
                      <a:pt x="43962" y="0"/>
                    </a:moveTo>
                    <a:lnTo>
                      <a:pt x="6560038" y="0"/>
                    </a:lnTo>
                    <a:cubicBezTo>
                      <a:pt x="6571698" y="0"/>
                      <a:pt x="6582880" y="4632"/>
                      <a:pt x="6591124" y="12876"/>
                    </a:cubicBezTo>
                    <a:cubicBezTo>
                      <a:pt x="6599368" y="21120"/>
                      <a:pt x="6604000" y="32302"/>
                      <a:pt x="6604000" y="43962"/>
                    </a:cubicBezTo>
                    <a:lnTo>
                      <a:pt x="6604000" y="1861039"/>
                    </a:lnTo>
                    <a:cubicBezTo>
                      <a:pt x="6604000" y="1872698"/>
                      <a:pt x="6599368" y="1883880"/>
                      <a:pt x="6591124" y="1892124"/>
                    </a:cubicBezTo>
                    <a:cubicBezTo>
                      <a:pt x="6582880" y="1900368"/>
                      <a:pt x="6571698" y="1905000"/>
                      <a:pt x="6560038" y="1905000"/>
                    </a:cubicBezTo>
                    <a:lnTo>
                      <a:pt x="43962" y="1905000"/>
                    </a:lnTo>
                    <a:cubicBezTo>
                      <a:pt x="32302" y="1905000"/>
                      <a:pt x="21120" y="1900368"/>
                      <a:pt x="12876" y="1892124"/>
                    </a:cubicBezTo>
                    <a:cubicBezTo>
                      <a:pt x="4632" y="1883880"/>
                      <a:pt x="0" y="1872698"/>
                      <a:pt x="0" y="1861039"/>
                    </a:cubicBezTo>
                    <a:lnTo>
                      <a:pt x="0" y="43962"/>
                    </a:lnTo>
                    <a:cubicBezTo>
                      <a:pt x="0" y="32302"/>
                      <a:pt x="4632" y="21120"/>
                      <a:pt x="12876" y="12876"/>
                    </a:cubicBezTo>
                    <a:cubicBezTo>
                      <a:pt x="21120" y="4632"/>
                      <a:pt x="32302" y="0"/>
                      <a:pt x="43962" y="0"/>
                    </a:cubicBezTo>
                    <a:close/>
                  </a:path>
                </a:pathLst>
              </a:custGeom>
              <a:solidFill>
                <a:srgbClr val="48D59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19050"/>
                <a:ext cx="6604000" cy="1885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2100" b="true">
                    <a:solidFill>
                      <a:srgbClr val="07182E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HANDLUNG A</a:t>
                </a: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430000" y="5080000"/>
              <a:ext cx="6604000" cy="1905000"/>
              <a:chOff x="0" y="0"/>
              <a:chExt cx="6604000" cy="1905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604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6604000">
                    <a:moveTo>
                      <a:pt x="43962" y="0"/>
                    </a:moveTo>
                    <a:lnTo>
                      <a:pt x="6560038" y="0"/>
                    </a:lnTo>
                    <a:cubicBezTo>
                      <a:pt x="6571698" y="0"/>
                      <a:pt x="6582880" y="4632"/>
                      <a:pt x="6591124" y="12876"/>
                    </a:cubicBezTo>
                    <a:cubicBezTo>
                      <a:pt x="6599368" y="21120"/>
                      <a:pt x="6604000" y="32302"/>
                      <a:pt x="6604000" y="43962"/>
                    </a:cubicBezTo>
                    <a:lnTo>
                      <a:pt x="6604000" y="1861039"/>
                    </a:lnTo>
                    <a:cubicBezTo>
                      <a:pt x="6604000" y="1872698"/>
                      <a:pt x="6599368" y="1883880"/>
                      <a:pt x="6591124" y="1892124"/>
                    </a:cubicBezTo>
                    <a:cubicBezTo>
                      <a:pt x="6582880" y="1900368"/>
                      <a:pt x="6571698" y="1905000"/>
                      <a:pt x="6560038" y="1905000"/>
                    </a:cubicBezTo>
                    <a:lnTo>
                      <a:pt x="43962" y="1905000"/>
                    </a:lnTo>
                    <a:cubicBezTo>
                      <a:pt x="32302" y="1905000"/>
                      <a:pt x="21120" y="1900368"/>
                      <a:pt x="12876" y="1892124"/>
                    </a:cubicBezTo>
                    <a:cubicBezTo>
                      <a:pt x="4632" y="1883880"/>
                      <a:pt x="0" y="1872698"/>
                      <a:pt x="0" y="1861039"/>
                    </a:cubicBezTo>
                    <a:lnTo>
                      <a:pt x="0" y="43962"/>
                    </a:lnTo>
                    <a:cubicBezTo>
                      <a:pt x="0" y="32302"/>
                      <a:pt x="4632" y="21120"/>
                      <a:pt x="12876" y="12876"/>
                    </a:cubicBezTo>
                    <a:cubicBezTo>
                      <a:pt x="21120" y="4632"/>
                      <a:pt x="32302" y="0"/>
                      <a:pt x="43962" y="0"/>
                    </a:cubicBezTo>
                    <a:close/>
                  </a:path>
                </a:pathLst>
              </a:custGeom>
              <a:solidFill>
                <a:srgbClr val="FF5D6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19050"/>
                <a:ext cx="6604000" cy="1885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21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HANDLUNG B</a:t>
                </a:r>
              </a:p>
            </p:txBody>
          </p:sp>
        </p:grpSp>
        <p:sp>
          <p:nvSpPr>
            <p:cNvPr name="AutoShape 14" id="14"/>
            <p:cNvSpPr/>
            <p:nvPr/>
          </p:nvSpPr>
          <p:spPr>
            <a:xfrm flipH="true">
              <a:off x="3302000" y="1905000"/>
              <a:ext cx="4318000" cy="3175000"/>
            </a:xfrm>
            <a:prstGeom prst="line">
              <a:avLst/>
            </a:prstGeom>
            <a:ln cap="rnd" w="76200">
              <a:solidFill>
                <a:srgbClr val="48D597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10414000" y="1905000"/>
              <a:ext cx="4318000" cy="3175000"/>
            </a:xfrm>
            <a:prstGeom prst="line">
              <a:avLst/>
            </a:prstGeom>
            <a:ln cap="rnd" w="76200">
              <a:solidFill>
                <a:srgbClr val="FF5D6C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16" id="16"/>
            <p:cNvSpPr txBox="true"/>
            <p:nvPr/>
          </p:nvSpPr>
          <p:spPr>
            <a:xfrm rot="0">
              <a:off x="3937000" y="2746375"/>
              <a:ext cx="1270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48D59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JA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2827000" y="2746375"/>
              <a:ext cx="1524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FF5D6C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NEIN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66800" y="97250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F718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INFORMATIK · ENTSCHEIDUNGEN   04/19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7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23875"/>
            <a:ext cx="20955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126" b="true">
                <a:solidFill>
                  <a:srgbClr val="19D3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 · DAS SCHEMA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572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 liest der Computer die Regel.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24000" y="3810000"/>
            <a:ext cx="4095750" cy="2476500"/>
            <a:chOff x="0" y="0"/>
            <a:chExt cx="5461000" cy="3302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61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5461000">
                  <a:moveTo>
                    <a:pt x="53163" y="0"/>
                  </a:moveTo>
                  <a:lnTo>
                    <a:pt x="5407837" y="0"/>
                  </a:lnTo>
                  <a:cubicBezTo>
                    <a:pt x="5421937" y="0"/>
                    <a:pt x="5435459" y="5601"/>
                    <a:pt x="5445429" y="15571"/>
                  </a:cubicBezTo>
                  <a:cubicBezTo>
                    <a:pt x="5455399" y="25541"/>
                    <a:pt x="5461000" y="39063"/>
                    <a:pt x="5461000" y="53163"/>
                  </a:cubicBezTo>
                  <a:lnTo>
                    <a:pt x="5461000" y="3248837"/>
                  </a:lnTo>
                  <a:cubicBezTo>
                    <a:pt x="5461000" y="3262937"/>
                    <a:pt x="5455399" y="3276459"/>
                    <a:pt x="5445429" y="3286429"/>
                  </a:cubicBezTo>
                  <a:cubicBezTo>
                    <a:pt x="5435459" y="3296399"/>
                    <a:pt x="5421937" y="3302000"/>
                    <a:pt x="5407837" y="3302000"/>
                  </a:cubicBezTo>
                  <a:lnTo>
                    <a:pt x="53163" y="3302000"/>
                  </a:lnTo>
                  <a:cubicBezTo>
                    <a:pt x="39063" y="3302000"/>
                    <a:pt x="25541" y="3296399"/>
                    <a:pt x="15571" y="3286429"/>
                  </a:cubicBezTo>
                  <a:cubicBezTo>
                    <a:pt x="5601" y="3276459"/>
                    <a:pt x="0" y="3262937"/>
                    <a:pt x="0" y="3248837"/>
                  </a:cubicBezTo>
                  <a:lnTo>
                    <a:pt x="0" y="53163"/>
                  </a:lnTo>
                  <a:cubicBezTo>
                    <a:pt x="0" y="39063"/>
                    <a:pt x="5601" y="25541"/>
                    <a:pt x="15571" y="15571"/>
                  </a:cubicBezTo>
                  <a:cubicBezTo>
                    <a:pt x="25541" y="5601"/>
                    <a:pt x="39063" y="0"/>
                    <a:pt x="53163" y="0"/>
                  </a:cubicBezTo>
                  <a:close/>
                </a:path>
              </a:pathLst>
            </a:custGeom>
            <a:solidFill>
              <a:srgbClr val="19D3C5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5461000" cy="328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07182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WENN</a:t>
              </a:r>
            </a:p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07182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Bedingung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62750" y="3810000"/>
            <a:ext cx="4095750" cy="2476500"/>
            <a:chOff x="0" y="0"/>
            <a:chExt cx="5461000" cy="330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61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5461000">
                  <a:moveTo>
                    <a:pt x="53163" y="0"/>
                  </a:moveTo>
                  <a:lnTo>
                    <a:pt x="5407837" y="0"/>
                  </a:lnTo>
                  <a:cubicBezTo>
                    <a:pt x="5421937" y="0"/>
                    <a:pt x="5435459" y="5601"/>
                    <a:pt x="5445429" y="15571"/>
                  </a:cubicBezTo>
                  <a:cubicBezTo>
                    <a:pt x="5455399" y="25541"/>
                    <a:pt x="5461000" y="39063"/>
                    <a:pt x="5461000" y="53163"/>
                  </a:cubicBezTo>
                  <a:lnTo>
                    <a:pt x="5461000" y="3248837"/>
                  </a:lnTo>
                  <a:cubicBezTo>
                    <a:pt x="5461000" y="3262937"/>
                    <a:pt x="5455399" y="3276459"/>
                    <a:pt x="5445429" y="3286429"/>
                  </a:cubicBezTo>
                  <a:cubicBezTo>
                    <a:pt x="5435459" y="3296399"/>
                    <a:pt x="5421937" y="3302000"/>
                    <a:pt x="5407837" y="3302000"/>
                  </a:cubicBezTo>
                  <a:lnTo>
                    <a:pt x="53163" y="3302000"/>
                  </a:lnTo>
                  <a:cubicBezTo>
                    <a:pt x="39063" y="3302000"/>
                    <a:pt x="25541" y="3296399"/>
                    <a:pt x="15571" y="3286429"/>
                  </a:cubicBezTo>
                  <a:cubicBezTo>
                    <a:pt x="5601" y="3276459"/>
                    <a:pt x="0" y="3262937"/>
                    <a:pt x="0" y="3248837"/>
                  </a:cubicBezTo>
                  <a:lnTo>
                    <a:pt x="0" y="53163"/>
                  </a:lnTo>
                  <a:cubicBezTo>
                    <a:pt x="0" y="39063"/>
                    <a:pt x="5601" y="25541"/>
                    <a:pt x="15571" y="15571"/>
                  </a:cubicBezTo>
                  <a:cubicBezTo>
                    <a:pt x="25541" y="5601"/>
                    <a:pt x="39063" y="0"/>
                    <a:pt x="5316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5461000" cy="328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07182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DANN</a:t>
              </a:r>
            </a:p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07182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Handlung 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01500" y="3810000"/>
            <a:ext cx="4095750" cy="2476500"/>
            <a:chOff x="0" y="0"/>
            <a:chExt cx="5461000" cy="330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61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5461000">
                  <a:moveTo>
                    <a:pt x="53163" y="0"/>
                  </a:moveTo>
                  <a:lnTo>
                    <a:pt x="5407837" y="0"/>
                  </a:lnTo>
                  <a:cubicBezTo>
                    <a:pt x="5421937" y="0"/>
                    <a:pt x="5435459" y="5601"/>
                    <a:pt x="5445429" y="15571"/>
                  </a:cubicBezTo>
                  <a:cubicBezTo>
                    <a:pt x="5455399" y="25541"/>
                    <a:pt x="5461000" y="39063"/>
                    <a:pt x="5461000" y="53163"/>
                  </a:cubicBezTo>
                  <a:lnTo>
                    <a:pt x="5461000" y="3248837"/>
                  </a:lnTo>
                  <a:cubicBezTo>
                    <a:pt x="5461000" y="3262937"/>
                    <a:pt x="5455399" y="3276459"/>
                    <a:pt x="5445429" y="3286429"/>
                  </a:cubicBezTo>
                  <a:cubicBezTo>
                    <a:pt x="5435459" y="3296399"/>
                    <a:pt x="5421937" y="3302000"/>
                    <a:pt x="5407837" y="3302000"/>
                  </a:cubicBezTo>
                  <a:lnTo>
                    <a:pt x="53163" y="3302000"/>
                  </a:lnTo>
                  <a:cubicBezTo>
                    <a:pt x="39063" y="3302000"/>
                    <a:pt x="25541" y="3296399"/>
                    <a:pt x="15571" y="3286429"/>
                  </a:cubicBezTo>
                  <a:cubicBezTo>
                    <a:pt x="5601" y="3276459"/>
                    <a:pt x="0" y="3262937"/>
                    <a:pt x="0" y="3248837"/>
                  </a:cubicBezTo>
                  <a:lnTo>
                    <a:pt x="0" y="53163"/>
                  </a:lnTo>
                  <a:cubicBezTo>
                    <a:pt x="0" y="39063"/>
                    <a:pt x="5601" y="25541"/>
                    <a:pt x="15571" y="15571"/>
                  </a:cubicBezTo>
                  <a:cubicBezTo>
                    <a:pt x="25541" y="5601"/>
                    <a:pt x="39063" y="0"/>
                    <a:pt x="53163" y="0"/>
                  </a:cubicBezTo>
                  <a:close/>
                </a:path>
              </a:pathLst>
            </a:custGeom>
            <a:solidFill>
              <a:srgbClr val="19D3C5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5461000" cy="328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07182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SONST</a:t>
              </a:r>
            </a:p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07182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Handlung B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5619750" y="5048250"/>
            <a:ext cx="1143000" cy="0"/>
          </a:xfrm>
          <a:prstGeom prst="line">
            <a:avLst/>
          </a:prstGeom>
          <a:ln cap="rnd" w="571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>
            <a:off x="10858500" y="5048250"/>
            <a:ext cx="1143000" cy="0"/>
          </a:xfrm>
          <a:prstGeom prst="line">
            <a:avLst/>
          </a:prstGeom>
          <a:ln cap="rnd" w="571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5" id="15"/>
          <p:cNvSpPr txBox="true"/>
          <p:nvPr/>
        </p:nvSpPr>
        <p:spPr>
          <a:xfrm rot="0">
            <a:off x="3333750" y="7362825"/>
            <a:ext cx="12763500" cy="605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9"/>
              </a:lnSpc>
            </a:pPr>
            <a:r>
              <a:rPr lang="en-US" sz="354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Bedingung prüfen  →  passenden Weg ausführen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6800" y="97250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8FA9BE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INFORMATIK · ENTSCHEIDUNGEN   05/19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14350"/>
            <a:ext cx="2095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9D3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05 · BEISPIEL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572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5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Passwortregel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24000" y="2476500"/>
            <a:ext cx="14763750" cy="4953000"/>
            <a:chOff x="0" y="0"/>
            <a:chExt cx="19685000" cy="6604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1016000"/>
              <a:ext cx="6096000" cy="2159000"/>
              <a:chOff x="0" y="0"/>
              <a:chExt cx="6096000" cy="2159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096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6096000">
                    <a:moveTo>
                      <a:pt x="47625" y="0"/>
                    </a:moveTo>
                    <a:lnTo>
                      <a:pt x="6048375" y="0"/>
                    </a:lnTo>
                    <a:cubicBezTo>
                      <a:pt x="6074678" y="0"/>
                      <a:pt x="6096000" y="21322"/>
                      <a:pt x="6096000" y="47625"/>
                    </a:cubicBezTo>
                    <a:lnTo>
                      <a:pt x="6096000" y="2111375"/>
                    </a:lnTo>
                    <a:cubicBezTo>
                      <a:pt x="6096000" y="2137678"/>
                      <a:pt x="6074678" y="2159000"/>
                      <a:pt x="6048375" y="2159000"/>
                    </a:cubicBezTo>
                    <a:lnTo>
                      <a:pt x="47625" y="2159000"/>
                    </a:lnTo>
                    <a:cubicBezTo>
                      <a:pt x="21322" y="2159000"/>
                      <a:pt x="0" y="2137678"/>
                      <a:pt x="0" y="211137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102B4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19050"/>
                <a:ext cx="6096000" cy="2139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21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Passwort richtig?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1430000" y="0"/>
              <a:ext cx="8255000" cy="2286000"/>
              <a:chOff x="0" y="0"/>
              <a:chExt cx="8255000" cy="2286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255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8255000">
                    <a:moveTo>
                      <a:pt x="35169" y="0"/>
                    </a:moveTo>
                    <a:lnTo>
                      <a:pt x="8219831" y="0"/>
                    </a:lnTo>
                    <a:cubicBezTo>
                      <a:pt x="8239254" y="0"/>
                      <a:pt x="8255000" y="15746"/>
                      <a:pt x="8255000" y="35169"/>
                    </a:cubicBezTo>
                    <a:lnTo>
                      <a:pt x="8255000" y="2250831"/>
                    </a:lnTo>
                    <a:cubicBezTo>
                      <a:pt x="8255000" y="2270254"/>
                      <a:pt x="8239254" y="2286000"/>
                      <a:pt x="8219831" y="2286000"/>
                    </a:cubicBezTo>
                    <a:lnTo>
                      <a:pt x="35169" y="2286000"/>
                    </a:lnTo>
                    <a:cubicBezTo>
                      <a:pt x="15746" y="2286000"/>
                      <a:pt x="0" y="2270254"/>
                      <a:pt x="0" y="2250831"/>
                    </a:cubicBezTo>
                    <a:lnTo>
                      <a:pt x="0" y="35169"/>
                    </a:lnTo>
                    <a:cubicBezTo>
                      <a:pt x="0" y="15746"/>
                      <a:pt x="15746" y="0"/>
                      <a:pt x="35169" y="0"/>
                    </a:cubicBezTo>
                    <a:close/>
                  </a:path>
                </a:pathLst>
              </a:custGeom>
              <a:solidFill>
                <a:srgbClr val="48D59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19050"/>
                <a:ext cx="8255000" cy="2266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2100" b="true">
                    <a:solidFill>
                      <a:srgbClr val="07182E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JA  ·  Zugang öffnen</a:t>
                </a: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430000" y="4318000"/>
              <a:ext cx="8255000" cy="2286000"/>
              <a:chOff x="0" y="0"/>
              <a:chExt cx="8255000" cy="2286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255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8255000">
                    <a:moveTo>
                      <a:pt x="35169" y="0"/>
                    </a:moveTo>
                    <a:lnTo>
                      <a:pt x="8219831" y="0"/>
                    </a:lnTo>
                    <a:cubicBezTo>
                      <a:pt x="8239254" y="0"/>
                      <a:pt x="8255000" y="15746"/>
                      <a:pt x="8255000" y="35169"/>
                    </a:cubicBezTo>
                    <a:lnTo>
                      <a:pt x="8255000" y="2250831"/>
                    </a:lnTo>
                    <a:cubicBezTo>
                      <a:pt x="8255000" y="2270254"/>
                      <a:pt x="8239254" y="2286000"/>
                      <a:pt x="8219831" y="2286000"/>
                    </a:cubicBezTo>
                    <a:lnTo>
                      <a:pt x="35169" y="2286000"/>
                    </a:lnTo>
                    <a:cubicBezTo>
                      <a:pt x="15746" y="2286000"/>
                      <a:pt x="0" y="2270254"/>
                      <a:pt x="0" y="2250831"/>
                    </a:cubicBezTo>
                    <a:lnTo>
                      <a:pt x="0" y="35169"/>
                    </a:lnTo>
                    <a:cubicBezTo>
                      <a:pt x="0" y="15746"/>
                      <a:pt x="15746" y="0"/>
                      <a:pt x="35169" y="0"/>
                    </a:cubicBezTo>
                    <a:close/>
                  </a:path>
                </a:pathLst>
              </a:custGeom>
              <a:solidFill>
                <a:srgbClr val="FF5D6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19050"/>
                <a:ext cx="8255000" cy="2266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21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NEIN  ·  Zugang verweigern</a:t>
                </a:r>
              </a:p>
            </p:txBody>
          </p:sp>
        </p:grpSp>
        <p:sp>
          <p:nvSpPr>
            <p:cNvPr name="AutoShape 14" id="14"/>
            <p:cNvSpPr/>
            <p:nvPr/>
          </p:nvSpPr>
          <p:spPr>
            <a:xfrm flipV="true">
              <a:off x="6096000" y="1143000"/>
              <a:ext cx="5334000" cy="571500"/>
            </a:xfrm>
            <a:prstGeom prst="line">
              <a:avLst/>
            </a:prstGeom>
            <a:ln cap="rnd" w="76200">
              <a:solidFill>
                <a:srgbClr val="48D597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6096000" y="2476500"/>
              <a:ext cx="5334000" cy="2984500"/>
            </a:xfrm>
            <a:prstGeom prst="line">
              <a:avLst/>
            </a:prstGeom>
            <a:ln cap="rnd" w="76200">
              <a:solidFill>
                <a:srgbClr val="FF5D6C"/>
              </a:solidFill>
              <a:prstDash val="solid"/>
              <a:headEnd type="none" len="sm" w="sm"/>
              <a:tailEnd type="arrow" len="sm" w="med"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066800" y="97250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F718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INFORMATIK · ENTSCHEIDUNGEN   06/19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14350"/>
            <a:ext cx="2095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9D3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06 · BEGRIFF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422273"/>
            <a:ext cx="14287500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51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Alternative = ein anderer möglicher Weg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334500" y="2667000"/>
            <a:ext cx="7239000" cy="5715000"/>
          </a:xfrm>
          <a:custGeom>
            <a:avLst/>
            <a:gdLst/>
            <a:ahLst/>
            <a:cxnLst/>
            <a:rect r="r" b="b" t="t" l="l"/>
            <a:pathLst>
              <a:path h="5715000" w="7239000">
                <a:moveTo>
                  <a:pt x="0" y="0"/>
                </a:moveTo>
                <a:lnTo>
                  <a:pt x="7239000" y="0"/>
                </a:lnTo>
                <a:lnTo>
                  <a:pt x="72390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" t="0" r="-45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1066800" y="2562225"/>
            <a:ext cx="2857500" cy="269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50"/>
              </a:lnSpc>
            </a:pPr>
            <a:r>
              <a:rPr lang="en-US" sz="15750" b="true">
                <a:solidFill>
                  <a:srgbClr val="19D3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95550" y="4125087"/>
            <a:ext cx="666750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0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mögliche Wege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6238875"/>
            <a:ext cx="8267700" cy="105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316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Der Computer entscheidet abhängig von einer Bedingung.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97250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8FA9BE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INFORMATIK · ENTSCHEIDUNGEN   07/19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14350"/>
            <a:ext cx="2095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9D3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07 · AUFGABE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572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5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Ampel-Entscheidung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381250" y="3143250"/>
            <a:ext cx="2381250" cy="4953000"/>
            <a:chOff x="0" y="0"/>
            <a:chExt cx="3175000" cy="660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75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6604000"/>
                  </a:lnTo>
                  <a:lnTo>
                    <a:pt x="0" y="6604000"/>
                  </a:lnTo>
                  <a:close/>
                </a:path>
              </a:pathLst>
            </a:custGeom>
            <a:solidFill>
              <a:srgbClr val="102B4E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175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952750" y="3571875"/>
            <a:ext cx="1238250" cy="1238250"/>
            <a:chOff x="0" y="0"/>
            <a:chExt cx="1651000" cy="165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651000">
                  <a:moveTo>
                    <a:pt x="825500" y="0"/>
                  </a:moveTo>
                  <a:cubicBezTo>
                    <a:pt x="1281411" y="0"/>
                    <a:pt x="1651000" y="369589"/>
                    <a:pt x="1651000" y="825500"/>
                  </a:cubicBezTo>
                  <a:cubicBezTo>
                    <a:pt x="1651000" y="1281411"/>
                    <a:pt x="1281411" y="1651000"/>
                    <a:pt x="825500" y="1651000"/>
                  </a:cubicBezTo>
                  <a:cubicBezTo>
                    <a:pt x="369589" y="1651000"/>
                    <a:pt x="0" y="1281411"/>
                    <a:pt x="0" y="825500"/>
                  </a:cubicBezTo>
                  <a:cubicBezTo>
                    <a:pt x="0" y="369589"/>
                    <a:pt x="369589" y="0"/>
                    <a:pt x="825500" y="0"/>
                  </a:cubicBezTo>
                  <a:close/>
                </a:path>
              </a:pathLst>
            </a:custGeom>
            <a:solidFill>
              <a:srgbClr val="FF5D6C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51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952750" y="4953000"/>
            <a:ext cx="1238250" cy="1238250"/>
            <a:chOff x="0" y="0"/>
            <a:chExt cx="1651000" cy="165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5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651000">
                  <a:moveTo>
                    <a:pt x="825500" y="0"/>
                  </a:moveTo>
                  <a:cubicBezTo>
                    <a:pt x="1281411" y="0"/>
                    <a:pt x="1651000" y="369589"/>
                    <a:pt x="1651000" y="825500"/>
                  </a:cubicBezTo>
                  <a:cubicBezTo>
                    <a:pt x="1651000" y="1281411"/>
                    <a:pt x="1281411" y="1651000"/>
                    <a:pt x="825500" y="1651000"/>
                  </a:cubicBezTo>
                  <a:cubicBezTo>
                    <a:pt x="369589" y="1651000"/>
                    <a:pt x="0" y="1281411"/>
                    <a:pt x="0" y="825500"/>
                  </a:cubicBezTo>
                  <a:cubicBezTo>
                    <a:pt x="0" y="369589"/>
                    <a:pt x="369589" y="0"/>
                    <a:pt x="825500" y="0"/>
                  </a:cubicBezTo>
                  <a:close/>
                </a:path>
              </a:pathLst>
            </a:custGeom>
            <a:solidFill>
              <a:srgbClr val="FFC857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51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952750" y="6334125"/>
            <a:ext cx="1238250" cy="1238250"/>
            <a:chOff x="0" y="0"/>
            <a:chExt cx="1651000" cy="165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5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651000">
                  <a:moveTo>
                    <a:pt x="825500" y="0"/>
                  </a:moveTo>
                  <a:cubicBezTo>
                    <a:pt x="1281411" y="0"/>
                    <a:pt x="1651000" y="369589"/>
                    <a:pt x="1651000" y="825500"/>
                  </a:cubicBezTo>
                  <a:cubicBezTo>
                    <a:pt x="1651000" y="1281411"/>
                    <a:pt x="1281411" y="1651000"/>
                    <a:pt x="825500" y="1651000"/>
                  </a:cubicBezTo>
                  <a:cubicBezTo>
                    <a:pt x="369589" y="1651000"/>
                    <a:pt x="0" y="1281411"/>
                    <a:pt x="0" y="825500"/>
                  </a:cubicBezTo>
                  <a:cubicBezTo>
                    <a:pt x="0" y="369589"/>
                    <a:pt x="369589" y="0"/>
                    <a:pt x="825500" y="0"/>
                  </a:cubicBezTo>
                  <a:close/>
                </a:path>
              </a:pathLst>
            </a:custGeom>
            <a:solidFill>
              <a:srgbClr val="48D597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51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667500" y="2524125"/>
            <a:ext cx="9525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5F7186"/>
                </a:solidFill>
                <a:latin typeface="DM Sans"/>
                <a:ea typeface="DM Sans"/>
                <a:cs typeface="DM Sans"/>
                <a:sym typeface="DM Sans"/>
              </a:rPr>
              <a:t>Fülle die Handlungsmöglichkeiten aus!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67500" y="3552825"/>
            <a:ext cx="10001250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3600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WENN die Ampel grün ist,</a:t>
            </a:r>
          </a:p>
          <a:p>
            <a:pPr algn="l">
              <a:lnSpc>
                <a:spcPts val="5940"/>
              </a:lnSpc>
            </a:pPr>
            <a:r>
              <a:rPr lang="en-US" sz="3600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DANN ____________________,</a:t>
            </a:r>
          </a:p>
          <a:p>
            <a:pPr algn="l">
              <a:lnSpc>
                <a:spcPts val="5940"/>
              </a:lnSpc>
            </a:pPr>
            <a:r>
              <a:rPr lang="en-US" sz="3600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SONST ____________________.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6800" y="97250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F718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INFORMATIK · ENTSCHEIDUNGEN   08/19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14350"/>
            <a:ext cx="2095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9D3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08 · AUFGABE 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572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5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Akku-Entscheidung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24000" y="2667000"/>
            <a:ext cx="4953000" cy="5429250"/>
          </a:xfrm>
          <a:custGeom>
            <a:avLst/>
            <a:gdLst/>
            <a:ahLst/>
            <a:cxnLst/>
            <a:rect r="r" b="b" t="t" l="l"/>
            <a:pathLst>
              <a:path h="5429250" w="4953000">
                <a:moveTo>
                  <a:pt x="0" y="0"/>
                </a:moveTo>
                <a:lnTo>
                  <a:pt x="4953000" y="0"/>
                </a:lnTo>
                <a:lnTo>
                  <a:pt x="4953000" y="5429250"/>
                </a:lnTo>
                <a:lnTo>
                  <a:pt x="0" y="5429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6" r="0" b="-56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7620000" y="2667000"/>
            <a:ext cx="7620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F7186"/>
                </a:solidFill>
                <a:latin typeface="DM Sans"/>
                <a:ea typeface="DM Sans"/>
                <a:cs typeface="DM Sans"/>
                <a:sym typeface="DM Sans"/>
              </a:rPr>
              <a:t>Fülle beide Wege aus.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20000" y="3714750"/>
            <a:ext cx="9525000" cy="208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2"/>
              </a:lnSpc>
            </a:pPr>
            <a:r>
              <a:rPr lang="en-US" sz="3450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WENN der Akku leer ist,</a:t>
            </a:r>
          </a:p>
          <a:p>
            <a:pPr algn="l">
              <a:lnSpc>
                <a:spcPts val="5692"/>
              </a:lnSpc>
            </a:pPr>
            <a:r>
              <a:rPr lang="en-US" sz="3450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DANN ____________________,</a:t>
            </a:r>
          </a:p>
          <a:p>
            <a:pPr algn="l">
              <a:lnSpc>
                <a:spcPts val="5692"/>
              </a:lnSpc>
            </a:pPr>
            <a:r>
              <a:rPr lang="en-US" sz="3450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SONST ____________________.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97250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F718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INFORMATIK · ENTSCHEIDUNGEN   09/19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14350"/>
            <a:ext cx="2095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9D3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09 · AUFGABE 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572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5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Login-Entscheidung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19250" y="2857500"/>
            <a:ext cx="5810250" cy="4953000"/>
            <a:chOff x="0" y="0"/>
            <a:chExt cx="7747000" cy="6604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7747000" cy="6604000"/>
              <a:chOff x="0" y="0"/>
              <a:chExt cx="7747000" cy="6604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747000" cy="6604000"/>
              </a:xfrm>
              <a:custGeom>
                <a:avLst/>
                <a:gdLst/>
                <a:ahLst/>
                <a:cxnLst/>
                <a:rect r="r" b="b" t="t" l="l"/>
                <a:pathLst>
                  <a:path h="6604000" w="7747000">
                    <a:moveTo>
                      <a:pt x="0" y="0"/>
                    </a:moveTo>
                    <a:lnTo>
                      <a:pt x="7747000" y="0"/>
                    </a:lnTo>
                    <a:lnTo>
                      <a:pt x="7747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7747000" cy="664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762000" y="587375"/>
              <a:ext cx="60960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10253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LOGIN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762000" y="1892300"/>
              <a:ext cx="6096000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>
                  <a:solidFill>
                    <a:srgbClr val="19D3C5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••••••••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635000" y="1778000"/>
              <a:ext cx="6477000" cy="1270000"/>
              <a:chOff x="0" y="0"/>
              <a:chExt cx="6477000" cy="127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477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E5F1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477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35000" y="4064000"/>
              <a:ext cx="6477000" cy="1270000"/>
              <a:chOff x="0" y="0"/>
              <a:chExt cx="6477000" cy="1270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477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6477000">
                    <a:moveTo>
                      <a:pt x="44824" y="0"/>
                    </a:moveTo>
                    <a:lnTo>
                      <a:pt x="6432176" y="0"/>
                    </a:lnTo>
                    <a:cubicBezTo>
                      <a:pt x="6444064" y="0"/>
                      <a:pt x="6455465" y="4722"/>
                      <a:pt x="6463871" y="13129"/>
                    </a:cubicBezTo>
                    <a:cubicBezTo>
                      <a:pt x="6472277" y="21535"/>
                      <a:pt x="6477000" y="32936"/>
                      <a:pt x="6477000" y="44824"/>
                    </a:cubicBezTo>
                    <a:lnTo>
                      <a:pt x="6477000" y="1225176"/>
                    </a:lnTo>
                    <a:cubicBezTo>
                      <a:pt x="6477000" y="1237064"/>
                      <a:pt x="6472277" y="1248465"/>
                      <a:pt x="6463871" y="1256872"/>
                    </a:cubicBezTo>
                    <a:cubicBezTo>
                      <a:pt x="6455465" y="1265278"/>
                      <a:pt x="6444064" y="1270000"/>
                      <a:pt x="6432176" y="1270000"/>
                    </a:cubicBezTo>
                    <a:lnTo>
                      <a:pt x="44824" y="1270000"/>
                    </a:lnTo>
                    <a:cubicBezTo>
                      <a:pt x="32936" y="1270000"/>
                      <a:pt x="21535" y="1265278"/>
                      <a:pt x="13129" y="1256872"/>
                    </a:cubicBezTo>
                    <a:cubicBezTo>
                      <a:pt x="4722" y="1248465"/>
                      <a:pt x="0" y="1237064"/>
                      <a:pt x="0" y="1225176"/>
                    </a:cubicBezTo>
                    <a:lnTo>
                      <a:pt x="0" y="44824"/>
                    </a:lnTo>
                    <a:cubicBezTo>
                      <a:pt x="0" y="32936"/>
                      <a:pt x="4722" y="21535"/>
                      <a:pt x="13129" y="13129"/>
                    </a:cubicBezTo>
                    <a:cubicBezTo>
                      <a:pt x="21535" y="4722"/>
                      <a:pt x="32936" y="0"/>
                      <a:pt x="44824" y="0"/>
                    </a:cubicBezTo>
                    <a:close/>
                  </a:path>
                </a:pathLst>
              </a:custGeom>
              <a:solidFill>
                <a:srgbClr val="19D3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6477000" cy="1250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2100" b="true">
                    <a:solidFill>
                      <a:srgbClr val="07182E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PRÜFEN</a:t>
                </a: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8572500" y="3362325"/>
            <a:ext cx="8382000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0"/>
              </a:lnSpc>
            </a:pPr>
            <a:r>
              <a:rPr lang="en-US" sz="3300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WENN das Passwort richtig ist,</a:t>
            </a:r>
          </a:p>
          <a:p>
            <a:pPr algn="l">
              <a:lnSpc>
                <a:spcPts val="5610"/>
              </a:lnSpc>
            </a:pPr>
            <a:r>
              <a:rPr lang="en-US" sz="3300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DANN ____________________,</a:t>
            </a:r>
          </a:p>
          <a:p>
            <a:pPr algn="l">
              <a:lnSpc>
                <a:spcPts val="5610"/>
              </a:lnSpc>
            </a:pPr>
            <a:r>
              <a:rPr lang="en-US" sz="3300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SONST ____________________.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6800" y="97250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F718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INFORMATIK · ENTSCHEIDUNGEN   10/19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7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14350"/>
            <a:ext cx="2095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9D3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 · LÖSUNGEN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572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Mögliche Antworten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66800" y="2952750"/>
            <a:ext cx="16154400" cy="1333500"/>
            <a:chOff x="0" y="0"/>
            <a:chExt cx="21539200" cy="177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392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1539200">
                  <a:moveTo>
                    <a:pt x="0" y="0"/>
                  </a:moveTo>
                  <a:lnTo>
                    <a:pt x="21539200" y="0"/>
                  </a:lnTo>
                  <a:lnTo>
                    <a:pt x="215392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102B4E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392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66800" y="4714875"/>
            <a:ext cx="16154400" cy="1333500"/>
            <a:chOff x="0" y="0"/>
            <a:chExt cx="21539200" cy="177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392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1539200">
                  <a:moveTo>
                    <a:pt x="0" y="0"/>
                  </a:moveTo>
                  <a:lnTo>
                    <a:pt x="21539200" y="0"/>
                  </a:lnTo>
                  <a:lnTo>
                    <a:pt x="215392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123757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5392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66800" y="6477000"/>
            <a:ext cx="16154400" cy="1333500"/>
            <a:chOff x="0" y="0"/>
            <a:chExt cx="21539200" cy="177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392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1539200">
                  <a:moveTo>
                    <a:pt x="0" y="0"/>
                  </a:moveTo>
                  <a:lnTo>
                    <a:pt x="21539200" y="0"/>
                  </a:lnTo>
                  <a:lnTo>
                    <a:pt x="215392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102B4E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5392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19250" y="3314700"/>
            <a:ext cx="142875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AMPEL   ·   DANN gehen   /   SONST warten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9250" y="5076825"/>
            <a:ext cx="142875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19D3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AKKU    ·   DANN laden   /   SONST weiter nutzen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19250" y="6838950"/>
            <a:ext cx="142875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LOGIN   ·   DANN öffnen   /   SONST verweigern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6800" y="8496300"/>
            <a:ext cx="10477500" cy="32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9EB6C8"/>
                </a:solidFill>
                <a:latin typeface="DM Sans"/>
                <a:ea typeface="DM Sans"/>
                <a:cs typeface="DM Sans"/>
                <a:sym typeface="DM Sans"/>
              </a:rPr>
              <a:t>Andere sinnvolle Antworten sind erlaubt.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6800" y="97250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8FA9BE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INFORMATIK · ENTSCHEIDUNGEN   11/19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23875"/>
            <a:ext cx="20955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84" b="true">
                <a:solidFill>
                  <a:srgbClr val="19D3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 · COMPUTER IM ALLTAG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572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5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 wird entschieden?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66800" y="2952750"/>
            <a:ext cx="4762500" cy="1905000"/>
            <a:chOff x="0" y="0"/>
            <a:chExt cx="6350000" cy="254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35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00800" y="2952750"/>
            <a:ext cx="4762500" cy="1905000"/>
            <a:chOff x="0" y="0"/>
            <a:chExt cx="6350000" cy="254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734800" y="2952750"/>
            <a:ext cx="4762500" cy="1905000"/>
            <a:chOff x="0" y="0"/>
            <a:chExt cx="6350000" cy="254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19D3C5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35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66800" y="5429250"/>
            <a:ext cx="4762500" cy="1905000"/>
            <a:chOff x="0" y="0"/>
            <a:chExt cx="6350000" cy="254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35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00800" y="5429250"/>
            <a:ext cx="4762500" cy="1905000"/>
            <a:chOff x="0" y="0"/>
            <a:chExt cx="6350000" cy="254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350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28750" y="3295650"/>
            <a:ext cx="4000500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25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</a:t>
            </a:r>
          </a:p>
          <a:p>
            <a:pPr algn="l">
              <a:lnSpc>
                <a:spcPts val="3240"/>
              </a:lnSpc>
            </a:pPr>
            <a:r>
              <a:rPr lang="en-US" sz="2025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SMARTPHONE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62750" y="3295650"/>
            <a:ext cx="4000500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25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</a:t>
            </a:r>
          </a:p>
          <a:p>
            <a:pPr algn="l">
              <a:lnSpc>
                <a:spcPts val="3240"/>
              </a:lnSpc>
            </a:pPr>
            <a:r>
              <a:rPr lang="en-US" sz="2025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GELDAUTOMAT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96750" y="3295650"/>
            <a:ext cx="4000500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25" b="true">
                <a:solidFill>
                  <a:srgbClr val="07182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</a:t>
            </a:r>
          </a:p>
          <a:p>
            <a:pPr algn="l">
              <a:lnSpc>
                <a:spcPts val="3240"/>
              </a:lnSpc>
            </a:pPr>
            <a:r>
              <a:rPr lang="en-US" sz="2025" b="true">
                <a:solidFill>
                  <a:srgbClr val="07182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LOGIN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8750" y="5772150"/>
            <a:ext cx="4000500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25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</a:t>
            </a:r>
          </a:p>
          <a:p>
            <a:pPr algn="l">
              <a:lnSpc>
                <a:spcPts val="3240"/>
              </a:lnSpc>
            </a:pPr>
            <a:r>
              <a:rPr lang="en-US" sz="2025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STREAMING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62750" y="5772150"/>
            <a:ext cx="4000500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25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05</a:t>
            </a:r>
          </a:p>
          <a:p>
            <a:pPr algn="l">
              <a:lnSpc>
                <a:spcPts val="3240"/>
              </a:lnSpc>
            </a:pPr>
            <a:r>
              <a:rPr lang="en-US" sz="2025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AMPELSTEUERUNG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6800" y="97250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F718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INFORMATIK · ENTSCHEIDUNGEN   12/19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33400"/>
            <a:ext cx="2095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02" b="true">
                <a:solidFill>
                  <a:srgbClr val="19D3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12 · PARTNERAUFGABE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572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Erfindet eure eigenen Regeln.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906000" y="2476500"/>
            <a:ext cx="7239000" cy="6191250"/>
          </a:xfrm>
          <a:custGeom>
            <a:avLst/>
            <a:gdLst/>
            <a:ahLst/>
            <a:cxnLst/>
            <a:rect r="r" b="b" t="t" l="l"/>
            <a:pathLst>
              <a:path h="6191250" w="7239000">
                <a:moveTo>
                  <a:pt x="0" y="0"/>
                </a:moveTo>
                <a:lnTo>
                  <a:pt x="7239000" y="0"/>
                </a:lnTo>
                <a:lnTo>
                  <a:pt x="7239000" y="6191250"/>
                </a:lnTo>
                <a:lnTo>
                  <a:pt x="0" y="619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" t="0" r="-15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1066800" y="2590800"/>
            <a:ext cx="2857500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0"/>
              </a:lnSpc>
            </a:pPr>
            <a:r>
              <a:rPr lang="en-US" sz="13500" b="true">
                <a:solidFill>
                  <a:srgbClr val="19D3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" y="4838700"/>
            <a:ext cx="75247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WENN–DANN–SONST-Regeln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6286500"/>
            <a:ext cx="7239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aus eurem digitalen Alltag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97250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8FA9BE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INFORMATIK · ENTSCHEIDUNGEN   13/19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14350"/>
            <a:ext cx="2095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9D3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13 · DEBUGGING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572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5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Finde den Fehler.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00" y="2838450"/>
            <a:ext cx="10001250" cy="191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5"/>
              </a:lnSpc>
            </a:pPr>
            <a:r>
              <a:rPr lang="en-US" sz="3300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WENN Passwort richtig,</a:t>
            </a:r>
          </a:p>
          <a:p>
            <a:pPr algn="l">
              <a:lnSpc>
                <a:spcPts val="5115"/>
              </a:lnSpc>
            </a:pPr>
            <a:r>
              <a:rPr lang="en-US" sz="3300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DANN Zugang erlauben,</a:t>
            </a:r>
          </a:p>
          <a:p>
            <a:pPr algn="l">
              <a:lnSpc>
                <a:spcPts val="5115"/>
              </a:lnSpc>
            </a:pPr>
            <a:r>
              <a:rPr lang="en-US" sz="3300" b="true">
                <a:solidFill>
                  <a:srgbClr val="1025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SONST Zugang ebenfalls erlauben.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6800" y="7553325"/>
            <a:ext cx="85725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5D6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Was ist hier falsch?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763500" y="3333750"/>
            <a:ext cx="3143250" cy="3143250"/>
            <a:chOff x="0" y="0"/>
            <a:chExt cx="4191000" cy="419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91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4121727"/>
                  </a:lnTo>
                  <a:cubicBezTo>
                    <a:pt x="4191000" y="4140100"/>
                    <a:pt x="4183702" y="4157719"/>
                    <a:pt x="4170711" y="4170711"/>
                  </a:cubicBezTo>
                  <a:cubicBezTo>
                    <a:pt x="4157719" y="4183702"/>
                    <a:pt x="4140100" y="4191000"/>
                    <a:pt x="4121727" y="4191000"/>
                  </a:cubicBezTo>
                  <a:lnTo>
                    <a:pt x="69273" y="4191000"/>
                  </a:lnTo>
                  <a:cubicBezTo>
                    <a:pt x="50900" y="4191000"/>
                    <a:pt x="33281" y="4183702"/>
                    <a:pt x="20290" y="4170711"/>
                  </a:cubicBezTo>
                  <a:cubicBezTo>
                    <a:pt x="7298" y="4157719"/>
                    <a:pt x="0" y="4140100"/>
                    <a:pt x="0" y="412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FF5D6C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4191000" cy="417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!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66800" y="6667500"/>
            <a:ext cx="9334500" cy="76200"/>
            <a:chOff x="0" y="0"/>
            <a:chExt cx="12446000" cy="10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446000" cy="101600"/>
            </a:xfrm>
            <a:custGeom>
              <a:avLst/>
              <a:gdLst/>
              <a:ahLst/>
              <a:cxnLst/>
              <a:rect r="r" b="b" t="t" l="l"/>
              <a:pathLst>
                <a:path h="101600" w="12446000">
                  <a:moveTo>
                    <a:pt x="0" y="0"/>
                  </a:moveTo>
                  <a:lnTo>
                    <a:pt x="12446000" y="0"/>
                  </a:lnTo>
                  <a:lnTo>
                    <a:pt x="12446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F5D6C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446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66800" y="97250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F718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INFORMATIK · ENTSCHEIDUNGEN   14/19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7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14350"/>
            <a:ext cx="2095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9D3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14 · DEBUGGING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572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Beide Wege führen zum selben Ergebnis.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14500" y="2476500"/>
            <a:ext cx="14573250" cy="5143500"/>
            <a:chOff x="0" y="0"/>
            <a:chExt cx="19431000" cy="6858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1397000"/>
              <a:ext cx="5461000" cy="2032000"/>
              <a:chOff x="0" y="0"/>
              <a:chExt cx="5461000" cy="2032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461000" cy="2032000"/>
              </a:xfrm>
              <a:custGeom>
                <a:avLst/>
                <a:gdLst/>
                <a:ahLst/>
                <a:cxnLst/>
                <a:rect r="r" b="b" t="t" l="l"/>
                <a:pathLst>
                  <a:path h="2032000" w="5461000">
                    <a:moveTo>
                      <a:pt x="53163" y="0"/>
                    </a:moveTo>
                    <a:lnTo>
                      <a:pt x="5407837" y="0"/>
                    </a:lnTo>
                    <a:cubicBezTo>
                      <a:pt x="5421937" y="0"/>
                      <a:pt x="5435459" y="5601"/>
                      <a:pt x="5445429" y="15571"/>
                    </a:cubicBezTo>
                    <a:cubicBezTo>
                      <a:pt x="5455399" y="25541"/>
                      <a:pt x="5461000" y="39063"/>
                      <a:pt x="5461000" y="53163"/>
                    </a:cubicBezTo>
                    <a:lnTo>
                      <a:pt x="5461000" y="1978837"/>
                    </a:lnTo>
                    <a:cubicBezTo>
                      <a:pt x="5461000" y="1992937"/>
                      <a:pt x="5455399" y="2006459"/>
                      <a:pt x="5445429" y="2016429"/>
                    </a:cubicBezTo>
                    <a:cubicBezTo>
                      <a:pt x="5435459" y="2026399"/>
                      <a:pt x="5421937" y="2032000"/>
                      <a:pt x="5407837" y="2032000"/>
                    </a:cubicBezTo>
                    <a:lnTo>
                      <a:pt x="53163" y="2032000"/>
                    </a:lnTo>
                    <a:cubicBezTo>
                      <a:pt x="39063" y="2032000"/>
                      <a:pt x="25541" y="2026399"/>
                      <a:pt x="15571" y="2016429"/>
                    </a:cubicBezTo>
                    <a:cubicBezTo>
                      <a:pt x="5601" y="2006459"/>
                      <a:pt x="0" y="1992937"/>
                      <a:pt x="0" y="1978837"/>
                    </a:cubicBezTo>
                    <a:lnTo>
                      <a:pt x="0" y="53163"/>
                    </a:lnTo>
                    <a:cubicBezTo>
                      <a:pt x="0" y="39063"/>
                      <a:pt x="5601" y="25541"/>
                      <a:pt x="15571" y="15571"/>
                    </a:cubicBezTo>
                    <a:cubicBezTo>
                      <a:pt x="25541" y="5601"/>
                      <a:pt x="39063" y="0"/>
                      <a:pt x="53163" y="0"/>
                    </a:cubicBezTo>
                    <a:close/>
                  </a:path>
                </a:pathLst>
              </a:custGeom>
              <a:solidFill>
                <a:srgbClr val="19D3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19050"/>
                <a:ext cx="5461000" cy="2012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2100" b="true">
                    <a:solidFill>
                      <a:srgbClr val="07182E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Passwort richtig?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3081000" y="0"/>
              <a:ext cx="6350000" cy="1905000"/>
              <a:chOff x="0" y="0"/>
              <a:chExt cx="6350000" cy="1905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6350000">
                    <a:moveTo>
                      <a:pt x="45720" y="0"/>
                    </a:moveTo>
                    <a:lnTo>
                      <a:pt x="6304280" y="0"/>
                    </a:lnTo>
                    <a:cubicBezTo>
                      <a:pt x="6316406" y="0"/>
                      <a:pt x="6328035" y="4817"/>
                      <a:pt x="6336609" y="13391"/>
                    </a:cubicBezTo>
                    <a:cubicBezTo>
                      <a:pt x="6345183" y="21965"/>
                      <a:pt x="6350000" y="33594"/>
                      <a:pt x="6350000" y="45720"/>
                    </a:cubicBezTo>
                    <a:lnTo>
                      <a:pt x="6350000" y="1859280"/>
                    </a:lnTo>
                    <a:cubicBezTo>
                      <a:pt x="6350000" y="1884531"/>
                      <a:pt x="6329530" y="1905000"/>
                      <a:pt x="6304280" y="1905000"/>
                    </a:cubicBezTo>
                    <a:lnTo>
                      <a:pt x="45720" y="1905000"/>
                    </a:lnTo>
                    <a:cubicBezTo>
                      <a:pt x="20470" y="1905000"/>
                      <a:pt x="0" y="1884531"/>
                      <a:pt x="0" y="1859280"/>
                    </a:cubicBezTo>
                    <a:lnTo>
                      <a:pt x="0" y="45720"/>
                    </a:lnTo>
                    <a:cubicBezTo>
                      <a:pt x="0" y="20470"/>
                      <a:pt x="20470" y="0"/>
                      <a:pt x="457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19050"/>
                <a:ext cx="6350000" cy="1885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2100" b="true">
                    <a:solidFill>
                      <a:srgbClr val="07182E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Zugang erlauben</a:t>
                </a: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3081000" y="4953000"/>
              <a:ext cx="6350000" cy="1905000"/>
              <a:chOff x="0" y="0"/>
              <a:chExt cx="6350000" cy="1905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6350000">
                    <a:moveTo>
                      <a:pt x="45720" y="0"/>
                    </a:moveTo>
                    <a:lnTo>
                      <a:pt x="6304280" y="0"/>
                    </a:lnTo>
                    <a:cubicBezTo>
                      <a:pt x="6316406" y="0"/>
                      <a:pt x="6328035" y="4817"/>
                      <a:pt x="6336609" y="13391"/>
                    </a:cubicBezTo>
                    <a:cubicBezTo>
                      <a:pt x="6345183" y="21965"/>
                      <a:pt x="6350000" y="33594"/>
                      <a:pt x="6350000" y="45720"/>
                    </a:cubicBezTo>
                    <a:lnTo>
                      <a:pt x="6350000" y="1859280"/>
                    </a:lnTo>
                    <a:cubicBezTo>
                      <a:pt x="6350000" y="1884531"/>
                      <a:pt x="6329530" y="1905000"/>
                      <a:pt x="6304280" y="1905000"/>
                    </a:cubicBezTo>
                    <a:lnTo>
                      <a:pt x="45720" y="1905000"/>
                    </a:lnTo>
                    <a:cubicBezTo>
                      <a:pt x="20470" y="1905000"/>
                      <a:pt x="0" y="1884531"/>
                      <a:pt x="0" y="1859280"/>
                    </a:cubicBezTo>
                    <a:lnTo>
                      <a:pt x="0" y="45720"/>
                    </a:lnTo>
                    <a:cubicBezTo>
                      <a:pt x="0" y="20470"/>
                      <a:pt x="20470" y="0"/>
                      <a:pt x="457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19050"/>
                <a:ext cx="6350000" cy="1885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0"/>
                  </a:lnSpc>
                </a:pPr>
                <a:r>
                  <a:rPr lang="en-US" sz="2100" b="true">
                    <a:solidFill>
                      <a:srgbClr val="07182E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Zugang erlauben</a:t>
                </a:r>
              </a:p>
            </p:txBody>
          </p:sp>
        </p:grpSp>
        <p:sp>
          <p:nvSpPr>
            <p:cNvPr name="AutoShape 14" id="14"/>
            <p:cNvSpPr/>
            <p:nvPr/>
          </p:nvSpPr>
          <p:spPr>
            <a:xfrm flipV="true">
              <a:off x="5461000" y="952500"/>
              <a:ext cx="7620000" cy="952500"/>
            </a:xfrm>
            <a:prstGeom prst="line">
              <a:avLst/>
            </a:prstGeom>
            <a:ln cap="rnd" w="76200">
              <a:solidFill>
                <a:srgbClr val="48D597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5461000" y="2921000"/>
              <a:ext cx="7620000" cy="2984500"/>
            </a:xfrm>
            <a:prstGeom prst="line">
              <a:avLst/>
            </a:prstGeom>
            <a:ln cap="rnd" w="76200">
              <a:solidFill>
                <a:srgbClr val="FF5D6C"/>
              </a:solidFill>
              <a:prstDash val="solid"/>
              <a:headEnd type="none" len="sm" w="sm"/>
              <a:tailEnd type="arrow" len="sm" w="med"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4572000" y="8048625"/>
            <a:ext cx="91440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true">
                <a:solidFill>
                  <a:srgbClr val="FF5D6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Alternative ist sinnlos.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6800" y="97250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8FA9BE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INFORMATIK · ENTSCHEIDUNGEN   15/19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23875"/>
            <a:ext cx="2095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19D3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15 · HEFTEINTRAG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572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5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WENN–DANN–SONST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809750" y="2571750"/>
            <a:ext cx="14668500" cy="6191250"/>
            <a:chOff x="0" y="0"/>
            <a:chExt cx="19558000" cy="8255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9558000" cy="8255000"/>
              <a:chOff x="0" y="0"/>
              <a:chExt cx="19558000" cy="8255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558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19558000">
                    <a:moveTo>
                      <a:pt x="0" y="0"/>
                    </a:moveTo>
                    <a:lnTo>
                      <a:pt x="19558000" y="0"/>
                    </a:lnTo>
                    <a:lnTo>
                      <a:pt x="19558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9558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28600" cy="8255000"/>
              <a:chOff x="0" y="0"/>
              <a:chExt cx="228600" cy="8255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286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9D3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286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143000" y="841375"/>
              <a:ext cx="17272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>
                  <a:solidFill>
                    <a:srgbClr val="10253F"/>
                  </a:solidFill>
                  <a:latin typeface="DM Sans"/>
                  <a:ea typeface="DM Sans"/>
                  <a:cs typeface="DM Sans"/>
                  <a:sym typeface="DM Sans"/>
                </a:rPr>
                <a:t>Ein Computer kann aufgrund einer Bedingung zwischen zwei Handlungen entscheiden.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143000" y="2825750"/>
              <a:ext cx="17272000" cy="1492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en-US" sz="3000" b="true">
                  <a:solidFill>
                    <a:srgbClr val="10253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WENN Bedingung erfüllt  →  DANN Handlung A.</a:t>
              </a:r>
            </a:p>
            <a:p>
              <a:pPr algn="l">
                <a:lnSpc>
                  <a:spcPts val="4650"/>
                </a:lnSpc>
              </a:pPr>
              <a:r>
                <a:rPr lang="en-US" sz="3000" b="true">
                  <a:solidFill>
                    <a:srgbClr val="10253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SONST  →  Handlung B.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143000" y="5984875"/>
              <a:ext cx="17272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5F7186"/>
                  </a:solidFill>
                  <a:latin typeface="DM Sans"/>
                  <a:ea typeface="DM Sans"/>
                  <a:cs typeface="DM Sans"/>
                  <a:sym typeface="DM Sans"/>
                </a:rPr>
                <a:t>Beispiel: Passwort richtig → Zugang öffnen, sonst verweigern.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66800" y="97250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F718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INFORMATIK · ENTSCHEIDUNGEN   16/19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7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33400"/>
            <a:ext cx="2095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02" b="true">
                <a:solidFill>
                  <a:srgbClr val="19D3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16 · MINI-LERNCHECK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0572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Vier Fragen. Vier Antworten.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66800" y="2857500"/>
            <a:ext cx="7524750" cy="2286000"/>
            <a:chOff x="0" y="0"/>
            <a:chExt cx="10033000" cy="304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33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0033000">
                  <a:moveTo>
                    <a:pt x="0" y="0"/>
                  </a:moveTo>
                  <a:lnTo>
                    <a:pt x="10033000" y="0"/>
                  </a:lnTo>
                  <a:lnTo>
                    <a:pt x="10033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02B4E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033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63050" y="2857500"/>
            <a:ext cx="7524750" cy="2286000"/>
            <a:chOff x="0" y="0"/>
            <a:chExt cx="10033000" cy="304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33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0033000">
                  <a:moveTo>
                    <a:pt x="0" y="0"/>
                  </a:moveTo>
                  <a:lnTo>
                    <a:pt x="10033000" y="0"/>
                  </a:lnTo>
                  <a:lnTo>
                    <a:pt x="10033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02B4E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033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66800" y="5715000"/>
            <a:ext cx="7524750" cy="2286000"/>
            <a:chOff x="0" y="0"/>
            <a:chExt cx="10033000" cy="304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33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0033000">
                  <a:moveTo>
                    <a:pt x="0" y="0"/>
                  </a:moveTo>
                  <a:lnTo>
                    <a:pt x="10033000" y="0"/>
                  </a:lnTo>
                  <a:lnTo>
                    <a:pt x="10033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02B4E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033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63050" y="5715000"/>
            <a:ext cx="7524750" cy="2286000"/>
            <a:chOff x="0" y="0"/>
            <a:chExt cx="10033000" cy="3048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33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0033000">
                  <a:moveTo>
                    <a:pt x="0" y="0"/>
                  </a:moveTo>
                  <a:lnTo>
                    <a:pt x="10033000" y="0"/>
                  </a:lnTo>
                  <a:lnTo>
                    <a:pt x="10033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9D3C5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033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47800" y="3219450"/>
            <a:ext cx="666750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Was bedeutet SONST?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44050" y="3219450"/>
            <a:ext cx="666750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Was ist eine Alternative?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47800" y="6076950"/>
            <a:ext cx="6667500" cy="854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23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  <a:p>
            <a:pPr algn="l">
              <a:lnSpc>
                <a:spcPts val="3487"/>
              </a:lnSpc>
            </a:pPr>
            <a:r>
              <a:rPr lang="en-US" sz="23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Warum braucht ein Computer zwei Wege?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44050" y="6076950"/>
            <a:ext cx="666750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0718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0718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Erstelle eine eigene Regel.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6800" y="97250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8FA9BE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INFORMATIK · ENTSCHEIDUNGEN   17/19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14350"/>
            <a:ext cx="2095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9D3C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17 · AUSBLICK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1433131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Computer können jetzt entscheiden.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0" y="2667000"/>
            <a:ext cx="6858000" cy="5905500"/>
          </a:xfrm>
          <a:custGeom>
            <a:avLst/>
            <a:gdLst/>
            <a:ahLst/>
            <a:cxnLst/>
            <a:rect r="r" b="b" t="t" l="l"/>
            <a:pathLst>
              <a:path h="5905500" w="6858000">
                <a:moveTo>
                  <a:pt x="0" y="0"/>
                </a:moveTo>
                <a:lnTo>
                  <a:pt x="6858000" y="0"/>
                </a:lnTo>
                <a:lnTo>
                  <a:pt x="6858000" y="5905500"/>
                </a:lnTo>
                <a:lnTo>
                  <a:pt x="0" y="5905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" r="0" b="-8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1066800" y="2886075"/>
            <a:ext cx="9220200" cy="107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08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Aber was passiert, wenn etwas 10-, 50- oder 100-mal geschehen soll?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" y="5362575"/>
            <a:ext cx="7810500" cy="10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5"/>
              </a:lnSpc>
            </a:pPr>
            <a:r>
              <a:rPr lang="en-US" sz="3549" b="true">
                <a:solidFill>
                  <a:srgbClr val="19D3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Kann ein Computer Dinge wiederholen?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8248650"/>
            <a:ext cx="8382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NÄCHSTE STUNDE  →  WIEDERHOLUNGEN &amp; SCHLEIFEN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97250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8FA9BE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INFORMATIK · ENTSCHEIDUNGEN   18/19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0750" y="0"/>
            <a:ext cx="8477250" cy="10287000"/>
          </a:xfrm>
          <a:custGeom>
            <a:avLst/>
            <a:gdLst/>
            <a:ahLst/>
            <a:cxnLst/>
            <a:rect r="r" b="b" t="t" l="l"/>
            <a:pathLst>
              <a:path h="10287000" w="8477250">
                <a:moveTo>
                  <a:pt x="0" y="0"/>
                </a:moveTo>
                <a:lnTo>
                  <a:pt x="8477250" y="0"/>
                </a:lnTo>
                <a:lnTo>
                  <a:pt x="8477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" r="0" b="-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2857500" cy="10287000"/>
            <a:chOff x="0" y="0"/>
            <a:chExt cx="381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1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82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1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66800" y="2495550"/>
            <a:ext cx="7429500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19"/>
              </a:lnSpc>
            </a:pPr>
            <a:r>
              <a:rPr lang="en-US" sz="93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Danke!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4400550"/>
            <a:ext cx="72390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19D3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Habt ihr Fragen?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6381750"/>
            <a:ext cx="10363200" cy="119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1"/>
              </a:lnSpc>
            </a:pPr>
            <a:r>
              <a:rPr lang="en-US" sz="3221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WENN eine Frage da ist,</a:t>
            </a:r>
          </a:p>
          <a:p>
            <a:pPr algn="l">
              <a:lnSpc>
                <a:spcPts val="4831"/>
              </a:lnSpc>
            </a:pPr>
            <a:r>
              <a:rPr lang="en-US" sz="3221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DANN sprechen wir darüber.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" y="97250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8FA9BE"/>
                </a:solidFill>
                <a:latin typeface="IBM Plex Mono"/>
                <a:ea typeface="IBM Plex Mono"/>
                <a:cs typeface="IBM Plex Mono"/>
                <a:sym typeface="IBM Plex Mono"/>
              </a:rPr>
              <a:t>INFORMATIK · ENTSCHEIDUNGEN   19/19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DAHXQQ85hEo</dc:identifier>
  <dcterms:modified xsi:type="dcterms:W3CDTF">2011-08-01T06:04:30Z</dcterms:modified>
  <cp:revision>1</cp:revision>
  <dc:title>WENN... DANN … SONST …</dc:title>
</cp:coreProperties>
</file>