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Lazydog" charset="1" panose="00000000000000000000"/>
      <p:regular r:id="rId21"/>
    </p:embeddedFont>
    <p:embeddedFont>
      <p:font typeface="Nunito Bold" charset="1" panose="00000800000000000000"/>
      <p:regular r:id="rId22"/>
    </p:embeddedFont>
    <p:embeddedFont>
      <p:font typeface="Nunito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933272" y="-3966855"/>
            <a:ext cx="47049180" cy="20015013"/>
          </a:xfrm>
          <a:custGeom>
            <a:avLst/>
            <a:gdLst/>
            <a:ahLst/>
            <a:cxnLst/>
            <a:rect r="r" b="b" t="t" l="l"/>
            <a:pathLst>
              <a:path h="20015013" w="47049180">
                <a:moveTo>
                  <a:pt x="0" y="0"/>
                </a:moveTo>
                <a:lnTo>
                  <a:pt x="47049180" y="0"/>
                </a:lnTo>
                <a:lnTo>
                  <a:pt x="47049180" y="20015013"/>
                </a:lnTo>
                <a:lnTo>
                  <a:pt x="0" y="200150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5238">
            <a:off x="-1785526" y="855497"/>
            <a:ext cx="11821760" cy="1182176"/>
          </a:xfrm>
          <a:custGeom>
            <a:avLst/>
            <a:gdLst/>
            <a:ahLst/>
            <a:cxnLst/>
            <a:rect r="r" b="b" t="t" l="l"/>
            <a:pathLst>
              <a:path h="1182176" w="11821760">
                <a:moveTo>
                  <a:pt x="0" y="0"/>
                </a:moveTo>
                <a:lnTo>
                  <a:pt x="11821759" y="0"/>
                </a:lnTo>
                <a:lnTo>
                  <a:pt x="11821759" y="1182176"/>
                </a:lnTo>
                <a:lnTo>
                  <a:pt x="0" y="1182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00011" y="5117364"/>
            <a:ext cx="4026252" cy="5359404"/>
          </a:xfrm>
          <a:custGeom>
            <a:avLst/>
            <a:gdLst/>
            <a:ahLst/>
            <a:cxnLst/>
            <a:rect r="r" b="b" t="t" l="l"/>
            <a:pathLst>
              <a:path h="5359404" w="4026252">
                <a:moveTo>
                  <a:pt x="0" y="0"/>
                </a:moveTo>
                <a:lnTo>
                  <a:pt x="4026252" y="0"/>
                </a:lnTo>
                <a:lnTo>
                  <a:pt x="4026252" y="5359404"/>
                </a:lnTo>
                <a:lnTo>
                  <a:pt x="0" y="5359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0250" y="6698984"/>
            <a:ext cx="2131556" cy="2457065"/>
          </a:xfrm>
          <a:custGeom>
            <a:avLst/>
            <a:gdLst/>
            <a:ahLst/>
            <a:cxnLst/>
            <a:rect r="r" b="b" t="t" l="l"/>
            <a:pathLst>
              <a:path h="2457065" w="2131556">
                <a:moveTo>
                  <a:pt x="0" y="0"/>
                </a:moveTo>
                <a:lnTo>
                  <a:pt x="2131556" y="0"/>
                </a:lnTo>
                <a:lnTo>
                  <a:pt x="2131556" y="2457064"/>
                </a:lnTo>
                <a:lnTo>
                  <a:pt x="0" y="24570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49960" y="4338637"/>
            <a:ext cx="11988081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91"/>
              </a:lnSpc>
            </a:pPr>
            <a:r>
              <a:rPr lang="en-US" sz="10492" spc="157">
                <a:solidFill>
                  <a:srgbClr val="333034"/>
                </a:solidFill>
                <a:latin typeface="Lazydog"/>
                <a:ea typeface="Lazydog"/>
                <a:cs typeface="Lazydog"/>
                <a:sym typeface="Lazydog"/>
              </a:rPr>
              <a:t>INFORMATIK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34940" y="8485523"/>
            <a:ext cx="5686262" cy="397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96"/>
              </a:lnSpc>
              <a:spcBef>
                <a:spcPct val="0"/>
              </a:spcBef>
            </a:pPr>
            <a:r>
              <a:rPr lang="en-US" b="true" sz="2458">
                <a:solidFill>
                  <a:srgbClr val="253140"/>
                </a:solidFill>
                <a:latin typeface="Nunito Bold"/>
                <a:ea typeface="Nunito Bold"/>
                <a:cs typeface="Nunito Bold"/>
                <a:sym typeface="Nunito Bold"/>
              </a:rPr>
              <a:t>Was ist das eigentlich?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85249" y="609079"/>
            <a:ext cx="5074051" cy="797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6"/>
              </a:lnSpc>
            </a:pPr>
            <a:r>
              <a:rPr lang="en-US" sz="2458" b="true">
                <a:solidFill>
                  <a:srgbClr val="253140"/>
                </a:solidFill>
                <a:latin typeface="Nunito Bold"/>
                <a:ea typeface="Nunito Bold"/>
                <a:cs typeface="Nunito Bold"/>
                <a:sym typeface="Nunito Bold"/>
              </a:rPr>
              <a:t>8.Klasse</a:t>
            </a:r>
          </a:p>
          <a:p>
            <a:pPr algn="ctr">
              <a:lnSpc>
                <a:spcPts val="3196"/>
              </a:lnSpc>
              <a:spcBef>
                <a:spcPct val="0"/>
              </a:spcBef>
            </a:pPr>
            <a:r>
              <a:rPr lang="en-US" b="true" sz="2458">
                <a:solidFill>
                  <a:srgbClr val="253140"/>
                </a:solidFill>
                <a:latin typeface="Nunito Bold"/>
                <a:ea typeface="Nunito Bold"/>
                <a:cs typeface="Nunito Bold"/>
                <a:sym typeface="Nunito Bold"/>
              </a:rPr>
              <a:t>Bayerische Mittelschule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CB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5490351" cy="2783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90351" cy="2783840"/>
            </a:xfrm>
            <a:custGeom>
              <a:avLst/>
              <a:gdLst/>
              <a:ahLst/>
              <a:cxnLst/>
              <a:rect r="r" b="b" t="t" l="l"/>
              <a:pathLst>
                <a:path h="2783840" w="5490351">
                  <a:moveTo>
                    <a:pt x="5365891" y="2783840"/>
                  </a:moveTo>
                  <a:lnTo>
                    <a:pt x="124460" y="2783840"/>
                  </a:lnTo>
                  <a:cubicBezTo>
                    <a:pt x="55880" y="2783840"/>
                    <a:pt x="0" y="2727960"/>
                    <a:pt x="0" y="26593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65891" y="0"/>
                  </a:lnTo>
                  <a:cubicBezTo>
                    <a:pt x="5434471" y="0"/>
                    <a:pt x="5490351" y="55880"/>
                    <a:pt x="5490351" y="124460"/>
                  </a:cubicBezTo>
                  <a:lnTo>
                    <a:pt x="5490351" y="2659380"/>
                  </a:lnTo>
                  <a:cubicBezTo>
                    <a:pt x="5490351" y="2727960"/>
                    <a:pt x="5434471" y="2783840"/>
                    <a:pt x="5365891" y="2783840"/>
                  </a:cubicBezTo>
                  <a:close/>
                </a:path>
              </a:pathLst>
            </a:custGeom>
            <a:solidFill>
              <a:srgbClr val="F3E4D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40717" y="3867963"/>
            <a:ext cx="3536044" cy="5078698"/>
          </a:xfrm>
          <a:custGeom>
            <a:avLst/>
            <a:gdLst/>
            <a:ahLst/>
            <a:cxnLst/>
            <a:rect r="r" b="b" t="t" l="l"/>
            <a:pathLst>
              <a:path h="5078698" w="3536044">
                <a:moveTo>
                  <a:pt x="0" y="0"/>
                </a:moveTo>
                <a:lnTo>
                  <a:pt x="3536044" y="0"/>
                </a:lnTo>
                <a:lnTo>
                  <a:pt x="3536044" y="5078698"/>
                </a:lnTo>
                <a:lnTo>
                  <a:pt x="0" y="5078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50992" y="1333116"/>
            <a:ext cx="1780727" cy="1673883"/>
          </a:xfrm>
          <a:custGeom>
            <a:avLst/>
            <a:gdLst/>
            <a:ahLst/>
            <a:cxnLst/>
            <a:rect r="r" b="b" t="t" l="l"/>
            <a:pathLst>
              <a:path h="1673883" w="1780727">
                <a:moveTo>
                  <a:pt x="0" y="0"/>
                </a:moveTo>
                <a:lnTo>
                  <a:pt x="1780727" y="0"/>
                </a:lnTo>
                <a:lnTo>
                  <a:pt x="1780727" y="1673883"/>
                </a:lnTo>
                <a:lnTo>
                  <a:pt x="0" y="16738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236729" y="1926754"/>
            <a:ext cx="7994537" cy="623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87"/>
              </a:lnSpc>
            </a:pPr>
            <a:r>
              <a:rPr lang="en-US" sz="8239" spc="123">
                <a:solidFill>
                  <a:srgbClr val="333034"/>
                </a:solidFill>
                <a:latin typeface="Lazydog"/>
                <a:ea typeface="Lazydog"/>
                <a:cs typeface="Lazydog"/>
                <a:sym typeface="Lazydog"/>
              </a:rPr>
              <a:t>Was glaubst du:</a:t>
            </a:r>
          </a:p>
          <a:p>
            <a:pPr algn="ctr" marL="0" indent="0" lvl="0">
              <a:lnSpc>
                <a:spcPts val="9887"/>
              </a:lnSpc>
            </a:pPr>
            <a:r>
              <a:rPr lang="en-US" sz="8239" spc="123">
                <a:solidFill>
                  <a:srgbClr val="333034"/>
                </a:solidFill>
                <a:latin typeface="Lazydog"/>
                <a:ea typeface="Lazydog"/>
                <a:cs typeface="Lazydog"/>
                <a:sym typeface="Lazydog"/>
              </a:rPr>
              <a:t>Was macht man</a:t>
            </a:r>
          </a:p>
          <a:p>
            <a:pPr algn="ctr" marL="0" indent="0" lvl="0">
              <a:lnSpc>
                <a:spcPts val="9887"/>
              </a:lnSpc>
            </a:pPr>
            <a:r>
              <a:rPr lang="en-US" sz="8239" spc="123">
                <a:solidFill>
                  <a:srgbClr val="333034"/>
                </a:solidFill>
                <a:latin typeface="Lazydog"/>
                <a:ea typeface="Lazydog"/>
                <a:cs typeface="Lazydog"/>
                <a:sym typeface="Lazydog"/>
              </a:rPr>
              <a:t>in Informatik?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535508" y="3815888"/>
            <a:ext cx="3774874" cy="5460939"/>
          </a:xfrm>
          <a:custGeom>
            <a:avLst/>
            <a:gdLst/>
            <a:ahLst/>
            <a:cxnLst/>
            <a:rect r="r" b="b" t="t" l="l"/>
            <a:pathLst>
              <a:path h="5460939" w="3774874">
                <a:moveTo>
                  <a:pt x="0" y="0"/>
                </a:moveTo>
                <a:lnTo>
                  <a:pt x="3774874" y="0"/>
                </a:lnTo>
                <a:lnTo>
                  <a:pt x="3774874" y="5460939"/>
                </a:lnTo>
                <a:lnTo>
                  <a:pt x="0" y="54609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36129" y="-4836629"/>
            <a:ext cx="19960258" cy="19960258"/>
          </a:xfrm>
          <a:custGeom>
            <a:avLst/>
            <a:gdLst/>
            <a:ahLst/>
            <a:cxnLst/>
            <a:rect r="r" b="b" t="t" l="l"/>
            <a:pathLst>
              <a:path h="19960258" w="19960258">
                <a:moveTo>
                  <a:pt x="0" y="0"/>
                </a:moveTo>
                <a:lnTo>
                  <a:pt x="19960258" y="0"/>
                </a:lnTo>
                <a:lnTo>
                  <a:pt x="19960258" y="19960258"/>
                </a:lnTo>
                <a:lnTo>
                  <a:pt x="0" y="19960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8911" y="6751638"/>
            <a:ext cx="8679414" cy="2860675"/>
            <a:chOff x="0" y="0"/>
            <a:chExt cx="6082622" cy="20047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82622" cy="2004791"/>
            </a:xfrm>
            <a:custGeom>
              <a:avLst/>
              <a:gdLst/>
              <a:ahLst/>
              <a:cxnLst/>
              <a:rect r="r" b="b" t="t" l="l"/>
              <a:pathLst>
                <a:path h="2004791" w="6082622">
                  <a:moveTo>
                    <a:pt x="5958162" y="2004790"/>
                  </a:moveTo>
                  <a:lnTo>
                    <a:pt x="124460" y="2004790"/>
                  </a:lnTo>
                  <a:cubicBezTo>
                    <a:pt x="55880" y="2004790"/>
                    <a:pt x="0" y="1948910"/>
                    <a:pt x="0" y="18803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958162" y="0"/>
                  </a:lnTo>
                  <a:cubicBezTo>
                    <a:pt x="6026742" y="0"/>
                    <a:pt x="6082622" y="55880"/>
                    <a:pt x="6082622" y="124460"/>
                  </a:cubicBezTo>
                  <a:lnTo>
                    <a:pt x="6082622" y="1880331"/>
                  </a:lnTo>
                  <a:cubicBezTo>
                    <a:pt x="6082622" y="1948910"/>
                    <a:pt x="6026742" y="2004791"/>
                    <a:pt x="5958162" y="2004791"/>
                  </a:cubicBezTo>
                  <a:close/>
                </a:path>
              </a:pathLst>
            </a:custGeom>
            <a:solidFill>
              <a:srgbClr val="FAE7CE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43025" y="7124647"/>
            <a:ext cx="7551186" cy="2009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77"/>
              </a:lnSpc>
            </a:pPr>
            <a:r>
              <a:rPr lang="en-US" sz="2398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INFORMATION → VERARBEITUNG → SPEICHERUNG → ÜBERTRAGUNG</a:t>
            </a:r>
          </a:p>
          <a:p>
            <a:pPr algn="ctr" marL="0" indent="0" lvl="0">
              <a:lnSpc>
                <a:spcPts val="4077"/>
              </a:lnSpc>
            </a:pPr>
            <a:r>
              <a:rPr lang="en-US" sz="2398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Informatik denkt größer – es geht um den Fluss von Informationen.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025394" y="4514079"/>
            <a:ext cx="7233906" cy="3667896"/>
            <a:chOff x="0" y="0"/>
            <a:chExt cx="5490351" cy="2783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90351" cy="2783840"/>
            </a:xfrm>
            <a:custGeom>
              <a:avLst/>
              <a:gdLst/>
              <a:ahLst/>
              <a:cxnLst/>
              <a:rect r="r" b="b" t="t" l="l"/>
              <a:pathLst>
                <a:path h="2783840" w="5490351">
                  <a:moveTo>
                    <a:pt x="5365891" y="2783840"/>
                  </a:moveTo>
                  <a:lnTo>
                    <a:pt x="124460" y="2783840"/>
                  </a:lnTo>
                  <a:cubicBezTo>
                    <a:pt x="55880" y="2783840"/>
                    <a:pt x="0" y="2727960"/>
                    <a:pt x="0" y="26593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65891" y="0"/>
                  </a:lnTo>
                  <a:cubicBezTo>
                    <a:pt x="5434471" y="0"/>
                    <a:pt x="5490351" y="55880"/>
                    <a:pt x="5490351" y="124460"/>
                  </a:cubicBezTo>
                  <a:lnTo>
                    <a:pt x="5490351" y="2659380"/>
                  </a:lnTo>
                  <a:cubicBezTo>
                    <a:pt x="5490351" y="2727960"/>
                    <a:pt x="5434471" y="2783840"/>
                    <a:pt x="5365891" y="2783840"/>
                  </a:cubicBezTo>
                  <a:close/>
                </a:path>
              </a:pathLst>
            </a:custGeom>
            <a:solidFill>
              <a:srgbClr val="FAE7C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359309" y="5547874"/>
            <a:ext cx="6566076" cy="1495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77"/>
              </a:lnSpc>
            </a:pPr>
            <a:r>
              <a:rPr lang="en-US" sz="2398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Informatik fragt: Wie werden Daten verarbeitet, gespeichert und übertragen – egal ob auf einem Computer, Smartphone oder im Internet.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62284" y="1036114"/>
            <a:ext cx="10797016" cy="283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32"/>
              </a:lnSpc>
            </a:pPr>
            <a:r>
              <a:rPr lang="en-US" sz="6193" spc="92">
                <a:solidFill>
                  <a:srgbClr val="333034"/>
                </a:solidFill>
                <a:latin typeface="Lazydog"/>
                <a:ea typeface="Lazydog"/>
                <a:cs typeface="Lazydog"/>
                <a:sym typeface="Lazydog"/>
              </a:rPr>
              <a:t>Informatik ist nicht einfach Computerunterricht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15798" y="1801547"/>
            <a:ext cx="4807460" cy="4930728"/>
          </a:xfrm>
          <a:custGeom>
            <a:avLst/>
            <a:gdLst/>
            <a:ahLst/>
            <a:cxnLst/>
            <a:rect r="r" b="b" t="t" l="l"/>
            <a:pathLst>
              <a:path h="4930728" w="4807460">
                <a:moveTo>
                  <a:pt x="0" y="0"/>
                </a:moveTo>
                <a:lnTo>
                  <a:pt x="4807460" y="0"/>
                </a:lnTo>
                <a:lnTo>
                  <a:pt x="4807460" y="4930728"/>
                </a:lnTo>
                <a:lnTo>
                  <a:pt x="0" y="49307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5490351" cy="2783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90351" cy="2783840"/>
            </a:xfrm>
            <a:custGeom>
              <a:avLst/>
              <a:gdLst/>
              <a:ahLst/>
              <a:cxnLst/>
              <a:rect r="r" b="b" t="t" l="l"/>
              <a:pathLst>
                <a:path h="2783840" w="5490351">
                  <a:moveTo>
                    <a:pt x="5365891" y="2783840"/>
                  </a:moveTo>
                  <a:lnTo>
                    <a:pt x="124460" y="2783840"/>
                  </a:lnTo>
                  <a:cubicBezTo>
                    <a:pt x="55880" y="2783840"/>
                    <a:pt x="0" y="2727960"/>
                    <a:pt x="0" y="26593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65891" y="0"/>
                  </a:lnTo>
                  <a:cubicBezTo>
                    <a:pt x="5434471" y="0"/>
                    <a:pt x="5490351" y="55880"/>
                    <a:pt x="5490351" y="124460"/>
                  </a:cubicBezTo>
                  <a:lnTo>
                    <a:pt x="5490351" y="2659380"/>
                  </a:lnTo>
                  <a:cubicBezTo>
                    <a:pt x="5490351" y="2727960"/>
                    <a:pt x="5434471" y="2783840"/>
                    <a:pt x="5365891" y="2783840"/>
                  </a:cubicBezTo>
                  <a:close/>
                </a:path>
              </a:pathLst>
            </a:custGeom>
            <a:solidFill>
              <a:srgbClr val="DCCBB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03904" y="2052262"/>
            <a:ext cx="6382609" cy="277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89"/>
              </a:lnSpc>
            </a:pPr>
            <a:r>
              <a:rPr lang="en-US" sz="6075" spc="91">
                <a:solidFill>
                  <a:srgbClr val="333034"/>
                </a:solidFill>
                <a:latin typeface="Lazydog"/>
                <a:ea typeface="Lazydog"/>
                <a:cs typeface="Lazydog"/>
                <a:sym typeface="Lazydog"/>
              </a:rPr>
              <a:t>DU BIST HEUTE DER PROGRAMMIERER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9541" y="6880479"/>
            <a:ext cx="11916356" cy="9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80"/>
              </a:lnSpc>
            </a:pPr>
            <a:r>
              <a:rPr lang="en-US" b="true" sz="2400">
                <a:solidFill>
                  <a:srgbClr val="253140"/>
                </a:solidFill>
                <a:latin typeface="Nunito Bold"/>
                <a:ea typeface="Nunito Bold"/>
                <a:cs typeface="Nunito Bold"/>
                <a:sym typeface="Nunito Bold"/>
              </a:rPr>
              <a:t>Aufgabe: Programmiere deinen Lehrer zum Nutellabrot.</a:t>
            </a:r>
          </a:p>
          <a:p>
            <a:pPr algn="ctr" marL="0" indent="0" lvl="0">
              <a:lnSpc>
                <a:spcPts val="4080"/>
              </a:lnSpc>
            </a:pPr>
            <a:r>
              <a:rPr lang="en-US" b="true" sz="2400">
                <a:solidFill>
                  <a:srgbClr val="253140"/>
                </a:solidFill>
                <a:latin typeface="Nunito Bold"/>
                <a:ea typeface="Nunito Bold"/>
                <a:cs typeface="Nunito Bold"/>
                <a:sym typeface="Nunito Bold"/>
              </a:rPr>
              <a:t>Regel: "Ich mache nur genau das, was du mir sagst."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341789" y="3502282"/>
            <a:ext cx="2901671" cy="5580137"/>
          </a:xfrm>
          <a:custGeom>
            <a:avLst/>
            <a:gdLst/>
            <a:ahLst/>
            <a:cxnLst/>
            <a:rect r="r" b="b" t="t" l="l"/>
            <a:pathLst>
              <a:path h="5580137" w="2901671">
                <a:moveTo>
                  <a:pt x="0" y="0"/>
                </a:moveTo>
                <a:lnTo>
                  <a:pt x="2901671" y="0"/>
                </a:lnTo>
                <a:lnTo>
                  <a:pt x="2901671" y="5580137"/>
                </a:lnTo>
                <a:lnTo>
                  <a:pt x="0" y="55801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29887" y="1725339"/>
            <a:ext cx="5211574" cy="3417853"/>
          </a:xfrm>
          <a:custGeom>
            <a:avLst/>
            <a:gdLst/>
            <a:ahLst/>
            <a:cxnLst/>
            <a:rect r="r" b="b" t="t" l="l"/>
            <a:pathLst>
              <a:path h="3417853" w="5211574">
                <a:moveTo>
                  <a:pt x="0" y="0"/>
                </a:moveTo>
                <a:lnTo>
                  <a:pt x="5211574" y="0"/>
                </a:lnTo>
                <a:lnTo>
                  <a:pt x="5211574" y="3417854"/>
                </a:lnTo>
                <a:lnTo>
                  <a:pt x="0" y="34178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7999" y="-4458499"/>
            <a:ext cx="19203998" cy="19203998"/>
          </a:xfrm>
          <a:custGeom>
            <a:avLst/>
            <a:gdLst/>
            <a:ahLst/>
            <a:cxnLst/>
            <a:rect r="r" b="b" t="t" l="l"/>
            <a:pathLst>
              <a:path h="19203998" w="19203998">
                <a:moveTo>
                  <a:pt x="0" y="0"/>
                </a:moveTo>
                <a:lnTo>
                  <a:pt x="19203998" y="0"/>
                </a:lnTo>
                <a:lnTo>
                  <a:pt x="19203998" y="19203998"/>
                </a:lnTo>
                <a:lnTo>
                  <a:pt x="0" y="19203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5490351" cy="2783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90351" cy="2783840"/>
            </a:xfrm>
            <a:custGeom>
              <a:avLst/>
              <a:gdLst/>
              <a:ahLst/>
              <a:cxnLst/>
              <a:rect r="r" b="b" t="t" l="l"/>
              <a:pathLst>
                <a:path h="2783840" w="5490351">
                  <a:moveTo>
                    <a:pt x="5365891" y="2783840"/>
                  </a:moveTo>
                  <a:lnTo>
                    <a:pt x="124460" y="2783840"/>
                  </a:lnTo>
                  <a:cubicBezTo>
                    <a:pt x="55880" y="2783840"/>
                    <a:pt x="0" y="2727960"/>
                    <a:pt x="0" y="26593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65891" y="0"/>
                  </a:lnTo>
                  <a:cubicBezTo>
                    <a:pt x="5434471" y="0"/>
                    <a:pt x="5490351" y="55880"/>
                    <a:pt x="5490351" y="124460"/>
                  </a:cubicBezTo>
                  <a:lnTo>
                    <a:pt x="5490351" y="2659380"/>
                  </a:lnTo>
                  <a:cubicBezTo>
                    <a:pt x="5490351" y="2727960"/>
                    <a:pt x="5434471" y="2783840"/>
                    <a:pt x="5365891" y="2783840"/>
                  </a:cubicBezTo>
                  <a:close/>
                </a:path>
              </a:pathLst>
            </a:custGeom>
            <a:solidFill>
              <a:srgbClr val="F3E4D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14712" y="1491473"/>
            <a:ext cx="9644375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93"/>
              </a:lnSpc>
            </a:pPr>
            <a:r>
              <a:rPr lang="en-US" sz="7994" spc="119">
                <a:solidFill>
                  <a:srgbClr val="333034"/>
                </a:solidFill>
                <a:latin typeface="Lazydog"/>
                <a:ea typeface="Lazydog"/>
                <a:cs typeface="Lazydog"/>
                <a:sym typeface="Lazydog"/>
              </a:rPr>
              <a:t>Computer denken nicht mit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55828" y="1559464"/>
            <a:ext cx="2519623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1"/>
              </a:lnSpc>
            </a:pPr>
            <a:r>
              <a:rPr lang="en-US" b="true" sz="1909">
                <a:solidFill>
                  <a:srgbClr val="253140"/>
                </a:solidFill>
                <a:latin typeface="Nunito Bold"/>
                <a:ea typeface="Nunito Bold"/>
                <a:cs typeface="Nunito Bold"/>
                <a:sym typeface="Nunito Bold"/>
              </a:rPr>
              <a:t>„Nimm das Brot."  →  „Welches Brot?"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55828" y="4195288"/>
            <a:ext cx="2519623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1"/>
              </a:lnSpc>
            </a:pPr>
            <a:r>
              <a:rPr lang="en-US" b="true" sz="1909">
                <a:solidFill>
                  <a:srgbClr val="253140"/>
                </a:solidFill>
                <a:latin typeface="Nunito Bold"/>
                <a:ea typeface="Nunito Bold"/>
                <a:cs typeface="Nunito Bold"/>
                <a:sym typeface="Nunito Bold"/>
              </a:rPr>
              <a:t>„Öffne es."  →  „Was?"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55828" y="6698019"/>
            <a:ext cx="2519623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1"/>
              </a:lnSpc>
            </a:pPr>
            <a:r>
              <a:rPr lang="en-US" b="true" sz="1909">
                <a:solidFill>
                  <a:srgbClr val="253140"/>
                </a:solidFill>
                <a:latin typeface="Nunito Bold"/>
                <a:ea typeface="Nunito Bold"/>
                <a:cs typeface="Nunito Bold"/>
                <a:sym typeface="Nunito Bold"/>
              </a:rPr>
              <a:t>„Streich Nutella darauf."  →  „Worauf?"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280644" y="3929873"/>
            <a:ext cx="5806957" cy="6663412"/>
          </a:xfrm>
          <a:custGeom>
            <a:avLst/>
            <a:gdLst/>
            <a:ahLst/>
            <a:cxnLst/>
            <a:rect r="r" b="b" t="t" l="l"/>
            <a:pathLst>
              <a:path h="6663412" w="5806957">
                <a:moveTo>
                  <a:pt x="0" y="0"/>
                </a:moveTo>
                <a:lnTo>
                  <a:pt x="5806957" y="0"/>
                </a:lnTo>
                <a:lnTo>
                  <a:pt x="5806957" y="6663413"/>
                </a:lnTo>
                <a:lnTo>
                  <a:pt x="0" y="66634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rot="0">
            <a:off x="11955828" y="2790631"/>
            <a:ext cx="3870837" cy="0"/>
          </a:xfrm>
          <a:prstGeom prst="line">
            <a:avLst/>
          </a:prstGeom>
          <a:ln cap="rnd" w="28575">
            <a:solidFill>
              <a:srgbClr val="33303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0">
            <a:off x="11955828" y="3313356"/>
            <a:ext cx="3870837" cy="0"/>
          </a:xfrm>
          <a:prstGeom prst="line">
            <a:avLst/>
          </a:prstGeom>
          <a:ln cap="rnd" w="28575">
            <a:solidFill>
              <a:srgbClr val="33303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0">
            <a:off x="11955828" y="5433563"/>
            <a:ext cx="3870837" cy="0"/>
          </a:xfrm>
          <a:prstGeom prst="line">
            <a:avLst/>
          </a:prstGeom>
          <a:ln cap="rnd" w="28575">
            <a:solidFill>
              <a:srgbClr val="33303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12688">
            <a:off x="11955815" y="5963432"/>
            <a:ext cx="3870864" cy="0"/>
          </a:xfrm>
          <a:prstGeom prst="line">
            <a:avLst/>
          </a:prstGeom>
          <a:ln cap="rnd" w="28575">
            <a:solidFill>
              <a:srgbClr val="33303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12688">
            <a:off x="11955815" y="8084954"/>
            <a:ext cx="3870864" cy="0"/>
          </a:xfrm>
          <a:prstGeom prst="line">
            <a:avLst/>
          </a:prstGeom>
          <a:ln cap="rnd" w="28575">
            <a:solidFill>
              <a:srgbClr val="33303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12688">
            <a:off x="11955815" y="8607679"/>
            <a:ext cx="3870864" cy="0"/>
          </a:xfrm>
          <a:prstGeom prst="line">
            <a:avLst/>
          </a:prstGeom>
          <a:ln cap="rnd" w="28575">
            <a:solidFill>
              <a:srgbClr val="333034"/>
            </a:solidFill>
            <a:prstDash val="sysDot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CB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5490351" cy="2783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90351" cy="2783840"/>
            </a:xfrm>
            <a:custGeom>
              <a:avLst/>
              <a:gdLst/>
              <a:ahLst/>
              <a:cxnLst/>
              <a:rect r="r" b="b" t="t" l="l"/>
              <a:pathLst>
                <a:path h="2783840" w="5490351">
                  <a:moveTo>
                    <a:pt x="5365891" y="2783840"/>
                  </a:moveTo>
                  <a:lnTo>
                    <a:pt x="124460" y="2783840"/>
                  </a:lnTo>
                  <a:cubicBezTo>
                    <a:pt x="55880" y="2783840"/>
                    <a:pt x="0" y="2727960"/>
                    <a:pt x="0" y="26593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65891" y="0"/>
                  </a:lnTo>
                  <a:cubicBezTo>
                    <a:pt x="5434471" y="0"/>
                    <a:pt x="5490351" y="55880"/>
                    <a:pt x="5490351" y="124460"/>
                  </a:cubicBezTo>
                  <a:lnTo>
                    <a:pt x="5490351" y="2659380"/>
                  </a:lnTo>
                  <a:cubicBezTo>
                    <a:pt x="5490351" y="2727960"/>
                    <a:pt x="5434471" y="2783840"/>
                    <a:pt x="5365891" y="2783840"/>
                  </a:cubicBezTo>
                  <a:close/>
                </a:path>
              </a:pathLst>
            </a:custGeom>
            <a:solidFill>
              <a:srgbClr val="F3E4D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14867" y="1678797"/>
            <a:ext cx="15258265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77"/>
              </a:lnSpc>
            </a:pPr>
            <a:r>
              <a:rPr lang="en-US" sz="5314" spc="79">
                <a:solidFill>
                  <a:srgbClr val="333034"/>
                </a:solidFill>
                <a:latin typeface="Lazydog"/>
                <a:ea typeface="Lazydog"/>
                <a:cs typeface="Lazydog"/>
                <a:sym typeface="Lazydog"/>
              </a:rPr>
              <a:t>Eine Anweisung kann für einen Menschen klar sein – für einen Computer aber nicht.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9502" y="4319218"/>
            <a:ext cx="11607827" cy="4939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8797" indent="-419399" lvl="1">
              <a:lnSpc>
                <a:spcPts val="6604"/>
              </a:lnSpc>
              <a:buFont typeface="Arial"/>
              <a:buChar char="•"/>
            </a:pPr>
            <a:r>
              <a:rPr lang="en-US" b="true" sz="3885">
                <a:solidFill>
                  <a:srgbClr val="253140"/>
                </a:solidFill>
                <a:latin typeface="Nunito Bold"/>
                <a:ea typeface="Nunito Bold"/>
                <a:cs typeface="Nunito Bold"/>
                <a:sym typeface="Nunito Bold"/>
              </a:rPr>
              <a:t>EINDEUTIG</a:t>
            </a:r>
          </a:p>
          <a:p>
            <a:pPr algn="l" marL="0" indent="0" lvl="0">
              <a:lnSpc>
                <a:spcPts val="6604"/>
              </a:lnSpc>
            </a:pPr>
            <a:r>
              <a:rPr lang="en-US" sz="3885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       </a:t>
            </a:r>
            <a:r>
              <a:rPr lang="en-US" sz="3885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Nur eine mögliche Bedeutung</a:t>
            </a:r>
          </a:p>
          <a:p>
            <a:pPr algn="l" marL="838797" indent="-419399" lvl="1">
              <a:lnSpc>
                <a:spcPts val="6604"/>
              </a:lnSpc>
              <a:buFont typeface="Arial"/>
              <a:buChar char="•"/>
            </a:pPr>
            <a:r>
              <a:rPr lang="en-US" b="true" sz="3885">
                <a:solidFill>
                  <a:srgbClr val="253140"/>
                </a:solidFill>
                <a:latin typeface="Nunito Bold"/>
                <a:ea typeface="Nunito Bold"/>
                <a:cs typeface="Nunito Bold"/>
                <a:sym typeface="Nunito Bold"/>
              </a:rPr>
              <a:t>VOLLSTÄNDIG</a:t>
            </a:r>
          </a:p>
          <a:p>
            <a:pPr algn="l" marL="0" indent="0" lvl="0">
              <a:lnSpc>
                <a:spcPts val="6604"/>
              </a:lnSpc>
            </a:pPr>
            <a:r>
              <a:rPr lang="en-US" sz="3885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       </a:t>
            </a:r>
            <a:r>
              <a:rPr lang="en-US" sz="3885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Kein Schritt fehlt</a:t>
            </a:r>
          </a:p>
          <a:p>
            <a:pPr algn="l" marL="838797" indent="-419399" lvl="1">
              <a:lnSpc>
                <a:spcPts val="6604"/>
              </a:lnSpc>
              <a:buFont typeface="Arial"/>
              <a:buChar char="•"/>
            </a:pPr>
            <a:r>
              <a:rPr lang="en-US" b="true" sz="3885">
                <a:solidFill>
                  <a:srgbClr val="253140"/>
                </a:solidFill>
                <a:latin typeface="Nunito Bold"/>
                <a:ea typeface="Nunito Bold"/>
                <a:cs typeface="Nunito Bold"/>
                <a:sym typeface="Nunito Bold"/>
              </a:rPr>
              <a:t>RICHTIGE REIHENFOLGE</a:t>
            </a:r>
          </a:p>
          <a:p>
            <a:pPr algn="l">
              <a:lnSpc>
                <a:spcPts val="6604"/>
              </a:lnSpc>
            </a:pPr>
            <a:r>
              <a:rPr lang="en-US" sz="3885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       </a:t>
            </a:r>
            <a:r>
              <a:rPr lang="en-US" sz="3885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Schritt für Schritt – in der richtigen Abfolge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432177" y="4899352"/>
            <a:ext cx="3842205" cy="4399766"/>
          </a:xfrm>
          <a:custGeom>
            <a:avLst/>
            <a:gdLst/>
            <a:ahLst/>
            <a:cxnLst/>
            <a:rect r="r" b="b" t="t" l="l"/>
            <a:pathLst>
              <a:path h="4399766" w="3842205">
                <a:moveTo>
                  <a:pt x="0" y="0"/>
                </a:moveTo>
                <a:lnTo>
                  <a:pt x="3842205" y="0"/>
                </a:lnTo>
                <a:lnTo>
                  <a:pt x="3842205" y="4399766"/>
                </a:lnTo>
                <a:lnTo>
                  <a:pt x="0" y="4399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5490351" cy="2783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90351" cy="2783840"/>
            </a:xfrm>
            <a:custGeom>
              <a:avLst/>
              <a:gdLst/>
              <a:ahLst/>
              <a:cxnLst/>
              <a:rect r="r" b="b" t="t" l="l"/>
              <a:pathLst>
                <a:path h="2783840" w="5490351">
                  <a:moveTo>
                    <a:pt x="5365891" y="2783840"/>
                  </a:moveTo>
                  <a:lnTo>
                    <a:pt x="124460" y="2783840"/>
                  </a:lnTo>
                  <a:cubicBezTo>
                    <a:pt x="55880" y="2783840"/>
                    <a:pt x="0" y="2727960"/>
                    <a:pt x="0" y="26593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65891" y="0"/>
                  </a:lnTo>
                  <a:cubicBezTo>
                    <a:pt x="5434471" y="0"/>
                    <a:pt x="5490351" y="55880"/>
                    <a:pt x="5490351" y="124460"/>
                  </a:cubicBezTo>
                  <a:lnTo>
                    <a:pt x="5490351" y="2659380"/>
                  </a:lnTo>
                  <a:cubicBezTo>
                    <a:pt x="5490351" y="2727960"/>
                    <a:pt x="5434471" y="2783840"/>
                    <a:pt x="5365891" y="2783840"/>
                  </a:cubicBezTo>
                  <a:close/>
                </a:path>
              </a:pathLst>
            </a:custGeom>
            <a:solidFill>
              <a:srgbClr val="DCCBB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95811" y="2287575"/>
            <a:ext cx="11232879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8000" spc="120">
                <a:solidFill>
                  <a:srgbClr val="333034"/>
                </a:solidFill>
                <a:latin typeface="Lazydog"/>
                <a:ea typeface="Lazydog"/>
                <a:cs typeface="Lazydog"/>
                <a:sym typeface="Lazydog"/>
              </a:rPr>
              <a:t>ALGORITHMUS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15777" y="4339778"/>
            <a:ext cx="10743523" cy="437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04"/>
              </a:lnSpc>
            </a:pPr>
            <a:r>
              <a:rPr lang="en-US" sz="4178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„Eine eindeutige Schritt-für-Schritt-Anleitung, mit der eine Aufgabe gelöst oder ein Problem bearbeitet wird."</a:t>
            </a:r>
          </a:p>
          <a:p>
            <a:pPr algn="ctr" marL="0" indent="0" lvl="0">
              <a:lnSpc>
                <a:spcPts val="7104"/>
              </a:lnSpc>
            </a:pPr>
            <a:r>
              <a:rPr lang="en-US" sz="4178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① EINGABE  →  ② VERARBEITUNG  →  </a:t>
            </a:r>
          </a:p>
          <a:p>
            <a:pPr algn="ctr" marL="0" indent="0" lvl="0">
              <a:lnSpc>
                <a:spcPts val="7104"/>
              </a:lnSpc>
            </a:pPr>
            <a:r>
              <a:rPr lang="en-US" sz="4178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③ AUSGABE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76174" y="5287915"/>
            <a:ext cx="2916627" cy="3426287"/>
          </a:xfrm>
          <a:custGeom>
            <a:avLst/>
            <a:gdLst/>
            <a:ahLst/>
            <a:cxnLst/>
            <a:rect r="r" b="b" t="t" l="l"/>
            <a:pathLst>
              <a:path h="3426287" w="2916627">
                <a:moveTo>
                  <a:pt x="0" y="0"/>
                </a:moveTo>
                <a:lnTo>
                  <a:pt x="2916627" y="0"/>
                </a:lnTo>
                <a:lnTo>
                  <a:pt x="2916627" y="3426287"/>
                </a:lnTo>
                <a:lnTo>
                  <a:pt x="0" y="3426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535400" y="4539803"/>
            <a:ext cx="1980377" cy="4687282"/>
          </a:xfrm>
          <a:custGeom>
            <a:avLst/>
            <a:gdLst/>
            <a:ahLst/>
            <a:cxnLst/>
            <a:rect r="r" b="b" t="t" l="l"/>
            <a:pathLst>
              <a:path h="4687282" w="1980377">
                <a:moveTo>
                  <a:pt x="0" y="0"/>
                </a:moveTo>
                <a:lnTo>
                  <a:pt x="1980377" y="0"/>
                </a:lnTo>
                <a:lnTo>
                  <a:pt x="1980377" y="4687282"/>
                </a:lnTo>
                <a:lnTo>
                  <a:pt x="0" y="46872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021854" y="-4061392"/>
            <a:ext cx="39486305" cy="25814172"/>
          </a:xfrm>
          <a:custGeom>
            <a:avLst/>
            <a:gdLst/>
            <a:ahLst/>
            <a:cxnLst/>
            <a:rect r="r" b="b" t="t" l="l"/>
            <a:pathLst>
              <a:path h="25814172" w="39486305">
                <a:moveTo>
                  <a:pt x="0" y="0"/>
                </a:moveTo>
                <a:lnTo>
                  <a:pt x="39486305" y="0"/>
                </a:lnTo>
                <a:lnTo>
                  <a:pt x="39486305" y="25814172"/>
                </a:lnTo>
                <a:lnTo>
                  <a:pt x="0" y="258141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8911" y="6751638"/>
            <a:ext cx="8679414" cy="2860675"/>
            <a:chOff x="0" y="0"/>
            <a:chExt cx="6082622" cy="20047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82622" cy="2004791"/>
            </a:xfrm>
            <a:custGeom>
              <a:avLst/>
              <a:gdLst/>
              <a:ahLst/>
              <a:cxnLst/>
              <a:rect r="r" b="b" t="t" l="l"/>
              <a:pathLst>
                <a:path h="2004791" w="6082622">
                  <a:moveTo>
                    <a:pt x="5958162" y="2004790"/>
                  </a:moveTo>
                  <a:lnTo>
                    <a:pt x="124460" y="2004790"/>
                  </a:lnTo>
                  <a:cubicBezTo>
                    <a:pt x="55880" y="2004790"/>
                    <a:pt x="0" y="1948910"/>
                    <a:pt x="0" y="18803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958162" y="0"/>
                  </a:lnTo>
                  <a:cubicBezTo>
                    <a:pt x="6026742" y="0"/>
                    <a:pt x="6082622" y="55880"/>
                    <a:pt x="6082622" y="124460"/>
                  </a:cubicBezTo>
                  <a:lnTo>
                    <a:pt x="6082622" y="1880331"/>
                  </a:lnTo>
                  <a:cubicBezTo>
                    <a:pt x="6082622" y="1948910"/>
                    <a:pt x="6026742" y="2004791"/>
                    <a:pt x="5958162" y="2004791"/>
                  </a:cubicBezTo>
                  <a:close/>
                </a:path>
              </a:pathLst>
            </a:custGeom>
            <a:solidFill>
              <a:srgbClr val="FAE7CE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-368913" y="6617178"/>
            <a:ext cx="11230503" cy="299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68"/>
              </a:lnSpc>
            </a:pPr>
            <a:r>
              <a:rPr lang="en-US" sz="3569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Navigation</a:t>
            </a:r>
          </a:p>
          <a:p>
            <a:pPr algn="ctr" marL="0" indent="0" lvl="0">
              <a:lnSpc>
                <a:spcPts val="6068"/>
              </a:lnSpc>
            </a:pPr>
            <a:r>
              <a:rPr lang="en-US" sz="3569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Suchmaschinen</a:t>
            </a:r>
          </a:p>
          <a:p>
            <a:pPr algn="ctr" marL="0" indent="0" lvl="0">
              <a:lnSpc>
                <a:spcPts val="6068"/>
              </a:lnSpc>
            </a:pPr>
            <a:r>
              <a:rPr lang="en-US" sz="3569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Streaming</a:t>
            </a:r>
          </a:p>
          <a:p>
            <a:pPr algn="ctr" marL="0" indent="0" lvl="0">
              <a:lnSpc>
                <a:spcPts val="6068"/>
              </a:lnSpc>
            </a:pPr>
            <a:r>
              <a:rPr lang="en-US" sz="3569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Social Media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025394" y="4514079"/>
            <a:ext cx="7233906" cy="3667896"/>
            <a:chOff x="0" y="0"/>
            <a:chExt cx="5490351" cy="2783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90351" cy="2783840"/>
            </a:xfrm>
            <a:custGeom>
              <a:avLst/>
              <a:gdLst/>
              <a:ahLst/>
              <a:cxnLst/>
              <a:rect r="r" b="b" t="t" l="l"/>
              <a:pathLst>
                <a:path h="2783840" w="5490351">
                  <a:moveTo>
                    <a:pt x="5365891" y="2783840"/>
                  </a:moveTo>
                  <a:lnTo>
                    <a:pt x="124460" y="2783840"/>
                  </a:lnTo>
                  <a:cubicBezTo>
                    <a:pt x="55880" y="2783840"/>
                    <a:pt x="0" y="2727960"/>
                    <a:pt x="0" y="26593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65891" y="0"/>
                  </a:lnTo>
                  <a:cubicBezTo>
                    <a:pt x="5434471" y="0"/>
                    <a:pt x="5490351" y="55880"/>
                    <a:pt x="5490351" y="124460"/>
                  </a:cubicBezTo>
                  <a:lnTo>
                    <a:pt x="5490351" y="2659380"/>
                  </a:lnTo>
                  <a:cubicBezTo>
                    <a:pt x="5490351" y="2727960"/>
                    <a:pt x="5434471" y="2783840"/>
                    <a:pt x="5365891" y="2783840"/>
                  </a:cubicBezTo>
                  <a:close/>
                </a:path>
              </a:pathLst>
            </a:custGeom>
            <a:solidFill>
              <a:srgbClr val="FAE7C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187459" y="4285479"/>
            <a:ext cx="12909775" cy="397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21"/>
              </a:lnSpc>
            </a:pPr>
            <a:r>
              <a:rPr lang="en-US" sz="4718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Computerspiele</a:t>
            </a:r>
          </a:p>
          <a:p>
            <a:pPr algn="ctr" marL="0" indent="0" lvl="0">
              <a:lnSpc>
                <a:spcPts val="8021"/>
              </a:lnSpc>
            </a:pPr>
            <a:r>
              <a:rPr lang="en-US" sz="4718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Online-Shopping</a:t>
            </a:r>
          </a:p>
          <a:p>
            <a:pPr algn="ctr" marL="0" indent="0" lvl="0">
              <a:lnSpc>
                <a:spcPts val="8021"/>
              </a:lnSpc>
            </a:pPr>
            <a:r>
              <a:rPr lang="en-US" sz="4718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Smart Home</a:t>
            </a:r>
          </a:p>
          <a:p>
            <a:pPr algn="ctr" marL="0" indent="0" lvl="0">
              <a:lnSpc>
                <a:spcPts val="8021"/>
              </a:lnSpc>
            </a:pPr>
            <a:r>
              <a:rPr lang="en-US" sz="4718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KI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62284" y="1221852"/>
            <a:ext cx="10797016" cy="24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</a:pPr>
            <a:r>
              <a:rPr lang="en-US" sz="8000" spc="120">
                <a:solidFill>
                  <a:srgbClr val="333034"/>
                </a:solidFill>
                <a:latin typeface="Lazydog"/>
                <a:ea typeface="Lazydog"/>
                <a:cs typeface="Lazydog"/>
                <a:sym typeface="Lazydog"/>
              </a:rPr>
              <a:t>Algorithmen gibt es überall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61563" y="931879"/>
            <a:ext cx="5264519" cy="5512586"/>
          </a:xfrm>
          <a:custGeom>
            <a:avLst/>
            <a:gdLst/>
            <a:ahLst/>
            <a:cxnLst/>
            <a:rect r="r" b="b" t="t" l="l"/>
            <a:pathLst>
              <a:path h="5512586" w="5264519">
                <a:moveTo>
                  <a:pt x="0" y="0"/>
                </a:moveTo>
                <a:lnTo>
                  <a:pt x="5264519" y="0"/>
                </a:lnTo>
                <a:lnTo>
                  <a:pt x="5264519" y="5512585"/>
                </a:lnTo>
                <a:lnTo>
                  <a:pt x="0" y="55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5490351" cy="2783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90351" cy="2783840"/>
            </a:xfrm>
            <a:custGeom>
              <a:avLst/>
              <a:gdLst/>
              <a:ahLst/>
              <a:cxnLst/>
              <a:rect r="r" b="b" t="t" l="l"/>
              <a:pathLst>
                <a:path h="2783840" w="5490351">
                  <a:moveTo>
                    <a:pt x="5365891" y="2783840"/>
                  </a:moveTo>
                  <a:lnTo>
                    <a:pt x="124460" y="2783840"/>
                  </a:lnTo>
                  <a:cubicBezTo>
                    <a:pt x="55880" y="2783840"/>
                    <a:pt x="0" y="2727960"/>
                    <a:pt x="0" y="26593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65891" y="0"/>
                  </a:lnTo>
                  <a:cubicBezTo>
                    <a:pt x="5434471" y="0"/>
                    <a:pt x="5490351" y="55880"/>
                    <a:pt x="5490351" y="124460"/>
                  </a:cubicBezTo>
                  <a:lnTo>
                    <a:pt x="5490351" y="2659380"/>
                  </a:lnTo>
                  <a:cubicBezTo>
                    <a:pt x="5490351" y="2727960"/>
                    <a:pt x="5434471" y="2783840"/>
                    <a:pt x="5365891" y="2783840"/>
                  </a:cubicBezTo>
                  <a:close/>
                </a:path>
              </a:pathLst>
            </a:custGeom>
            <a:solidFill>
              <a:srgbClr val="DCCBB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03904" y="1537912"/>
            <a:ext cx="6382609" cy="37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25"/>
              </a:lnSpc>
            </a:pPr>
            <a:r>
              <a:rPr lang="en-US" sz="4937" spc="74">
                <a:solidFill>
                  <a:srgbClr val="333034"/>
                </a:solidFill>
                <a:latin typeface="Lazydog"/>
                <a:ea typeface="Lazydog"/>
                <a:cs typeface="Lazydog"/>
                <a:sym typeface="Lazydog"/>
              </a:rPr>
              <a:t>Was würde passieren, wenn ein Navi keinen Algorithmus hätte?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9541" y="7137654"/>
            <a:ext cx="11916356" cy="46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80"/>
              </a:lnSpc>
            </a:pPr>
            <a:r>
              <a:rPr lang="en-US" b="true" sz="2400">
                <a:solidFill>
                  <a:srgbClr val="253140"/>
                </a:solidFill>
                <a:latin typeface="Nunito Bold"/>
                <a:ea typeface="Nunito Bold"/>
                <a:cs typeface="Nunito Bold"/>
                <a:sym typeface="Nunito Bold"/>
              </a:rPr>
              <a:t>Systeme brauchen klare Regeln – sonst endet die Reise im Chaos.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814776" y="3161612"/>
            <a:ext cx="3735209" cy="6036701"/>
          </a:xfrm>
          <a:custGeom>
            <a:avLst/>
            <a:gdLst/>
            <a:ahLst/>
            <a:cxnLst/>
            <a:rect r="r" b="b" t="t" l="l"/>
            <a:pathLst>
              <a:path h="6036701" w="3735209">
                <a:moveTo>
                  <a:pt x="0" y="0"/>
                </a:moveTo>
                <a:lnTo>
                  <a:pt x="3735209" y="0"/>
                </a:lnTo>
                <a:lnTo>
                  <a:pt x="3735209" y="6036701"/>
                </a:lnTo>
                <a:lnTo>
                  <a:pt x="0" y="60367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81072" y="1751907"/>
            <a:ext cx="5296249" cy="3369739"/>
          </a:xfrm>
          <a:custGeom>
            <a:avLst/>
            <a:gdLst/>
            <a:ahLst/>
            <a:cxnLst/>
            <a:rect r="r" b="b" t="t" l="l"/>
            <a:pathLst>
              <a:path h="3369739" w="5296249">
                <a:moveTo>
                  <a:pt x="0" y="0"/>
                </a:moveTo>
                <a:lnTo>
                  <a:pt x="5296250" y="0"/>
                </a:lnTo>
                <a:lnTo>
                  <a:pt x="5296250" y="3369738"/>
                </a:lnTo>
                <a:lnTo>
                  <a:pt x="0" y="33697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52004" y="7538137"/>
            <a:ext cx="2580013" cy="2580013"/>
          </a:xfrm>
          <a:custGeom>
            <a:avLst/>
            <a:gdLst/>
            <a:ahLst/>
            <a:cxnLst/>
            <a:rect r="r" b="b" t="t" l="l"/>
            <a:pathLst>
              <a:path h="2580013" w="2580013">
                <a:moveTo>
                  <a:pt x="0" y="0"/>
                </a:moveTo>
                <a:lnTo>
                  <a:pt x="2580013" y="0"/>
                </a:lnTo>
                <a:lnTo>
                  <a:pt x="2580013" y="2580013"/>
                </a:lnTo>
                <a:lnTo>
                  <a:pt x="0" y="25800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8768" y="191581"/>
            <a:ext cx="17859232" cy="878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8444" indent="-444222" lvl="1">
              <a:lnSpc>
                <a:spcPts val="6995"/>
              </a:lnSpc>
              <a:buAutoNum type="arabicPeriod" startAt="1"/>
            </a:pPr>
            <a:r>
              <a:rPr lang="en-US" b="true" sz="4115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Hefteintrag </a:t>
            </a:r>
          </a:p>
          <a:p>
            <a:pPr algn="ctr">
              <a:lnSpc>
                <a:spcPts val="6995"/>
              </a:lnSpc>
              <a:spcBef>
                <a:spcPct val="0"/>
              </a:spcBef>
            </a:pPr>
            <a:r>
              <a:rPr lang="en-US" b="true" sz="4115" u="sng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Informatik – Was ist das?</a:t>
            </a:r>
          </a:p>
          <a:p>
            <a:pPr algn="l">
              <a:lnSpc>
                <a:spcPts val="6995"/>
              </a:lnSpc>
              <a:spcBef>
                <a:spcPct val="0"/>
              </a:spcBef>
            </a:pPr>
            <a:r>
              <a:rPr lang="en-US" sz="4115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Informatik beschäftigt sich mit der Verarbeitung, Speicherung und Übertragung von Informationen mithilfe digitaler Systeme.</a:t>
            </a:r>
          </a:p>
          <a:p>
            <a:pPr algn="l">
              <a:lnSpc>
                <a:spcPts val="6995"/>
              </a:lnSpc>
              <a:spcBef>
                <a:spcPct val="0"/>
              </a:spcBef>
            </a:pPr>
          </a:p>
          <a:p>
            <a:pPr algn="l">
              <a:lnSpc>
                <a:spcPts val="6995"/>
              </a:lnSpc>
              <a:spcBef>
                <a:spcPct val="0"/>
              </a:spcBef>
            </a:pPr>
            <a:r>
              <a:rPr lang="en-US" sz="4115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Algorithmus</a:t>
            </a:r>
          </a:p>
          <a:p>
            <a:pPr algn="l">
              <a:lnSpc>
                <a:spcPts val="6995"/>
              </a:lnSpc>
              <a:spcBef>
                <a:spcPct val="0"/>
              </a:spcBef>
            </a:pPr>
            <a:r>
              <a:rPr lang="en-US" sz="4115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Ein Algorithmus ist eine eindeutige Schritt-für-Schritt-Anleitung, mit der ein Problem gelöst oder eine Aufgabe ausgeführt werden kann.</a:t>
            </a:r>
          </a:p>
          <a:p>
            <a:pPr algn="l">
              <a:lnSpc>
                <a:spcPts val="6995"/>
              </a:lnSpc>
              <a:spcBef>
                <a:spcPct val="0"/>
              </a:spcBef>
            </a:pPr>
          </a:p>
          <a:p>
            <a:pPr algn="l">
              <a:lnSpc>
                <a:spcPts val="6995"/>
              </a:lnSpc>
              <a:spcBef>
                <a:spcPct val="0"/>
              </a:spcBef>
            </a:pPr>
            <a:r>
              <a:rPr lang="en-US" sz="4115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Beispiele: Rezept · Navi · Suchmaschine · Programm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7999" y="-4458499"/>
            <a:ext cx="19203998" cy="19203998"/>
          </a:xfrm>
          <a:custGeom>
            <a:avLst/>
            <a:gdLst/>
            <a:ahLst/>
            <a:cxnLst/>
            <a:rect r="r" b="b" t="t" l="l"/>
            <a:pathLst>
              <a:path h="19203998" w="19203998">
                <a:moveTo>
                  <a:pt x="0" y="0"/>
                </a:moveTo>
                <a:lnTo>
                  <a:pt x="19203998" y="0"/>
                </a:lnTo>
                <a:lnTo>
                  <a:pt x="19203998" y="19203998"/>
                </a:lnTo>
                <a:lnTo>
                  <a:pt x="0" y="19203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5490351" cy="2783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90351" cy="2783840"/>
            </a:xfrm>
            <a:custGeom>
              <a:avLst/>
              <a:gdLst/>
              <a:ahLst/>
              <a:cxnLst/>
              <a:rect r="r" b="b" t="t" l="l"/>
              <a:pathLst>
                <a:path h="2783840" w="5490351">
                  <a:moveTo>
                    <a:pt x="5365891" y="2783840"/>
                  </a:moveTo>
                  <a:lnTo>
                    <a:pt x="124460" y="2783840"/>
                  </a:lnTo>
                  <a:cubicBezTo>
                    <a:pt x="55880" y="2783840"/>
                    <a:pt x="0" y="2727960"/>
                    <a:pt x="0" y="26593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65891" y="0"/>
                  </a:lnTo>
                  <a:cubicBezTo>
                    <a:pt x="5434471" y="0"/>
                    <a:pt x="5490351" y="55880"/>
                    <a:pt x="5490351" y="124460"/>
                  </a:cubicBezTo>
                  <a:lnTo>
                    <a:pt x="5490351" y="2659380"/>
                  </a:lnTo>
                  <a:cubicBezTo>
                    <a:pt x="5490351" y="2727960"/>
                    <a:pt x="5434471" y="2783840"/>
                    <a:pt x="5365891" y="2783840"/>
                  </a:cubicBezTo>
                  <a:close/>
                </a:path>
              </a:pathLst>
            </a:custGeom>
            <a:solidFill>
              <a:srgbClr val="F3E4D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67647" y="1378489"/>
            <a:ext cx="9644375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09"/>
              </a:lnSpc>
            </a:pPr>
            <a:r>
              <a:rPr lang="en-US" sz="5925" spc="88">
                <a:solidFill>
                  <a:srgbClr val="333034"/>
                </a:solidFill>
                <a:latin typeface="Lazydog"/>
                <a:ea typeface="Lazydog"/>
                <a:cs typeface="Lazydog"/>
                <a:sym typeface="Lazydog"/>
              </a:rPr>
              <a:t>ALGORITHMUS-CHALLENGE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55828" y="1321339"/>
            <a:ext cx="387083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1"/>
              </a:lnSpc>
            </a:pPr>
            <a:r>
              <a:rPr lang="en-US" b="true" sz="2259">
                <a:solidFill>
                  <a:srgbClr val="253140"/>
                </a:solidFill>
                <a:latin typeface="Nunito Bold"/>
                <a:ea typeface="Nunito Bold"/>
                <a:cs typeface="Nunito Bold"/>
                <a:sym typeface="Nunito Bold"/>
              </a:rPr>
              <a:t>Beschreibe eine Alltagstätigkeit in 5–8 eindeutigen Schritten!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55828" y="4080988"/>
            <a:ext cx="4202733" cy="133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1"/>
              </a:lnSpc>
            </a:pPr>
            <a:r>
              <a:rPr lang="en-US" b="true" sz="2268">
                <a:solidFill>
                  <a:srgbClr val="253140"/>
                </a:solidFill>
                <a:latin typeface="Nunito Bold"/>
                <a:ea typeface="Nunito Bold"/>
                <a:cs typeface="Nunito Bold"/>
                <a:sym typeface="Nunito Bold"/>
              </a:rPr>
              <a:t>Zähne putzen · Schuhe binden · Rucksack packen · Hände waschen · Fahrrad abschließen · Müsli zubereiten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55828" y="6598006"/>
            <a:ext cx="387083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1"/>
              </a:lnSpc>
            </a:pPr>
            <a:r>
              <a:rPr lang="en-US" b="true" sz="2359">
                <a:solidFill>
                  <a:srgbClr val="253140"/>
                </a:solidFill>
                <a:latin typeface="Nunito Bold"/>
                <a:ea typeface="Nunito Bold"/>
                <a:cs typeface="Nunito Bold"/>
                <a:sym typeface="Nunito Bold"/>
              </a:rPr>
              <a:t>Dein Partner muss deine Anleitung verstehen können!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023367" y="2403439"/>
            <a:ext cx="5849055" cy="7549481"/>
          </a:xfrm>
          <a:custGeom>
            <a:avLst/>
            <a:gdLst/>
            <a:ahLst/>
            <a:cxnLst/>
            <a:rect r="r" b="b" t="t" l="l"/>
            <a:pathLst>
              <a:path h="7549481" w="5849055">
                <a:moveTo>
                  <a:pt x="0" y="0"/>
                </a:moveTo>
                <a:lnTo>
                  <a:pt x="5849055" y="0"/>
                </a:lnTo>
                <a:lnTo>
                  <a:pt x="5849055" y="7549481"/>
                </a:lnTo>
                <a:lnTo>
                  <a:pt x="0" y="75494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rot="0">
            <a:off x="11955828" y="2790631"/>
            <a:ext cx="3870837" cy="0"/>
          </a:xfrm>
          <a:prstGeom prst="line">
            <a:avLst/>
          </a:prstGeom>
          <a:ln cap="rnd" w="28575">
            <a:solidFill>
              <a:srgbClr val="33303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0">
            <a:off x="11955828" y="3313356"/>
            <a:ext cx="3870837" cy="0"/>
          </a:xfrm>
          <a:prstGeom prst="line">
            <a:avLst/>
          </a:prstGeom>
          <a:ln cap="rnd" w="28575">
            <a:solidFill>
              <a:srgbClr val="33303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0">
            <a:off x="11955828" y="5433563"/>
            <a:ext cx="3870837" cy="0"/>
          </a:xfrm>
          <a:prstGeom prst="line">
            <a:avLst/>
          </a:prstGeom>
          <a:ln cap="rnd" w="28575">
            <a:solidFill>
              <a:srgbClr val="33303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12688">
            <a:off x="11955815" y="5963432"/>
            <a:ext cx="3870864" cy="0"/>
          </a:xfrm>
          <a:prstGeom prst="line">
            <a:avLst/>
          </a:prstGeom>
          <a:ln cap="rnd" w="28575">
            <a:solidFill>
              <a:srgbClr val="33303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12688">
            <a:off x="11955815" y="8084954"/>
            <a:ext cx="3870864" cy="0"/>
          </a:xfrm>
          <a:prstGeom prst="line">
            <a:avLst/>
          </a:prstGeom>
          <a:ln cap="rnd" w="28575">
            <a:solidFill>
              <a:srgbClr val="33303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12688">
            <a:off x="11955815" y="8607679"/>
            <a:ext cx="3870864" cy="0"/>
          </a:xfrm>
          <a:prstGeom prst="line">
            <a:avLst/>
          </a:prstGeom>
          <a:ln cap="rnd" w="28575">
            <a:solidFill>
              <a:srgbClr val="333034"/>
            </a:solidFill>
            <a:prstDash val="sysDot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7999" y="-4458499"/>
            <a:ext cx="19203998" cy="19203998"/>
          </a:xfrm>
          <a:custGeom>
            <a:avLst/>
            <a:gdLst/>
            <a:ahLst/>
            <a:cxnLst/>
            <a:rect r="r" b="b" t="t" l="l"/>
            <a:pathLst>
              <a:path h="19203998" w="19203998">
                <a:moveTo>
                  <a:pt x="0" y="0"/>
                </a:moveTo>
                <a:lnTo>
                  <a:pt x="19203998" y="0"/>
                </a:lnTo>
                <a:lnTo>
                  <a:pt x="19203998" y="19203998"/>
                </a:lnTo>
                <a:lnTo>
                  <a:pt x="0" y="19203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5490351" cy="2783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90351" cy="2783840"/>
            </a:xfrm>
            <a:custGeom>
              <a:avLst/>
              <a:gdLst/>
              <a:ahLst/>
              <a:cxnLst/>
              <a:rect r="r" b="b" t="t" l="l"/>
              <a:pathLst>
                <a:path h="2783840" w="5490351">
                  <a:moveTo>
                    <a:pt x="5365891" y="2783840"/>
                  </a:moveTo>
                  <a:lnTo>
                    <a:pt x="124460" y="2783840"/>
                  </a:lnTo>
                  <a:cubicBezTo>
                    <a:pt x="55880" y="2783840"/>
                    <a:pt x="0" y="2727960"/>
                    <a:pt x="0" y="26593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65891" y="0"/>
                  </a:lnTo>
                  <a:cubicBezTo>
                    <a:pt x="5434471" y="0"/>
                    <a:pt x="5490351" y="55880"/>
                    <a:pt x="5490351" y="124460"/>
                  </a:cubicBezTo>
                  <a:lnTo>
                    <a:pt x="5490351" y="2659380"/>
                  </a:lnTo>
                  <a:cubicBezTo>
                    <a:pt x="5490351" y="2727960"/>
                    <a:pt x="5434471" y="2783840"/>
                    <a:pt x="5365891" y="2783840"/>
                  </a:cubicBezTo>
                  <a:close/>
                </a:path>
              </a:pathLst>
            </a:custGeom>
            <a:solidFill>
              <a:srgbClr val="F3E4D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7590062" y="2014899"/>
            <a:ext cx="9357310" cy="1924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</a:pPr>
            <a:r>
              <a:rPr lang="en-US" sz="8000" spc="120">
                <a:solidFill>
                  <a:srgbClr val="333034"/>
                </a:solidFill>
                <a:latin typeface="Lazydog"/>
                <a:ea typeface="Lazydog"/>
                <a:cs typeface="Lazydog"/>
                <a:sym typeface="Lazydog"/>
              </a:rPr>
              <a:t>JETZT WIRD GETESTET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43473" y="4331252"/>
            <a:ext cx="11018854" cy="252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3543" indent="-326771" lvl="1">
              <a:lnSpc>
                <a:spcPts val="5146"/>
              </a:lnSpc>
              <a:buAutoNum type="arabicPeriod" startAt="1"/>
            </a:pPr>
            <a:r>
              <a:rPr lang="en-US" sz="3027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Tauscht eure Anleitungen</a:t>
            </a:r>
          </a:p>
          <a:p>
            <a:pPr algn="ctr" marL="653543" indent="-326771" lvl="1">
              <a:lnSpc>
                <a:spcPts val="5146"/>
              </a:lnSpc>
              <a:buAutoNum type="arabicPeriod" startAt="1"/>
            </a:pPr>
            <a:r>
              <a:rPr lang="en-US" sz="3027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Führt sie exakt aus</a:t>
            </a:r>
          </a:p>
          <a:p>
            <a:pPr algn="ctr" marL="653543" indent="-326771" lvl="1">
              <a:lnSpc>
                <a:spcPts val="5146"/>
              </a:lnSpc>
              <a:buAutoNum type="arabicPeriod" startAt="1"/>
            </a:pPr>
            <a:r>
              <a:rPr lang="en-US" sz="3027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Findet unklare Stellen</a:t>
            </a:r>
          </a:p>
          <a:p>
            <a:pPr algn="ctr" marL="653543" indent="-326771" lvl="1">
              <a:lnSpc>
                <a:spcPts val="5146"/>
              </a:lnSpc>
              <a:buAutoNum type="arabicPeriod" startAt="1"/>
            </a:pPr>
            <a:r>
              <a:rPr lang="en-US" sz="3027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Verbessert euren Algorithmus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3271785"/>
            <a:ext cx="5453171" cy="5986515"/>
          </a:xfrm>
          <a:custGeom>
            <a:avLst/>
            <a:gdLst/>
            <a:ahLst/>
            <a:cxnLst/>
            <a:rect r="r" b="b" t="t" l="l"/>
            <a:pathLst>
              <a:path h="5986515" w="5453171">
                <a:moveTo>
                  <a:pt x="0" y="0"/>
                </a:moveTo>
                <a:lnTo>
                  <a:pt x="5453171" y="0"/>
                </a:lnTo>
                <a:lnTo>
                  <a:pt x="5453171" y="5986515"/>
                </a:lnTo>
                <a:lnTo>
                  <a:pt x="0" y="5986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19611" y="4096319"/>
            <a:ext cx="4271350" cy="2168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14"/>
              </a:lnSpc>
            </a:pPr>
            <a:r>
              <a:rPr lang="en-US" sz="2596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Mission läuft!</a:t>
            </a:r>
          </a:p>
          <a:p>
            <a:pPr algn="ctr" marL="0" indent="0" lvl="0">
              <a:lnSpc>
                <a:spcPts val="4414"/>
              </a:lnSpc>
            </a:pPr>
            <a:r>
              <a:rPr lang="en-US" sz="2596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Dein Roboter-Guide</a:t>
            </a:r>
          </a:p>
          <a:p>
            <a:pPr algn="ctr" marL="0" indent="0" lvl="0">
              <a:lnSpc>
                <a:spcPts val="4414"/>
              </a:lnSpc>
            </a:pPr>
            <a:r>
              <a:rPr lang="en-US" sz="2596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begleitet dich durch</a:t>
            </a:r>
          </a:p>
          <a:p>
            <a:pPr algn="ctr" marL="0" indent="0" lvl="0">
              <a:lnSpc>
                <a:spcPts val="4414"/>
              </a:lnSpc>
            </a:pPr>
            <a:r>
              <a:rPr lang="en-US" sz="2596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den Test.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108081" y="7391074"/>
            <a:ext cx="2169218" cy="2077266"/>
          </a:xfrm>
          <a:custGeom>
            <a:avLst/>
            <a:gdLst/>
            <a:ahLst/>
            <a:cxnLst/>
            <a:rect r="r" b="b" t="t" l="l"/>
            <a:pathLst>
              <a:path h="2077266" w="2169218">
                <a:moveTo>
                  <a:pt x="0" y="0"/>
                </a:moveTo>
                <a:lnTo>
                  <a:pt x="2169217" y="0"/>
                </a:lnTo>
                <a:lnTo>
                  <a:pt x="2169217" y="2077266"/>
                </a:lnTo>
                <a:lnTo>
                  <a:pt x="0" y="2077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7999" y="-4458499"/>
            <a:ext cx="19203998" cy="19203998"/>
          </a:xfrm>
          <a:custGeom>
            <a:avLst/>
            <a:gdLst/>
            <a:ahLst/>
            <a:cxnLst/>
            <a:rect r="r" b="b" t="t" l="l"/>
            <a:pathLst>
              <a:path h="19203998" w="19203998">
                <a:moveTo>
                  <a:pt x="0" y="0"/>
                </a:moveTo>
                <a:lnTo>
                  <a:pt x="19203998" y="0"/>
                </a:lnTo>
                <a:lnTo>
                  <a:pt x="19203998" y="19203998"/>
                </a:lnTo>
                <a:lnTo>
                  <a:pt x="0" y="19203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5490351" cy="2783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90351" cy="2783840"/>
            </a:xfrm>
            <a:custGeom>
              <a:avLst/>
              <a:gdLst/>
              <a:ahLst/>
              <a:cxnLst/>
              <a:rect r="r" b="b" t="t" l="l"/>
              <a:pathLst>
                <a:path h="2783840" w="5490351">
                  <a:moveTo>
                    <a:pt x="5365891" y="2783840"/>
                  </a:moveTo>
                  <a:lnTo>
                    <a:pt x="124460" y="2783840"/>
                  </a:lnTo>
                  <a:cubicBezTo>
                    <a:pt x="55880" y="2783840"/>
                    <a:pt x="0" y="2727960"/>
                    <a:pt x="0" y="26593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65891" y="0"/>
                  </a:lnTo>
                  <a:cubicBezTo>
                    <a:pt x="5434471" y="0"/>
                    <a:pt x="5490351" y="55880"/>
                    <a:pt x="5490351" y="124460"/>
                  </a:cubicBezTo>
                  <a:lnTo>
                    <a:pt x="5490351" y="2659380"/>
                  </a:lnTo>
                  <a:cubicBezTo>
                    <a:pt x="5490351" y="2727960"/>
                    <a:pt x="5434471" y="2783840"/>
                    <a:pt x="5365891" y="2783840"/>
                  </a:cubicBezTo>
                  <a:close/>
                </a:path>
              </a:pathLst>
            </a:custGeom>
            <a:solidFill>
              <a:srgbClr val="F3E4D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211620" y="2900885"/>
            <a:ext cx="2970343" cy="5767656"/>
          </a:xfrm>
          <a:custGeom>
            <a:avLst/>
            <a:gdLst/>
            <a:ahLst/>
            <a:cxnLst/>
            <a:rect r="r" b="b" t="t" l="l"/>
            <a:pathLst>
              <a:path h="5767656" w="2970343">
                <a:moveTo>
                  <a:pt x="0" y="0"/>
                </a:moveTo>
                <a:lnTo>
                  <a:pt x="2970343" y="0"/>
                </a:lnTo>
                <a:lnTo>
                  <a:pt x="2970343" y="5767656"/>
                </a:lnTo>
                <a:lnTo>
                  <a:pt x="0" y="57676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088250" y="3498850"/>
            <a:ext cx="6612857" cy="3165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50"/>
              </a:lnSpc>
            </a:pPr>
            <a:r>
              <a:rPr lang="en-US" b="true" sz="2500">
                <a:solidFill>
                  <a:srgbClr val="253140"/>
                </a:solidFill>
                <a:latin typeface="Nunito Bold"/>
                <a:ea typeface="Nunito Bold"/>
                <a:cs typeface="Nunito Bold"/>
                <a:sym typeface="Nunito Bold"/>
              </a:rPr>
              <a:t>INFORMATIK</a:t>
            </a:r>
          </a:p>
          <a:p>
            <a:pPr algn="ctr" marL="0" indent="0" lvl="0">
              <a:lnSpc>
                <a:spcPts val="4250"/>
              </a:lnSpc>
            </a:pPr>
            <a:r>
              <a:rPr lang="en-US" b="true" sz="2500">
                <a:solidFill>
                  <a:srgbClr val="253140"/>
                </a:solidFill>
                <a:latin typeface="Nunito Bold"/>
                <a:ea typeface="Nunito Bold"/>
                <a:cs typeface="Nunito Bold"/>
                <a:sym typeface="Nunito Bold"/>
              </a:rPr>
              <a:t>Informationen verarbeiten</a:t>
            </a:r>
          </a:p>
          <a:p>
            <a:pPr algn="ctr" marL="0" indent="0" lvl="0">
              <a:lnSpc>
                <a:spcPts val="4250"/>
              </a:lnSpc>
            </a:pPr>
            <a:r>
              <a:rPr lang="en-US" b="true" sz="2500">
                <a:solidFill>
                  <a:srgbClr val="253140"/>
                </a:solidFill>
                <a:latin typeface="Nunito Bold"/>
                <a:ea typeface="Nunito Bold"/>
                <a:cs typeface="Nunito Bold"/>
                <a:sym typeface="Nunito Bold"/>
              </a:rPr>
              <a:t>ALGORITHMUS</a:t>
            </a:r>
          </a:p>
          <a:p>
            <a:pPr algn="ctr" marL="0" indent="0" lvl="0">
              <a:lnSpc>
                <a:spcPts val="4250"/>
              </a:lnSpc>
            </a:pPr>
            <a:r>
              <a:rPr lang="en-US" b="true" sz="2500">
                <a:solidFill>
                  <a:srgbClr val="253140"/>
                </a:solidFill>
                <a:latin typeface="Nunito Bold"/>
                <a:ea typeface="Nunito Bold"/>
                <a:cs typeface="Nunito Bold"/>
                <a:sym typeface="Nunito Bold"/>
              </a:rPr>
              <a:t>Schritt-für-Schritt-Anleitung</a:t>
            </a:r>
          </a:p>
          <a:p>
            <a:pPr algn="ctr" marL="0" indent="0" lvl="0">
              <a:lnSpc>
                <a:spcPts val="4250"/>
              </a:lnSpc>
            </a:pPr>
            <a:r>
              <a:rPr lang="en-US" b="true" sz="2500">
                <a:solidFill>
                  <a:srgbClr val="253140"/>
                </a:solidFill>
                <a:latin typeface="Nunito Bold"/>
                <a:ea typeface="Nunito Bold"/>
                <a:cs typeface="Nunito Bold"/>
                <a:sym typeface="Nunito Bold"/>
              </a:rPr>
              <a:t>GUTE ANWEISUNG</a:t>
            </a:r>
          </a:p>
          <a:p>
            <a:pPr algn="ctr" marL="0" indent="0" lvl="0">
              <a:lnSpc>
                <a:spcPts val="4250"/>
              </a:lnSpc>
            </a:pPr>
            <a:r>
              <a:rPr lang="en-US" b="true" sz="2500">
                <a:solidFill>
                  <a:srgbClr val="253140"/>
                </a:solidFill>
                <a:latin typeface="Nunito Bold"/>
                <a:ea typeface="Nunito Bold"/>
                <a:cs typeface="Nunito Bold"/>
                <a:sym typeface="Nunito Bold"/>
              </a:rPr>
              <a:t>eindeutig · vollständig · richtige Reihenfolge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8512" y="2076450"/>
            <a:ext cx="4775024" cy="611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</a:pPr>
            <a:r>
              <a:rPr lang="en-US" sz="8000" spc="120">
                <a:solidFill>
                  <a:srgbClr val="333034"/>
                </a:solidFill>
                <a:latin typeface="Lazydog"/>
                <a:ea typeface="Lazydog"/>
                <a:cs typeface="Lazydog"/>
                <a:sym typeface="Lazydog"/>
              </a:rPr>
              <a:t>DAS NEHME ICH HEUTE MIT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36129" y="-4836629"/>
            <a:ext cx="19960258" cy="19960258"/>
          </a:xfrm>
          <a:custGeom>
            <a:avLst/>
            <a:gdLst/>
            <a:ahLst/>
            <a:cxnLst/>
            <a:rect r="r" b="b" t="t" l="l"/>
            <a:pathLst>
              <a:path h="19960258" w="19960258">
                <a:moveTo>
                  <a:pt x="0" y="0"/>
                </a:moveTo>
                <a:lnTo>
                  <a:pt x="19960258" y="0"/>
                </a:lnTo>
                <a:lnTo>
                  <a:pt x="19960258" y="19960258"/>
                </a:lnTo>
                <a:lnTo>
                  <a:pt x="0" y="19960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49340" y="6025957"/>
            <a:ext cx="7791377" cy="3545076"/>
          </a:xfrm>
          <a:custGeom>
            <a:avLst/>
            <a:gdLst/>
            <a:ahLst/>
            <a:cxnLst/>
            <a:rect r="r" b="b" t="t" l="l"/>
            <a:pathLst>
              <a:path h="3545076" w="7791377">
                <a:moveTo>
                  <a:pt x="0" y="0"/>
                </a:moveTo>
                <a:lnTo>
                  <a:pt x="7791376" y="0"/>
                </a:lnTo>
                <a:lnTo>
                  <a:pt x="7791376" y="3545076"/>
                </a:lnTo>
                <a:lnTo>
                  <a:pt x="0" y="35450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52889" y="5539805"/>
            <a:ext cx="1183638" cy="1661247"/>
          </a:xfrm>
          <a:custGeom>
            <a:avLst/>
            <a:gdLst/>
            <a:ahLst/>
            <a:cxnLst/>
            <a:rect r="r" b="b" t="t" l="l"/>
            <a:pathLst>
              <a:path h="1661247" w="1183638">
                <a:moveTo>
                  <a:pt x="0" y="0"/>
                </a:moveTo>
                <a:lnTo>
                  <a:pt x="1183638" y="0"/>
                </a:lnTo>
                <a:lnTo>
                  <a:pt x="1183638" y="1661246"/>
                </a:lnTo>
                <a:lnTo>
                  <a:pt x="0" y="16612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4278976"/>
            <a:ext cx="8605674" cy="3667896"/>
            <a:chOff x="0" y="0"/>
            <a:chExt cx="6531488" cy="2783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31488" cy="2783840"/>
            </a:xfrm>
            <a:custGeom>
              <a:avLst/>
              <a:gdLst/>
              <a:ahLst/>
              <a:cxnLst/>
              <a:rect r="r" b="b" t="t" l="l"/>
              <a:pathLst>
                <a:path h="2783840" w="6531488">
                  <a:moveTo>
                    <a:pt x="6407028" y="2783840"/>
                  </a:moveTo>
                  <a:lnTo>
                    <a:pt x="124460" y="2783840"/>
                  </a:lnTo>
                  <a:cubicBezTo>
                    <a:pt x="55880" y="2783840"/>
                    <a:pt x="0" y="2727960"/>
                    <a:pt x="0" y="26593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407028" y="0"/>
                  </a:lnTo>
                  <a:cubicBezTo>
                    <a:pt x="6475608" y="0"/>
                    <a:pt x="6531488" y="55880"/>
                    <a:pt x="6531488" y="124460"/>
                  </a:cubicBezTo>
                  <a:lnTo>
                    <a:pt x="6531488" y="2659380"/>
                  </a:lnTo>
                  <a:cubicBezTo>
                    <a:pt x="6531488" y="2727960"/>
                    <a:pt x="6475608" y="2783840"/>
                    <a:pt x="6407028" y="2783840"/>
                  </a:cubicBezTo>
                  <a:close/>
                </a:path>
              </a:pathLst>
            </a:custGeom>
            <a:solidFill>
              <a:srgbClr val="DCCBBC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46029" y="5144550"/>
            <a:ext cx="7171015" cy="1831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0"/>
              </a:lnSpc>
            </a:pPr>
            <a:r>
              <a:rPr lang="en-US" sz="2200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Unsere Roadmap:</a:t>
            </a:r>
          </a:p>
          <a:p>
            <a:pPr algn="ctr" marL="0" indent="0" lvl="0">
              <a:lnSpc>
                <a:spcPts val="3740"/>
              </a:lnSpc>
            </a:pPr>
            <a:r>
              <a:rPr lang="en-US" sz="2200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① Algorithmen verstehen</a:t>
            </a:r>
          </a:p>
          <a:p>
            <a:pPr algn="ctr" marL="0" indent="0" lvl="0">
              <a:lnSpc>
                <a:spcPts val="3740"/>
              </a:lnSpc>
            </a:pPr>
            <a:r>
              <a:rPr lang="en-US" sz="2200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② Daten &amp; digitale Systeme</a:t>
            </a:r>
          </a:p>
          <a:p>
            <a:pPr algn="ctr" marL="0" indent="0" lvl="0">
              <a:lnSpc>
                <a:spcPts val="3740"/>
              </a:lnSpc>
            </a:pPr>
            <a:r>
              <a:rPr lang="en-US" sz="2200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③ Eigene Programme entwickeln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46246" y="1382225"/>
            <a:ext cx="1419550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82"/>
              </a:lnSpc>
            </a:pPr>
            <a:r>
              <a:rPr lang="en-US" sz="6151" spc="92">
                <a:solidFill>
                  <a:srgbClr val="333034"/>
                </a:solidFill>
                <a:latin typeface="Lazydog"/>
                <a:ea typeface="Lazydog"/>
                <a:cs typeface="Lazydog"/>
                <a:sym typeface="Lazydog"/>
              </a:rPr>
              <a:t>Und was machen wir als Nächstes?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AE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5490351" cy="2783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90351" cy="2783840"/>
            </a:xfrm>
            <a:custGeom>
              <a:avLst/>
              <a:gdLst/>
              <a:ahLst/>
              <a:cxnLst/>
              <a:rect r="r" b="b" t="t" l="l"/>
              <a:pathLst>
                <a:path h="2783840" w="5490351">
                  <a:moveTo>
                    <a:pt x="5365891" y="2783840"/>
                  </a:moveTo>
                  <a:lnTo>
                    <a:pt x="124460" y="2783840"/>
                  </a:lnTo>
                  <a:cubicBezTo>
                    <a:pt x="55880" y="2783840"/>
                    <a:pt x="0" y="2727960"/>
                    <a:pt x="0" y="26593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65891" y="0"/>
                  </a:lnTo>
                  <a:cubicBezTo>
                    <a:pt x="5434471" y="0"/>
                    <a:pt x="5490351" y="55880"/>
                    <a:pt x="5490351" y="124460"/>
                  </a:cubicBezTo>
                  <a:lnTo>
                    <a:pt x="5490351" y="2659380"/>
                  </a:lnTo>
                  <a:cubicBezTo>
                    <a:pt x="5490351" y="2727960"/>
                    <a:pt x="5434471" y="2783840"/>
                    <a:pt x="5365891" y="2783840"/>
                  </a:cubicBezTo>
                  <a:close/>
                </a:path>
              </a:pathLst>
            </a:custGeom>
            <a:solidFill>
              <a:srgbClr val="DCCBB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03428" y="5562264"/>
            <a:ext cx="7324400" cy="89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0"/>
              </a:lnSpc>
            </a:pPr>
            <a:r>
              <a:rPr lang="en-US" sz="2200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② Was ist ein Algorithmus?</a:t>
            </a:r>
          </a:p>
          <a:p>
            <a:pPr algn="ctr" marL="0" indent="0" lvl="0">
              <a:lnSpc>
                <a:spcPts val="3740"/>
              </a:lnSpc>
            </a:pPr>
            <a:r>
              <a:rPr lang="en-US" sz="2200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Erkläre den Begriff kurz und knapp.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09842" y="5562264"/>
            <a:ext cx="7324400" cy="89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0"/>
              </a:lnSpc>
            </a:pPr>
            <a:r>
              <a:rPr lang="en-US" sz="2200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③ Was hast du heute über Computer gelernt?</a:t>
            </a:r>
          </a:p>
          <a:p>
            <a:pPr algn="ctr" marL="0" indent="0" lvl="0">
              <a:lnSpc>
                <a:spcPts val="3740"/>
              </a:lnSpc>
            </a:pPr>
            <a:r>
              <a:rPr lang="en-US" sz="2200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Notiere dein wichtigstes Ergebnis.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03428" y="1447464"/>
            <a:ext cx="7324400" cy="89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0"/>
              </a:lnSpc>
            </a:pPr>
            <a:r>
              <a:rPr lang="en-US" sz="2200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① Was ist Informatik?</a:t>
            </a:r>
          </a:p>
          <a:p>
            <a:pPr algn="ctr" marL="0" indent="0" lvl="0">
              <a:lnSpc>
                <a:spcPts val="3740"/>
              </a:lnSpc>
            </a:pPr>
            <a:r>
              <a:rPr lang="en-US" sz="2200">
                <a:solidFill>
                  <a:srgbClr val="253140"/>
                </a:solidFill>
                <a:latin typeface="Nunito"/>
                <a:ea typeface="Nunito"/>
                <a:cs typeface="Nunito"/>
                <a:sym typeface="Nunito"/>
              </a:rPr>
              <a:t>Schreibe 1–2 Sätze mit eigenen Worten.</a:t>
            </a:r>
          </a:p>
        </p:txBody>
      </p:sp>
      <p:sp>
        <p:nvSpPr>
          <p:cNvPr name="AutoShape 7" id="7"/>
          <p:cNvSpPr/>
          <p:nvPr/>
        </p:nvSpPr>
        <p:spPr>
          <a:xfrm rot="0">
            <a:off x="1532594" y="7405092"/>
            <a:ext cx="7066069" cy="0"/>
          </a:xfrm>
          <a:prstGeom prst="line">
            <a:avLst/>
          </a:prstGeom>
          <a:ln cap="rnd" w="28575">
            <a:solidFill>
              <a:srgbClr val="33303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0">
            <a:off x="1532594" y="7927817"/>
            <a:ext cx="7066069" cy="0"/>
          </a:xfrm>
          <a:prstGeom prst="line">
            <a:avLst/>
          </a:prstGeom>
          <a:ln cap="rnd" w="28575">
            <a:solidFill>
              <a:srgbClr val="33303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0">
            <a:off x="1532594" y="8450542"/>
            <a:ext cx="7066069" cy="0"/>
          </a:xfrm>
          <a:prstGeom prst="line">
            <a:avLst/>
          </a:prstGeom>
          <a:ln cap="rnd" w="28575">
            <a:solidFill>
              <a:srgbClr val="33303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0">
            <a:off x="9839008" y="7405092"/>
            <a:ext cx="7066069" cy="0"/>
          </a:xfrm>
          <a:prstGeom prst="line">
            <a:avLst/>
          </a:prstGeom>
          <a:ln cap="rnd" w="28575">
            <a:solidFill>
              <a:srgbClr val="33303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0">
            <a:off x="9839008" y="7927817"/>
            <a:ext cx="7066069" cy="0"/>
          </a:xfrm>
          <a:prstGeom prst="line">
            <a:avLst/>
          </a:prstGeom>
          <a:ln cap="rnd" w="28575">
            <a:solidFill>
              <a:srgbClr val="33303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0">
            <a:off x="9839008" y="8450542"/>
            <a:ext cx="7066069" cy="0"/>
          </a:xfrm>
          <a:prstGeom prst="line">
            <a:avLst/>
          </a:prstGeom>
          <a:ln cap="rnd" w="28575">
            <a:solidFill>
              <a:srgbClr val="33303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0">
            <a:off x="1532594" y="3290292"/>
            <a:ext cx="7066069" cy="0"/>
          </a:xfrm>
          <a:prstGeom prst="line">
            <a:avLst/>
          </a:prstGeom>
          <a:ln cap="rnd" w="28575">
            <a:solidFill>
              <a:srgbClr val="33303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0">
            <a:off x="1532594" y="3813017"/>
            <a:ext cx="7066069" cy="0"/>
          </a:xfrm>
          <a:prstGeom prst="line">
            <a:avLst/>
          </a:prstGeom>
          <a:ln cap="rnd" w="28575">
            <a:solidFill>
              <a:srgbClr val="33303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0">
            <a:off x="1532594" y="4335742"/>
            <a:ext cx="7066069" cy="0"/>
          </a:xfrm>
          <a:prstGeom prst="line">
            <a:avLst/>
          </a:prstGeom>
          <a:ln cap="rnd" w="28575">
            <a:solidFill>
              <a:srgbClr val="33303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9677221" y="2339153"/>
            <a:ext cx="7294085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</a:pPr>
            <a:r>
              <a:rPr lang="en-US" sz="8000" spc="120">
                <a:solidFill>
                  <a:srgbClr val="333034"/>
                </a:solidFill>
                <a:latin typeface="Lazydog"/>
                <a:ea typeface="Lazydog"/>
                <a:cs typeface="Lazydog"/>
                <a:sym typeface="Lazydog"/>
              </a:rPr>
              <a:t>EXIT-TICKET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DAHV3JST-nE</dc:identifier>
  <dcterms:modified xsi:type="dcterms:W3CDTF">2011-08-01T06:04:30Z</dcterms:modified>
  <cp:revision>1</cp:revision>
  <dc:title>INFORMATIK: Einstieg für die 8. Klasse</dc:title>
</cp:coreProperties>
</file>