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Bold" charset="1" panose="00000000000000000000"/>
      <p:regular r:id="rId24"/>
    </p:embeddedFont>
    <p:embeddedFont>
      <p:font typeface="Montserrat Bold" charset="1" panose="00000800000000000000"/>
      <p:regular r:id="rId25"/>
    </p:embeddedFont>
    <p:embeddedFont>
      <p:font typeface="Open Sans" charset="1" panose="00000000000000000000"/>
      <p:regular r:id="rId26"/>
    </p:embeddedFont>
    <p:embeddedFont>
      <p:font typeface="IBM Plex Mono Bold" charset="1" panose="020B08090502030002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A2B">
                    <a:alpha val="100000"/>
                  </a:srgbClr>
                </a:gs>
                <a:gs pos="100000">
                  <a:srgbClr val="071A2B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1049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· KLASSE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590800"/>
            <a:ext cx="13395618" cy="268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6"/>
              </a:lnSpc>
            </a:pPr>
            <a:r>
              <a:rPr lang="en-US" sz="108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 DAS</a:t>
            </a:r>
          </a:p>
          <a:p>
            <a:pPr algn="l">
              <a:lnSpc>
                <a:spcPts val="10306"/>
              </a:lnSpc>
            </a:pPr>
            <a:r>
              <a:rPr lang="en-US" sz="108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NOCHMAL!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6667500"/>
            <a:ext cx="1714500" cy="114300"/>
            <a:chOff x="0" y="0"/>
            <a:chExt cx="2286000" cy="15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6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5991249"/>
            <a:ext cx="7239000" cy="46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Wiederholungen im Computer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RÜCKBLICK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382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kann ein Computer inzwischen?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57278" y="2837878"/>
            <a:ext cx="3986692" cy="4155564"/>
            <a:chOff x="0" y="0"/>
            <a:chExt cx="5315590" cy="554075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042946"/>
              <a:ext cx="5315590" cy="4497807"/>
              <a:chOff x="0" y="0"/>
              <a:chExt cx="4953000" cy="4191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63410" y="85725"/>
              <a:ext cx="1090377" cy="95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4"/>
                </a:lnSpc>
              </a:pPr>
              <a:r>
                <a:rPr lang="en-US" sz="5151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63410" y="1822629"/>
              <a:ext cx="4497807" cy="521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9"/>
                </a:lnSpc>
              </a:pPr>
              <a:r>
                <a:rPr lang="en-US" sz="2414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ALGORITHMUS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63410" y="2854383"/>
              <a:ext cx="4497807" cy="47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2"/>
                </a:lnSpc>
              </a:pPr>
              <a:r>
                <a:rPr lang="en-US" sz="225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Schritte planen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52862" y="2837878"/>
            <a:ext cx="3986692" cy="4155564"/>
            <a:chOff x="0" y="0"/>
            <a:chExt cx="5315590" cy="554075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042946"/>
              <a:ext cx="5315590" cy="4497807"/>
              <a:chOff x="0" y="0"/>
              <a:chExt cx="4953000" cy="4191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16D9C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63410" y="85725"/>
              <a:ext cx="1090377" cy="95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4"/>
                </a:lnSpc>
              </a:pPr>
              <a:r>
                <a:rPr lang="en-US" sz="5151" b="true">
                  <a:solidFill>
                    <a:srgbClr val="071A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63410" y="1822629"/>
              <a:ext cx="4497807" cy="521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9"/>
                </a:lnSpc>
              </a:pPr>
              <a:r>
                <a:rPr lang="en-US" sz="2414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DEBUGGING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63410" y="2854383"/>
              <a:ext cx="4497807" cy="47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2"/>
                </a:lnSpc>
              </a:pPr>
              <a:r>
                <a:rPr lang="en-US" sz="2253">
                  <a:solidFill>
                    <a:srgbClr val="102536"/>
                  </a:solidFill>
                  <a:latin typeface="Open Sans"/>
                  <a:ea typeface="Open Sans"/>
                  <a:cs typeface="Open Sans"/>
                  <a:sym typeface="Open Sans"/>
                </a:rPr>
                <a:t>Fehler finden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48446" y="2837878"/>
            <a:ext cx="3986692" cy="4155564"/>
            <a:chOff x="0" y="0"/>
            <a:chExt cx="5315590" cy="554075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1042946"/>
              <a:ext cx="5315590" cy="4497807"/>
              <a:chOff x="0" y="0"/>
              <a:chExt cx="4953000" cy="4191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63410" y="85725"/>
              <a:ext cx="1090377" cy="95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4"/>
                </a:lnSpc>
              </a:pPr>
              <a:r>
                <a:rPr lang="en-US" sz="5151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63410" y="1822629"/>
              <a:ext cx="4497807" cy="521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9"/>
                </a:lnSpc>
              </a:pPr>
              <a:r>
                <a:rPr lang="en-US" sz="2414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BEDINGUNG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63410" y="2854383"/>
              <a:ext cx="4497807" cy="47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2"/>
                </a:lnSpc>
              </a:pPr>
              <a:r>
                <a:rPr lang="en-US" sz="225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Prüfen: wahr?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44030" y="2837878"/>
            <a:ext cx="3986692" cy="4155564"/>
            <a:chOff x="0" y="0"/>
            <a:chExt cx="5315590" cy="554075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1042946"/>
              <a:ext cx="5315590" cy="4497807"/>
              <a:chOff x="0" y="0"/>
              <a:chExt cx="4953000" cy="4191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61418" y="85725"/>
              <a:ext cx="1090377" cy="957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54"/>
                </a:lnSpc>
              </a:pPr>
              <a:r>
                <a:rPr lang="en-US" sz="5151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63410" y="1822629"/>
              <a:ext cx="4497807" cy="521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9"/>
                </a:lnSpc>
              </a:pPr>
              <a:r>
                <a:rPr lang="en-US" sz="2414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ALTERNATIVE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63410" y="2854383"/>
              <a:ext cx="4497807" cy="47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2"/>
                </a:lnSpc>
              </a:pPr>
              <a:r>
                <a:rPr lang="en-US" sz="225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Zwischen Wegen wählen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71575"/>
            <a:ext cx="9525000" cy="59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44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Zehn Befehle. Ein langer Weg.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10625" y="4095750"/>
            <a:ext cx="7810500" cy="187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 wenn der Computer das 1.000-mal machen soll?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2571750"/>
            <a:ext cx="6191250" cy="509588"/>
            <a:chOff x="0" y="0"/>
            <a:chExt cx="8255000" cy="679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 GEHE 1 SCHRITT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750" y="3162300"/>
            <a:ext cx="6191250" cy="509588"/>
            <a:chOff x="0" y="0"/>
            <a:chExt cx="8255000" cy="679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 GEHE 1 SCHRITT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7750" y="3752850"/>
            <a:ext cx="6191250" cy="509588"/>
            <a:chOff x="0" y="0"/>
            <a:chExt cx="8255000" cy="6794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 GEHE 1 SCHRITT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7750" y="4343400"/>
            <a:ext cx="6191250" cy="509588"/>
            <a:chOff x="0" y="0"/>
            <a:chExt cx="8255000" cy="679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 GEHE 1 SCHRITT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7750" y="4933950"/>
            <a:ext cx="6191250" cy="509588"/>
            <a:chOff x="0" y="0"/>
            <a:chExt cx="8255000" cy="679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  GEHE 1 SCHRITT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7750" y="5524500"/>
            <a:ext cx="6191250" cy="509588"/>
            <a:chOff x="0" y="0"/>
            <a:chExt cx="8255000" cy="679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  GEHE 1 SCHRITT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7750" y="6115050"/>
            <a:ext cx="6191250" cy="509588"/>
            <a:chOff x="0" y="0"/>
            <a:chExt cx="8255000" cy="6794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  GEHE 1 SCHRITT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750" y="6705600"/>
            <a:ext cx="6191250" cy="509588"/>
            <a:chOff x="0" y="0"/>
            <a:chExt cx="8255000" cy="6794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  GEHE 1 SCHRITT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750" y="7296150"/>
            <a:ext cx="6191250" cy="509588"/>
            <a:chOff x="0" y="0"/>
            <a:chExt cx="8255000" cy="6794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  GEHE 1 SCHRITT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7750" y="7886700"/>
            <a:ext cx="6191250" cy="509588"/>
            <a:chOff x="0" y="0"/>
            <a:chExt cx="8255000" cy="6794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55000" cy="679450"/>
            </a:xfrm>
            <a:custGeom>
              <a:avLst/>
              <a:gdLst/>
              <a:ahLst/>
              <a:cxnLst/>
              <a:rect r="r" b="b" t="t" l="l"/>
              <a:pathLst>
                <a:path h="67945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644281"/>
                  </a:lnTo>
                  <a:cubicBezTo>
                    <a:pt x="8255000" y="663704"/>
                    <a:pt x="8239254" y="679450"/>
                    <a:pt x="8219831" y="679450"/>
                  </a:cubicBezTo>
                  <a:lnTo>
                    <a:pt x="35169" y="679450"/>
                  </a:lnTo>
                  <a:cubicBezTo>
                    <a:pt x="15746" y="679450"/>
                    <a:pt x="0" y="663704"/>
                    <a:pt x="0" y="64428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255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  GEHE 1 SCHRITT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7620000" y="2857500"/>
            <a:ext cx="0" cy="5476875"/>
          </a:xfrm>
          <a:prstGeom prst="line">
            <a:avLst/>
          </a:prstGeom>
          <a:ln cap="flat" w="38100">
            <a:solidFill>
              <a:srgbClr val="16D9C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4257" y="4351391"/>
            <a:ext cx="7841623" cy="2195110"/>
            <a:chOff x="0" y="0"/>
            <a:chExt cx="816631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66311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66311">
                  <a:moveTo>
                    <a:pt x="27767" y="0"/>
                  </a:moveTo>
                  <a:lnTo>
                    <a:pt x="8138544" y="0"/>
                  </a:lnTo>
                  <a:cubicBezTo>
                    <a:pt x="8145907" y="0"/>
                    <a:pt x="8152971" y="2925"/>
                    <a:pt x="8158178" y="8133"/>
                  </a:cubicBezTo>
                  <a:cubicBezTo>
                    <a:pt x="8163385" y="13340"/>
                    <a:pt x="8166311" y="20403"/>
                    <a:pt x="8166311" y="27767"/>
                  </a:cubicBezTo>
                  <a:lnTo>
                    <a:pt x="8166311" y="2258233"/>
                  </a:lnTo>
                  <a:cubicBezTo>
                    <a:pt x="8166311" y="2265597"/>
                    <a:pt x="8163385" y="2272660"/>
                    <a:pt x="8158178" y="2277867"/>
                  </a:cubicBezTo>
                  <a:cubicBezTo>
                    <a:pt x="8152971" y="2283075"/>
                    <a:pt x="8145907" y="2286000"/>
                    <a:pt x="8138544" y="2286000"/>
                  </a:cubicBezTo>
                  <a:lnTo>
                    <a:pt x="27767" y="2286000"/>
                  </a:lnTo>
                  <a:cubicBezTo>
                    <a:pt x="20403" y="2286000"/>
                    <a:pt x="13340" y="2283075"/>
                    <a:pt x="8133" y="2277867"/>
                  </a:cubicBezTo>
                  <a:cubicBezTo>
                    <a:pt x="2925" y="2272660"/>
                    <a:pt x="0" y="2265597"/>
                    <a:pt x="0" y="2258233"/>
                  </a:cubicBezTo>
                  <a:lnTo>
                    <a:pt x="0" y="27767"/>
                  </a:lnTo>
                  <a:cubicBezTo>
                    <a:pt x="0" y="20403"/>
                    <a:pt x="2925" y="13340"/>
                    <a:pt x="8133" y="8133"/>
                  </a:cubicBezTo>
                  <a:cubicBezTo>
                    <a:pt x="13340" y="2925"/>
                    <a:pt x="20403" y="0"/>
                    <a:pt x="277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66310" cy="230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74"/>
                </a:lnSpc>
              </a:pPr>
              <a:r>
                <a:rPr lang="en-US" sz="3899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WIEDERHOLE 1.000-MAL:</a:t>
              </a:r>
            </a:p>
            <a:p>
              <a:pPr algn="ctr">
                <a:lnSpc>
                  <a:spcPts val="4749"/>
                </a:lnSpc>
              </a:pPr>
              <a:r>
                <a:rPr lang="en-US" sz="3799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GEHE 1 SCHRITT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70464" y="1520365"/>
            <a:ext cx="6577244" cy="7737935"/>
          </a:xfrm>
          <a:custGeom>
            <a:avLst/>
            <a:gdLst/>
            <a:ahLst/>
            <a:cxnLst/>
            <a:rect r="r" b="b" t="t" l="l"/>
            <a:pathLst>
              <a:path h="7737935" w="6577244">
                <a:moveTo>
                  <a:pt x="0" y="0"/>
                </a:moveTo>
                <a:lnTo>
                  <a:pt x="6577244" y="0"/>
                </a:lnTo>
                <a:lnTo>
                  <a:pt x="6577244" y="7737935"/>
                </a:lnTo>
                <a:lnTo>
                  <a:pt x="0" y="7737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750" y="6286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DIE LÖSUNG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1464029"/>
            <a:ext cx="17619491" cy="80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59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Einmal schreiben. Oft ausführen.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5069" y="8554083"/>
            <a:ext cx="7458931" cy="70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9"/>
              </a:lnSpc>
            </a:pPr>
            <a:r>
              <a:rPr lang="en-US" b="true" sz="4149" spc="497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 IST EINE SCHLEIFE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76275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BEGRIFF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3956" y="1904167"/>
            <a:ext cx="114300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4999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ist eine Wiederholung?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3956" y="2575313"/>
            <a:ext cx="9683044" cy="47625"/>
            <a:chOff x="0" y="0"/>
            <a:chExt cx="12910725" cy="6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10725" cy="63500"/>
            </a:xfrm>
            <a:custGeom>
              <a:avLst/>
              <a:gdLst/>
              <a:ahLst/>
              <a:cxnLst/>
              <a:rect r="r" b="b" t="t" l="l"/>
              <a:pathLst>
                <a:path h="63500" w="12910725">
                  <a:moveTo>
                    <a:pt x="0" y="0"/>
                  </a:moveTo>
                  <a:lnTo>
                    <a:pt x="12910725" y="0"/>
                  </a:lnTo>
                  <a:lnTo>
                    <a:pt x="1291072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910725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03956" y="3507344"/>
            <a:ext cx="10219294" cy="30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821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Eine Wiederholung führt eine Handlung oder eine Abfolge von Handlungen mehrmals aus.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34199" y="2857500"/>
            <a:ext cx="6858000" cy="4572000"/>
            <a:chOff x="0" y="0"/>
            <a:chExt cx="9144000" cy="609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144000">
                  <a:moveTo>
                    <a:pt x="4572000" y="0"/>
                  </a:moveTo>
                  <a:cubicBezTo>
                    <a:pt x="7097046" y="0"/>
                    <a:pt x="9144000" y="1364636"/>
                    <a:pt x="9144000" y="3048000"/>
                  </a:cubicBezTo>
                  <a:cubicBezTo>
                    <a:pt x="9144000" y="4731364"/>
                    <a:pt x="7097046" y="6096000"/>
                    <a:pt x="4572000" y="6096000"/>
                  </a:cubicBezTo>
                  <a:cubicBezTo>
                    <a:pt x="2046954" y="6096000"/>
                    <a:pt x="0" y="4731364"/>
                    <a:pt x="0" y="3048000"/>
                  </a:cubicBezTo>
                  <a:cubicBezTo>
                    <a:pt x="0" y="1364636"/>
                    <a:pt x="2046954" y="0"/>
                    <a:pt x="4572000" y="0"/>
                  </a:cubicBezTo>
                  <a:close/>
                </a:path>
              </a:pathLst>
            </a:custGeom>
            <a:solidFill>
              <a:srgbClr val="0D2B42"/>
            </a:solidFill>
            <a:ln w="133350" cap="sq">
              <a:solidFill>
                <a:srgbClr val="16D9C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67574" y="5114925"/>
            <a:ext cx="61912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AKTION  →  AKTION  →  AKTION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57250"/>
            <a:ext cx="13335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Ohne und mit Wiederholung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9250" y="2200275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OHNE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0" y="22002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 SCHLEIFE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3000" y="2095500"/>
            <a:ext cx="38100" cy="6381750"/>
            <a:chOff x="0" y="0"/>
            <a:chExt cx="50800" cy="850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800" cy="8509000"/>
            </a:xfrm>
            <a:custGeom>
              <a:avLst/>
              <a:gdLst/>
              <a:ahLst/>
              <a:cxnLst/>
              <a:rect r="r" b="b" t="t" l="l"/>
              <a:pathLst>
                <a:path h="8509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8509000"/>
                  </a:lnTo>
                  <a:lnTo>
                    <a:pt x="0" y="8509000"/>
                  </a:lnTo>
                  <a:close/>
                </a:path>
              </a:pathLst>
            </a:custGeom>
            <a:solidFill>
              <a:srgbClr val="B9D3D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800" cy="854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750" y="2857500"/>
            <a:ext cx="5810250" cy="723900"/>
            <a:chOff x="0" y="0"/>
            <a:chExt cx="7747000" cy="96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47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747000">
                  <a:moveTo>
                    <a:pt x="37475" y="0"/>
                  </a:moveTo>
                  <a:lnTo>
                    <a:pt x="7709525" y="0"/>
                  </a:lnTo>
                  <a:cubicBezTo>
                    <a:pt x="7719464" y="0"/>
                    <a:pt x="7728996" y="3948"/>
                    <a:pt x="7736024" y="10976"/>
                  </a:cubicBezTo>
                  <a:cubicBezTo>
                    <a:pt x="7743051" y="18004"/>
                    <a:pt x="7747000" y="27536"/>
                    <a:pt x="7747000" y="37475"/>
                  </a:cubicBezTo>
                  <a:lnTo>
                    <a:pt x="7747000" y="927725"/>
                  </a:lnTo>
                  <a:cubicBezTo>
                    <a:pt x="7747000" y="937664"/>
                    <a:pt x="7743051" y="947196"/>
                    <a:pt x="7736024" y="954224"/>
                  </a:cubicBezTo>
                  <a:cubicBezTo>
                    <a:pt x="7728996" y="961252"/>
                    <a:pt x="7719464" y="965200"/>
                    <a:pt x="7709525" y="965200"/>
                  </a:cubicBezTo>
                  <a:lnTo>
                    <a:pt x="37475" y="965200"/>
                  </a:lnTo>
                  <a:cubicBezTo>
                    <a:pt x="27536" y="965200"/>
                    <a:pt x="18004" y="961252"/>
                    <a:pt x="10976" y="954224"/>
                  </a:cubicBezTo>
                  <a:cubicBezTo>
                    <a:pt x="3948" y="947196"/>
                    <a:pt x="0" y="937664"/>
                    <a:pt x="0" y="927725"/>
                  </a:cubicBezTo>
                  <a:lnTo>
                    <a:pt x="0" y="37475"/>
                  </a:lnTo>
                  <a:cubicBezTo>
                    <a:pt x="0" y="27536"/>
                    <a:pt x="3948" y="18004"/>
                    <a:pt x="10976" y="10976"/>
                  </a:cubicBezTo>
                  <a:cubicBezTo>
                    <a:pt x="18004" y="3948"/>
                    <a:pt x="27536" y="0"/>
                    <a:pt x="37475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747000" cy="98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GEHE 1 SCHRITT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8750" y="3857625"/>
            <a:ext cx="5810250" cy="723900"/>
            <a:chOff x="0" y="0"/>
            <a:chExt cx="7747000" cy="965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47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747000">
                  <a:moveTo>
                    <a:pt x="37475" y="0"/>
                  </a:moveTo>
                  <a:lnTo>
                    <a:pt x="7709525" y="0"/>
                  </a:lnTo>
                  <a:cubicBezTo>
                    <a:pt x="7719464" y="0"/>
                    <a:pt x="7728996" y="3948"/>
                    <a:pt x="7736024" y="10976"/>
                  </a:cubicBezTo>
                  <a:cubicBezTo>
                    <a:pt x="7743051" y="18004"/>
                    <a:pt x="7747000" y="27536"/>
                    <a:pt x="7747000" y="37475"/>
                  </a:cubicBezTo>
                  <a:lnTo>
                    <a:pt x="7747000" y="927725"/>
                  </a:lnTo>
                  <a:cubicBezTo>
                    <a:pt x="7747000" y="937664"/>
                    <a:pt x="7743051" y="947196"/>
                    <a:pt x="7736024" y="954224"/>
                  </a:cubicBezTo>
                  <a:cubicBezTo>
                    <a:pt x="7728996" y="961252"/>
                    <a:pt x="7719464" y="965200"/>
                    <a:pt x="7709525" y="965200"/>
                  </a:cubicBezTo>
                  <a:lnTo>
                    <a:pt x="37475" y="965200"/>
                  </a:lnTo>
                  <a:cubicBezTo>
                    <a:pt x="27536" y="965200"/>
                    <a:pt x="18004" y="961252"/>
                    <a:pt x="10976" y="954224"/>
                  </a:cubicBezTo>
                  <a:cubicBezTo>
                    <a:pt x="3948" y="947196"/>
                    <a:pt x="0" y="937664"/>
                    <a:pt x="0" y="927725"/>
                  </a:cubicBezTo>
                  <a:lnTo>
                    <a:pt x="0" y="37475"/>
                  </a:lnTo>
                  <a:cubicBezTo>
                    <a:pt x="0" y="27536"/>
                    <a:pt x="3948" y="18004"/>
                    <a:pt x="10976" y="10976"/>
                  </a:cubicBezTo>
                  <a:cubicBezTo>
                    <a:pt x="18004" y="3948"/>
                    <a:pt x="27536" y="0"/>
                    <a:pt x="37475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747000" cy="98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GEHE 1 SCHRITT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8750" y="4857750"/>
            <a:ext cx="5810250" cy="723900"/>
            <a:chOff x="0" y="0"/>
            <a:chExt cx="7747000" cy="965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47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747000">
                  <a:moveTo>
                    <a:pt x="37475" y="0"/>
                  </a:moveTo>
                  <a:lnTo>
                    <a:pt x="7709525" y="0"/>
                  </a:lnTo>
                  <a:cubicBezTo>
                    <a:pt x="7719464" y="0"/>
                    <a:pt x="7728996" y="3948"/>
                    <a:pt x="7736024" y="10976"/>
                  </a:cubicBezTo>
                  <a:cubicBezTo>
                    <a:pt x="7743051" y="18004"/>
                    <a:pt x="7747000" y="27536"/>
                    <a:pt x="7747000" y="37475"/>
                  </a:cubicBezTo>
                  <a:lnTo>
                    <a:pt x="7747000" y="927725"/>
                  </a:lnTo>
                  <a:cubicBezTo>
                    <a:pt x="7747000" y="937664"/>
                    <a:pt x="7743051" y="947196"/>
                    <a:pt x="7736024" y="954224"/>
                  </a:cubicBezTo>
                  <a:cubicBezTo>
                    <a:pt x="7728996" y="961252"/>
                    <a:pt x="7719464" y="965200"/>
                    <a:pt x="7709525" y="965200"/>
                  </a:cubicBezTo>
                  <a:lnTo>
                    <a:pt x="37475" y="965200"/>
                  </a:lnTo>
                  <a:cubicBezTo>
                    <a:pt x="27536" y="965200"/>
                    <a:pt x="18004" y="961252"/>
                    <a:pt x="10976" y="954224"/>
                  </a:cubicBezTo>
                  <a:cubicBezTo>
                    <a:pt x="3948" y="947196"/>
                    <a:pt x="0" y="937664"/>
                    <a:pt x="0" y="927725"/>
                  </a:cubicBezTo>
                  <a:lnTo>
                    <a:pt x="0" y="37475"/>
                  </a:lnTo>
                  <a:cubicBezTo>
                    <a:pt x="0" y="27536"/>
                    <a:pt x="3948" y="18004"/>
                    <a:pt x="10976" y="10976"/>
                  </a:cubicBezTo>
                  <a:cubicBezTo>
                    <a:pt x="18004" y="3948"/>
                    <a:pt x="27536" y="0"/>
                    <a:pt x="37475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747000" cy="98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GEHE 1 SCHRITT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8750" y="5857875"/>
            <a:ext cx="5810250" cy="723900"/>
            <a:chOff x="0" y="0"/>
            <a:chExt cx="7747000" cy="96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47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747000">
                  <a:moveTo>
                    <a:pt x="37475" y="0"/>
                  </a:moveTo>
                  <a:lnTo>
                    <a:pt x="7709525" y="0"/>
                  </a:lnTo>
                  <a:cubicBezTo>
                    <a:pt x="7719464" y="0"/>
                    <a:pt x="7728996" y="3948"/>
                    <a:pt x="7736024" y="10976"/>
                  </a:cubicBezTo>
                  <a:cubicBezTo>
                    <a:pt x="7743051" y="18004"/>
                    <a:pt x="7747000" y="27536"/>
                    <a:pt x="7747000" y="37475"/>
                  </a:cubicBezTo>
                  <a:lnTo>
                    <a:pt x="7747000" y="927725"/>
                  </a:lnTo>
                  <a:cubicBezTo>
                    <a:pt x="7747000" y="937664"/>
                    <a:pt x="7743051" y="947196"/>
                    <a:pt x="7736024" y="954224"/>
                  </a:cubicBezTo>
                  <a:cubicBezTo>
                    <a:pt x="7728996" y="961252"/>
                    <a:pt x="7719464" y="965200"/>
                    <a:pt x="7709525" y="965200"/>
                  </a:cubicBezTo>
                  <a:lnTo>
                    <a:pt x="37475" y="965200"/>
                  </a:lnTo>
                  <a:cubicBezTo>
                    <a:pt x="27536" y="965200"/>
                    <a:pt x="18004" y="961252"/>
                    <a:pt x="10976" y="954224"/>
                  </a:cubicBezTo>
                  <a:cubicBezTo>
                    <a:pt x="3948" y="947196"/>
                    <a:pt x="0" y="937664"/>
                    <a:pt x="0" y="927725"/>
                  </a:cubicBezTo>
                  <a:lnTo>
                    <a:pt x="0" y="37475"/>
                  </a:lnTo>
                  <a:cubicBezTo>
                    <a:pt x="0" y="27536"/>
                    <a:pt x="3948" y="18004"/>
                    <a:pt x="10976" y="10976"/>
                  </a:cubicBezTo>
                  <a:cubicBezTo>
                    <a:pt x="18004" y="3948"/>
                    <a:pt x="27536" y="0"/>
                    <a:pt x="37475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747000" cy="98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GEHE 1 SCHRITT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8750" y="6858000"/>
            <a:ext cx="5810250" cy="723900"/>
            <a:chOff x="0" y="0"/>
            <a:chExt cx="7747000" cy="965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47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747000">
                  <a:moveTo>
                    <a:pt x="37475" y="0"/>
                  </a:moveTo>
                  <a:lnTo>
                    <a:pt x="7709525" y="0"/>
                  </a:lnTo>
                  <a:cubicBezTo>
                    <a:pt x="7719464" y="0"/>
                    <a:pt x="7728996" y="3948"/>
                    <a:pt x="7736024" y="10976"/>
                  </a:cubicBezTo>
                  <a:cubicBezTo>
                    <a:pt x="7743051" y="18004"/>
                    <a:pt x="7747000" y="27536"/>
                    <a:pt x="7747000" y="37475"/>
                  </a:cubicBezTo>
                  <a:lnTo>
                    <a:pt x="7747000" y="927725"/>
                  </a:lnTo>
                  <a:cubicBezTo>
                    <a:pt x="7747000" y="937664"/>
                    <a:pt x="7743051" y="947196"/>
                    <a:pt x="7736024" y="954224"/>
                  </a:cubicBezTo>
                  <a:cubicBezTo>
                    <a:pt x="7728996" y="961252"/>
                    <a:pt x="7719464" y="965200"/>
                    <a:pt x="7709525" y="965200"/>
                  </a:cubicBezTo>
                  <a:lnTo>
                    <a:pt x="37475" y="965200"/>
                  </a:lnTo>
                  <a:cubicBezTo>
                    <a:pt x="27536" y="965200"/>
                    <a:pt x="18004" y="961252"/>
                    <a:pt x="10976" y="954224"/>
                  </a:cubicBezTo>
                  <a:cubicBezTo>
                    <a:pt x="3948" y="947196"/>
                    <a:pt x="0" y="937664"/>
                    <a:pt x="0" y="927725"/>
                  </a:cubicBezTo>
                  <a:lnTo>
                    <a:pt x="0" y="37475"/>
                  </a:lnTo>
                  <a:cubicBezTo>
                    <a:pt x="0" y="27536"/>
                    <a:pt x="3948" y="18004"/>
                    <a:pt x="10976" y="10976"/>
                  </a:cubicBezTo>
                  <a:cubicBezTo>
                    <a:pt x="18004" y="3948"/>
                    <a:pt x="27536" y="0"/>
                    <a:pt x="37475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747000" cy="98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GEHE 1 SCHRITT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01250" y="3524250"/>
            <a:ext cx="6477000" cy="2286000"/>
            <a:chOff x="0" y="0"/>
            <a:chExt cx="8636000" cy="304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3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8636000">
                  <a:moveTo>
                    <a:pt x="33618" y="0"/>
                  </a:moveTo>
                  <a:lnTo>
                    <a:pt x="8602383" y="0"/>
                  </a:lnTo>
                  <a:cubicBezTo>
                    <a:pt x="8611298" y="0"/>
                    <a:pt x="8619849" y="3542"/>
                    <a:pt x="8626153" y="9846"/>
                  </a:cubicBezTo>
                  <a:cubicBezTo>
                    <a:pt x="8632458" y="16151"/>
                    <a:pt x="8636000" y="24702"/>
                    <a:pt x="8636000" y="33618"/>
                  </a:cubicBezTo>
                  <a:lnTo>
                    <a:pt x="8636000" y="3014382"/>
                  </a:lnTo>
                  <a:cubicBezTo>
                    <a:pt x="8636000" y="3023298"/>
                    <a:pt x="8632458" y="3031849"/>
                    <a:pt x="8626153" y="3038154"/>
                  </a:cubicBezTo>
                  <a:cubicBezTo>
                    <a:pt x="8619849" y="3044458"/>
                    <a:pt x="8611298" y="3048000"/>
                    <a:pt x="8602383" y="3048000"/>
                  </a:cubicBezTo>
                  <a:lnTo>
                    <a:pt x="33618" y="3048000"/>
                  </a:lnTo>
                  <a:cubicBezTo>
                    <a:pt x="24702" y="3048000"/>
                    <a:pt x="16151" y="3044458"/>
                    <a:pt x="9846" y="3038154"/>
                  </a:cubicBezTo>
                  <a:cubicBezTo>
                    <a:pt x="3542" y="3031849"/>
                    <a:pt x="0" y="3023298"/>
                    <a:pt x="0" y="3014382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636000" cy="306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WIEDERHOLE 5-MAL:</a:t>
              </a:r>
            </a:p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GEHE 1 SCHRITT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4000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AUFGABE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82750" y="914400"/>
            <a:ext cx="2476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5"/>
              </a:lnSpc>
            </a:pPr>
            <a:r>
              <a:rPr lang="en-US" sz="8100" b="true">
                <a:solidFill>
                  <a:srgbClr val="16D9C4">
                    <a:alpha val="3490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714500"/>
            <a:ext cx="1285875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Computer soll 6-mal piepen.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3667125"/>
            <a:ext cx="11430000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249">
                <a:solidFill>
                  <a:srgbClr val="16D9C4"/>
                </a:solidFill>
                <a:latin typeface="Open Sans"/>
                <a:ea typeface="Open Sans"/>
                <a:cs typeface="Open Sans"/>
                <a:sym typeface="Open Sans"/>
              </a:rPr>
              <a:t>Formuliere als Wiederholungsanweisung.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6500" y="3114675"/>
            <a:ext cx="285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 b="true">
                <a:solidFill>
                  <a:srgbClr val="16D9C4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)))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5238750"/>
            <a:ext cx="16192500" cy="3238500"/>
            <a:chOff x="0" y="0"/>
            <a:chExt cx="21590000" cy="431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375" y="55816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6C829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DEINE ANTWORT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476375" y="7524750"/>
            <a:ext cx="14811375" cy="0"/>
          </a:xfrm>
          <a:prstGeom prst="line">
            <a:avLst/>
          </a:prstGeom>
          <a:ln cap="flat" w="28575">
            <a:solidFill>
              <a:srgbClr val="B9D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4000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AUFGABE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82750" y="914400"/>
            <a:ext cx="2476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5"/>
              </a:lnSpc>
            </a:pPr>
            <a:r>
              <a:rPr lang="en-US" sz="8100" b="true">
                <a:solidFill>
                  <a:srgbClr val="16D9C4">
                    <a:alpha val="3490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714500"/>
            <a:ext cx="12858750" cy="12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Computer soll 10-mal einen Punkt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auf den Bildschirm setzen.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3686175"/>
            <a:ext cx="11430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6D9C4"/>
                </a:solidFill>
                <a:latin typeface="Open Sans"/>
                <a:ea typeface="Open Sans"/>
                <a:cs typeface="Open Sans"/>
                <a:sym typeface="Open Sans"/>
              </a:rPr>
              <a:t>Formuliere als Wiederholungsanweisung.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6500" y="3114675"/>
            <a:ext cx="285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 b="true">
                <a:solidFill>
                  <a:srgbClr val="16D9C4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· · ·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5238750"/>
            <a:ext cx="16192500" cy="3238500"/>
            <a:chOff x="0" y="0"/>
            <a:chExt cx="21590000" cy="431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375" y="55816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6C829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DEINE ANTWORT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476375" y="7524750"/>
            <a:ext cx="14811375" cy="0"/>
          </a:xfrm>
          <a:prstGeom prst="line">
            <a:avLst/>
          </a:prstGeom>
          <a:ln cap="flat" w="28575">
            <a:solidFill>
              <a:srgbClr val="B9D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4000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AUFGABE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82750" y="914400"/>
            <a:ext cx="2476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5"/>
              </a:lnSpc>
            </a:pPr>
            <a:r>
              <a:rPr lang="en-US" sz="8100" b="true">
                <a:solidFill>
                  <a:srgbClr val="16D9C4">
                    <a:alpha val="3490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714500"/>
            <a:ext cx="1285875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Vereinfache die Befehlsfolge.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3686175"/>
            <a:ext cx="11430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6D9C4"/>
                </a:solidFill>
                <a:latin typeface="Open Sans"/>
                <a:ea typeface="Open Sans"/>
                <a:cs typeface="Open Sans"/>
                <a:sym typeface="Open Sans"/>
              </a:rPr>
              <a:t>ÖFFNE DATEI / SCHLIESSE DATEI  ×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6500" y="3114675"/>
            <a:ext cx="285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 b="true">
                <a:solidFill>
                  <a:srgbClr val="16D9C4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↻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5238750"/>
            <a:ext cx="16192500" cy="3238500"/>
            <a:chOff x="0" y="0"/>
            <a:chExt cx="21590000" cy="431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375" y="55816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6C829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DEINE ANTWORT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476375" y="7524750"/>
            <a:ext cx="14811375" cy="0"/>
          </a:xfrm>
          <a:prstGeom prst="line">
            <a:avLst/>
          </a:prstGeom>
          <a:ln cap="flat" w="28575">
            <a:solidFill>
              <a:srgbClr val="B9D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57250"/>
            <a:ext cx="13335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Lösungen zu den Aufgaben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628775"/>
            <a:ext cx="8096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VERGLEICHEN · VERBESSERN · VERSTEHEN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857500"/>
            <a:ext cx="4953000" cy="4191000"/>
            <a:chOff x="0" y="0"/>
            <a:chExt cx="6604000" cy="558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5544038"/>
                  </a:lnTo>
                  <a:cubicBezTo>
                    <a:pt x="6604000" y="5555698"/>
                    <a:pt x="6599368" y="5566880"/>
                    <a:pt x="6591124" y="5575124"/>
                  </a:cubicBezTo>
                  <a:cubicBezTo>
                    <a:pt x="6582880" y="5583368"/>
                    <a:pt x="6571698" y="5588000"/>
                    <a:pt x="6560038" y="5588000"/>
                  </a:cubicBezTo>
                  <a:lnTo>
                    <a:pt x="43962" y="5588000"/>
                  </a:lnTo>
                  <a:cubicBezTo>
                    <a:pt x="32302" y="5588000"/>
                    <a:pt x="21120" y="5583368"/>
                    <a:pt x="12876" y="5575124"/>
                  </a:cubicBezTo>
                  <a:cubicBezTo>
                    <a:pt x="4632" y="5566880"/>
                    <a:pt x="0" y="5555698"/>
                    <a:pt x="0" y="5544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604000" cy="560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WIEDERHOLE 6-MAL:</a:t>
              </a:r>
            </a:p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PIEPEN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77000" y="2857500"/>
            <a:ext cx="4953000" cy="4191000"/>
            <a:chOff x="0" y="0"/>
            <a:chExt cx="6604000" cy="558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5544038"/>
                  </a:lnTo>
                  <a:cubicBezTo>
                    <a:pt x="6604000" y="5555698"/>
                    <a:pt x="6599368" y="5566880"/>
                    <a:pt x="6591124" y="5575124"/>
                  </a:cubicBezTo>
                  <a:cubicBezTo>
                    <a:pt x="6582880" y="5583368"/>
                    <a:pt x="6571698" y="5588000"/>
                    <a:pt x="6560038" y="5588000"/>
                  </a:cubicBezTo>
                  <a:lnTo>
                    <a:pt x="43962" y="5588000"/>
                  </a:lnTo>
                  <a:cubicBezTo>
                    <a:pt x="32302" y="5588000"/>
                    <a:pt x="21120" y="5583368"/>
                    <a:pt x="12876" y="5575124"/>
                  </a:cubicBezTo>
                  <a:cubicBezTo>
                    <a:pt x="4632" y="5566880"/>
                    <a:pt x="0" y="5555698"/>
                    <a:pt x="0" y="5544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0" cy="560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WIEDERHOLE 10-MAL:</a:t>
              </a:r>
            </a:p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SETZE PUNKT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06250" y="2857500"/>
            <a:ext cx="4953000" cy="4191000"/>
            <a:chOff x="0" y="0"/>
            <a:chExt cx="6604000" cy="558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5544038"/>
                  </a:lnTo>
                  <a:cubicBezTo>
                    <a:pt x="6604000" y="5555698"/>
                    <a:pt x="6599368" y="5566880"/>
                    <a:pt x="6591124" y="5575124"/>
                  </a:cubicBezTo>
                  <a:cubicBezTo>
                    <a:pt x="6582880" y="5583368"/>
                    <a:pt x="6571698" y="5588000"/>
                    <a:pt x="6560038" y="5588000"/>
                  </a:cubicBezTo>
                  <a:lnTo>
                    <a:pt x="43962" y="5588000"/>
                  </a:lnTo>
                  <a:cubicBezTo>
                    <a:pt x="32302" y="5588000"/>
                    <a:pt x="21120" y="5583368"/>
                    <a:pt x="12876" y="5575124"/>
                  </a:cubicBezTo>
                  <a:cubicBezTo>
                    <a:pt x="4632" y="5566880"/>
                    <a:pt x="0" y="5555698"/>
                    <a:pt x="0" y="5544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0" cy="560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WIEDERHOLE 3-MAL:</a:t>
              </a:r>
            </a:p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ÖFFNE DATEI</a:t>
              </a:r>
            </a:p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SCHLIESSE DATEI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COMPUTER IM ALLTAG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382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 werden Wiederholungen benötigt?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952750"/>
            <a:ext cx="3714750" cy="4762500"/>
            <a:chOff x="0" y="0"/>
            <a:chExt cx="4953000" cy="6350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040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333500" y="825500"/>
              <a:ext cx="2286000" cy="2286000"/>
              <a:chOff x="0" y="0"/>
              <a:chExt cx="2286000" cy="228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86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2286000">
                    <a:moveTo>
                      <a:pt x="1143000" y="0"/>
                    </a:moveTo>
                    <a:cubicBezTo>
                      <a:pt x="1774261" y="0"/>
                      <a:pt x="2286000" y="511739"/>
                      <a:pt x="2286000" y="1143000"/>
                    </a:cubicBezTo>
                    <a:cubicBezTo>
                      <a:pt x="2286000" y="1774261"/>
                      <a:pt x="1774261" y="2286000"/>
                      <a:pt x="1143000" y="2286000"/>
                    </a:cubicBezTo>
                    <a:cubicBezTo>
                      <a:pt x="511739" y="2286000"/>
                      <a:pt x="0" y="1774261"/>
                      <a:pt x="0" y="1143000"/>
                    </a:cubicBezTo>
                    <a:cubicBezTo>
                      <a:pt x="0" y="511739"/>
                      <a:pt x="511739" y="0"/>
                      <a:pt x="1143000" y="0"/>
                    </a:cubicBezTo>
                    <a:close/>
                  </a:path>
                </a:pathLst>
              </a:custGeom>
              <a:solidFill>
                <a:srgbClr val="071A2B"/>
              </a:solidFill>
              <a:ln w="95250" cap="sq">
                <a:solidFill>
                  <a:srgbClr val="16D9C4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86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1000" y="4289425"/>
              <a:ext cx="41910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COMPUTERSPIEL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1000" y="5051425"/>
              <a:ext cx="4191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Bewegung pro Bild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43500" y="2952750"/>
            <a:ext cx="3714750" cy="4762500"/>
            <a:chOff x="0" y="0"/>
            <a:chExt cx="4953000" cy="6350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333500" y="825500"/>
              <a:ext cx="2286000" cy="2286000"/>
              <a:chOff x="0" y="0"/>
              <a:chExt cx="2286000" cy="2286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6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2286000">
                    <a:moveTo>
                      <a:pt x="1143000" y="0"/>
                    </a:moveTo>
                    <a:cubicBezTo>
                      <a:pt x="1774261" y="0"/>
                      <a:pt x="2286000" y="511739"/>
                      <a:pt x="2286000" y="1143000"/>
                    </a:cubicBezTo>
                    <a:cubicBezTo>
                      <a:pt x="2286000" y="1774261"/>
                      <a:pt x="1774261" y="2286000"/>
                      <a:pt x="1143000" y="2286000"/>
                    </a:cubicBezTo>
                    <a:cubicBezTo>
                      <a:pt x="511739" y="2286000"/>
                      <a:pt x="0" y="1774261"/>
                      <a:pt x="0" y="1143000"/>
                    </a:cubicBezTo>
                    <a:cubicBezTo>
                      <a:pt x="0" y="511739"/>
                      <a:pt x="511739" y="0"/>
                      <a:pt x="1143000" y="0"/>
                    </a:cubicBezTo>
                    <a:close/>
                  </a:path>
                </a:pathLst>
              </a:custGeom>
              <a:solidFill>
                <a:srgbClr val="071A2B"/>
              </a:solidFill>
              <a:ln w="95250" cap="sq">
                <a:solidFill>
                  <a:srgbClr val="16D9C4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286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4289425"/>
              <a:ext cx="41910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ANIMATION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1000" y="5051425"/>
              <a:ext cx="4191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Bilder nacheinander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39250" y="2952750"/>
            <a:ext cx="3714750" cy="4762500"/>
            <a:chOff x="0" y="0"/>
            <a:chExt cx="4953000" cy="6350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040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333500" y="825500"/>
              <a:ext cx="2286000" cy="2286000"/>
              <a:chOff x="0" y="0"/>
              <a:chExt cx="2286000" cy="2286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86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2286000">
                    <a:moveTo>
                      <a:pt x="1143000" y="0"/>
                    </a:moveTo>
                    <a:cubicBezTo>
                      <a:pt x="1774261" y="0"/>
                      <a:pt x="2286000" y="511739"/>
                      <a:pt x="2286000" y="1143000"/>
                    </a:cubicBezTo>
                    <a:cubicBezTo>
                      <a:pt x="2286000" y="1774261"/>
                      <a:pt x="1774261" y="2286000"/>
                      <a:pt x="1143000" y="2286000"/>
                    </a:cubicBezTo>
                    <a:cubicBezTo>
                      <a:pt x="511739" y="2286000"/>
                      <a:pt x="0" y="1774261"/>
                      <a:pt x="0" y="1143000"/>
                    </a:cubicBezTo>
                    <a:cubicBezTo>
                      <a:pt x="0" y="511739"/>
                      <a:pt x="511739" y="0"/>
                      <a:pt x="1143000" y="0"/>
                    </a:cubicBezTo>
                    <a:close/>
                  </a:path>
                </a:pathLst>
              </a:custGeom>
              <a:solidFill>
                <a:srgbClr val="071A2B"/>
              </a:solidFill>
              <a:ln w="95250" cap="sq">
                <a:solidFill>
                  <a:srgbClr val="16D9C4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286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1000" y="4289425"/>
              <a:ext cx="41910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MUSIK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1000" y="5051425"/>
              <a:ext cx="4191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Takt wiederholen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35000" y="2952750"/>
            <a:ext cx="3714750" cy="4762500"/>
            <a:chOff x="0" y="0"/>
            <a:chExt cx="4953000" cy="635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333500" y="825500"/>
              <a:ext cx="2286000" cy="2286000"/>
              <a:chOff x="0" y="0"/>
              <a:chExt cx="2286000" cy="2286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86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2286000">
                    <a:moveTo>
                      <a:pt x="1143000" y="0"/>
                    </a:moveTo>
                    <a:cubicBezTo>
                      <a:pt x="1774261" y="0"/>
                      <a:pt x="2286000" y="511739"/>
                      <a:pt x="2286000" y="1143000"/>
                    </a:cubicBezTo>
                    <a:cubicBezTo>
                      <a:pt x="2286000" y="1774261"/>
                      <a:pt x="1774261" y="2286000"/>
                      <a:pt x="1143000" y="2286000"/>
                    </a:cubicBezTo>
                    <a:cubicBezTo>
                      <a:pt x="511739" y="2286000"/>
                      <a:pt x="0" y="1774261"/>
                      <a:pt x="0" y="1143000"/>
                    </a:cubicBezTo>
                    <a:cubicBezTo>
                      <a:pt x="0" y="511739"/>
                      <a:pt x="511739" y="0"/>
                      <a:pt x="1143000" y="0"/>
                    </a:cubicBezTo>
                    <a:close/>
                  </a:path>
                </a:pathLst>
              </a:custGeom>
              <a:solidFill>
                <a:srgbClr val="071A2B"/>
              </a:solidFill>
              <a:ln w="95250" cap="sq">
                <a:solidFill>
                  <a:srgbClr val="16D9C4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86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81000" y="4289425"/>
              <a:ext cx="41910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DATEIPRÜFUNG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81000" y="5051425"/>
              <a:ext cx="4191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Dateien einzeln prüfen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47750" y="8191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PARTNERAUFGABE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762125"/>
            <a:ext cx="8858250" cy="12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Erfindet zwei eigene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Wiederholungsbefehle.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4162425"/>
            <a:ext cx="7239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C8290"/>
                </a:solidFill>
                <a:latin typeface="Open Sans"/>
                <a:ea typeface="Open Sans"/>
                <a:cs typeface="Open Sans"/>
                <a:sym typeface="Open Sans"/>
              </a:rPr>
              <a:t>Was soll der Computer wiederholt tun?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5876925"/>
            <a:ext cx="571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6D9C4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7305675"/>
            <a:ext cx="571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b="true">
                <a:solidFill>
                  <a:srgbClr val="16D9C4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</a:t>
            </a:r>
          </a:p>
        </p:txBody>
      </p:sp>
      <p:sp>
        <p:nvSpPr>
          <p:cNvPr name="AutoShape 8" id="8"/>
          <p:cNvSpPr/>
          <p:nvPr/>
        </p:nvSpPr>
        <p:spPr>
          <a:xfrm>
            <a:off x="1714500" y="6524625"/>
            <a:ext cx="6667500" cy="0"/>
          </a:xfrm>
          <a:prstGeom prst="line">
            <a:avLst/>
          </a:prstGeom>
          <a:ln cap="flat" w="28575">
            <a:solidFill>
              <a:srgbClr val="B9D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714500" y="7953375"/>
            <a:ext cx="6667500" cy="0"/>
          </a:xfrm>
          <a:prstGeom prst="line">
            <a:avLst/>
          </a:prstGeom>
          <a:ln cap="flat" w="28575">
            <a:solidFill>
              <a:srgbClr val="B9D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DEBUGGING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33500"/>
            <a:ext cx="11430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WIEDERHOLE 3-MAL: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143250"/>
            <a:ext cx="6667500" cy="904875"/>
            <a:chOff x="0" y="0"/>
            <a:chExt cx="8890000" cy="120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90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173843"/>
                  </a:lnTo>
                  <a:cubicBezTo>
                    <a:pt x="8890000" y="1182504"/>
                    <a:pt x="8886559" y="1190811"/>
                    <a:pt x="8880435" y="1196935"/>
                  </a:cubicBezTo>
                  <a:cubicBezTo>
                    <a:pt x="8874310" y="1203059"/>
                    <a:pt x="8866004" y="1206500"/>
                    <a:pt x="8857343" y="1206500"/>
                  </a:cubicBezTo>
                  <a:lnTo>
                    <a:pt x="32657" y="1206500"/>
                  </a:lnTo>
                  <a:cubicBezTo>
                    <a:pt x="23996" y="1206500"/>
                    <a:pt x="15689" y="1203059"/>
                    <a:pt x="9565" y="1196935"/>
                  </a:cubicBezTo>
                  <a:cubicBezTo>
                    <a:pt x="3441" y="1190811"/>
                    <a:pt x="0" y="1182504"/>
                    <a:pt x="0" y="11738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8890000" cy="122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 ÖFFNE DATEI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4429125"/>
            <a:ext cx="6667500" cy="904875"/>
            <a:chOff x="0" y="0"/>
            <a:chExt cx="8890000" cy="1206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173843"/>
                  </a:lnTo>
                  <a:cubicBezTo>
                    <a:pt x="8890000" y="1182504"/>
                    <a:pt x="8886559" y="1190811"/>
                    <a:pt x="8880435" y="1196935"/>
                  </a:cubicBezTo>
                  <a:cubicBezTo>
                    <a:pt x="8874310" y="1203059"/>
                    <a:pt x="8866004" y="1206500"/>
                    <a:pt x="8857343" y="1206500"/>
                  </a:cubicBezTo>
                  <a:lnTo>
                    <a:pt x="32657" y="1206500"/>
                  </a:lnTo>
                  <a:cubicBezTo>
                    <a:pt x="23996" y="1206500"/>
                    <a:pt x="15689" y="1203059"/>
                    <a:pt x="9565" y="1196935"/>
                  </a:cubicBezTo>
                  <a:cubicBezTo>
                    <a:pt x="3441" y="1190811"/>
                    <a:pt x="0" y="1182504"/>
                    <a:pt x="0" y="11738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8890000" cy="122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071A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 SPEICHERE DATEI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5715000"/>
            <a:ext cx="6667500" cy="904875"/>
            <a:chOff x="0" y="0"/>
            <a:chExt cx="8890000" cy="1206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90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173843"/>
                  </a:lnTo>
                  <a:cubicBezTo>
                    <a:pt x="8890000" y="1182504"/>
                    <a:pt x="8886559" y="1190811"/>
                    <a:pt x="8880435" y="1196935"/>
                  </a:cubicBezTo>
                  <a:cubicBezTo>
                    <a:pt x="8874310" y="1203059"/>
                    <a:pt x="8866004" y="1206500"/>
                    <a:pt x="8857343" y="1206500"/>
                  </a:cubicBezTo>
                  <a:lnTo>
                    <a:pt x="32657" y="1206500"/>
                  </a:lnTo>
                  <a:cubicBezTo>
                    <a:pt x="23996" y="1206500"/>
                    <a:pt x="15689" y="1203059"/>
                    <a:pt x="9565" y="1196935"/>
                  </a:cubicBezTo>
                  <a:cubicBezTo>
                    <a:pt x="3441" y="1190811"/>
                    <a:pt x="0" y="1182504"/>
                    <a:pt x="0" y="11738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0D2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890000" cy="122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→  SCHLIESSE DATEI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20250" y="3810000"/>
            <a:ext cx="7951786" cy="187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Wie oft wird die gesamte Befehlsfolge ausgeführt?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76275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DEBUGGING · LÖSUNG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640901"/>
            <a:ext cx="49530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sz="8100" b="true">
                <a:solidFill>
                  <a:srgbClr val="16D9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3×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7000" y="2476500"/>
            <a:ext cx="10001250" cy="12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komplette Befehlsfolge wird dreimal ausgeführt.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77000" y="5381625"/>
            <a:ext cx="7620000" cy="76200"/>
            <a:chOff x="0" y="0"/>
            <a:chExt cx="10160000" cy="10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160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77000" y="5667375"/>
            <a:ext cx="8858250" cy="5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3049">
                <a:solidFill>
                  <a:srgbClr val="6C8290"/>
                </a:solidFill>
                <a:latin typeface="Open Sans"/>
                <a:ea typeface="Open Sans"/>
                <a:cs typeface="Open Sans"/>
                <a:sym typeface="Open Sans"/>
              </a:rPr>
              <a:t>Auch Wiederholungen müssen eindeutig sein.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810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HEFTEINTRAG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90625"/>
            <a:ext cx="9525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Wiederholungen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9250" y="2528888"/>
            <a:ext cx="14668500" cy="5429250"/>
            <a:chOff x="0" y="0"/>
            <a:chExt cx="19558000" cy="723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58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9558000">
                  <a:moveTo>
                    <a:pt x="0" y="0"/>
                  </a:moveTo>
                  <a:lnTo>
                    <a:pt x="19558000" y="0"/>
                  </a:lnTo>
                  <a:lnTo>
                    <a:pt x="19558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9D3D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580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50" y="2476500"/>
            <a:ext cx="171450" cy="5429250"/>
            <a:chOff x="0" y="0"/>
            <a:chExt cx="228600" cy="723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16D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6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05000" y="3155632"/>
            <a:ext cx="128587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536"/>
                </a:solidFill>
                <a:latin typeface="Open Sans"/>
                <a:ea typeface="Open Sans"/>
                <a:cs typeface="Open Sans"/>
                <a:sym typeface="Open Sans"/>
              </a:rPr>
              <a:t>Ein Computer kann eine Handlung oder eine Abfolge von Handlungen mehrmals ausführen.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5000" y="4857750"/>
            <a:ext cx="12858750" cy="5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3049" b="true">
                <a:solidFill>
                  <a:srgbClr val="071A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WIEDERHOLE 5-MAL:  TON ABSPIELEN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5000" y="6438900"/>
            <a:ext cx="128587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536"/>
                </a:solidFill>
                <a:latin typeface="Open Sans"/>
                <a:ea typeface="Open Sans"/>
                <a:cs typeface="Open Sans"/>
                <a:sym typeface="Open Sans"/>
              </a:rPr>
              <a:t>Wiederholungen machen Algorithmen kürzer und übersichtlicher.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02536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025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09625"/>
            <a:ext cx="9525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Mini-Lerncheck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82500" y="9144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KANNST DU ES ERKLÄREN?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571750"/>
            <a:ext cx="7620000" cy="2381250"/>
            <a:chOff x="0" y="0"/>
            <a:chExt cx="10160000" cy="317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60000" cy="3175000"/>
              <a:chOff x="0" y="0"/>
              <a:chExt cx="10160000" cy="317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16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16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4500" y="730250"/>
              <a:ext cx="762000" cy="87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97000" y="920750"/>
              <a:ext cx="7874000" cy="1702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Was ist eine Wiederholung?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39250" y="2571750"/>
            <a:ext cx="7620000" cy="2586228"/>
            <a:chOff x="0" y="0"/>
            <a:chExt cx="10160000" cy="344830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00" cy="3175000"/>
              <a:chOff x="0" y="0"/>
              <a:chExt cx="10160000" cy="317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730250"/>
              <a:ext cx="762000" cy="87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97000" y="920750"/>
              <a:ext cx="7874000" cy="2527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Warum sind Wiederholungen nützlich?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7750" y="5524500"/>
            <a:ext cx="7620000" cy="2381250"/>
            <a:chOff x="0" y="0"/>
            <a:chExt cx="10160000" cy="3175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160000" cy="3175000"/>
              <a:chOff x="0" y="0"/>
              <a:chExt cx="10160000" cy="3175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16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16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730250"/>
              <a:ext cx="762000" cy="87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97000" y="920750"/>
              <a:ext cx="7874000" cy="1702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Formuliere »Piepe 8-mal« als Regel.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39250" y="5524500"/>
            <a:ext cx="7620000" cy="2555938"/>
            <a:chOff x="0" y="0"/>
            <a:chExt cx="10160000" cy="340791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160000" cy="3175000"/>
              <a:chOff x="0" y="0"/>
              <a:chExt cx="10160000" cy="3175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16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D2B4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16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44500" y="730250"/>
              <a:ext cx="762000" cy="87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6D9C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97000" y="901700"/>
              <a:ext cx="7874000" cy="2506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19"/>
                </a:lnSpc>
              </a:pPr>
              <a:r>
                <a:rPr lang="en-US" sz="4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Was wird bei einer Wiederholung ausgeführt?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0" y="0"/>
            <a:ext cx="8001000" cy="10287000"/>
          </a:xfrm>
          <a:custGeom>
            <a:avLst/>
            <a:gdLst/>
            <a:ahLst/>
            <a:cxnLst/>
            <a:rect r="r" b="b" t="t" l="l"/>
            <a:pathLst>
              <a:path h="10287000" w="8001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A2B">
                    <a:alpha val="100000"/>
                  </a:srgbClr>
                </a:gs>
                <a:gs pos="100000">
                  <a:srgbClr val="071A2B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7239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AUSBLICK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1666875"/>
            <a:ext cx="10953750" cy="12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Wie kann ein Computer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Werte speichern?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4448175"/>
            <a:ext cx="78105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Unser Computer kann Anweisungen ausführen, Fehler erkennen, Entscheidungen treffen und Wiederholungen durchführen.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73914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ALS NÄCHSTES: VARIABLEN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10096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ABSCHLUSS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486025"/>
            <a:ext cx="1143000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sz="8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Danke für eure</a:t>
            </a:r>
          </a:p>
          <a:p>
            <a:pPr algn="l">
              <a:lnSpc>
                <a:spcPts val="7695"/>
              </a:lnSpc>
            </a:pPr>
            <a:r>
              <a:rPr lang="en-US" sz="8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Aufmerksamkeit!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5905500"/>
            <a:ext cx="7620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6D9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Habt ihr Fragen?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01500" y="22479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6C829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NOTIZEN / FRAGEN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811000" y="2857500"/>
            <a:ext cx="4953000" cy="4476750"/>
            <a:chOff x="0" y="0"/>
            <a:chExt cx="6604000" cy="596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0D2B42"/>
            </a:solidFill>
            <a:ln w="28575" cap="sq">
              <a:solidFill>
                <a:srgbClr val="16D9C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04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2287250" y="4000500"/>
            <a:ext cx="4000500" cy="0"/>
          </a:xfrm>
          <a:prstGeom prst="line">
            <a:avLst/>
          </a:prstGeom>
          <a:ln cap="flat" w="19050">
            <a:solidFill>
              <a:srgbClr val="6C8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287250" y="5143500"/>
            <a:ext cx="4000500" cy="0"/>
          </a:xfrm>
          <a:prstGeom prst="line">
            <a:avLst/>
          </a:prstGeom>
          <a:ln cap="flat" w="19050">
            <a:solidFill>
              <a:srgbClr val="6C8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2287250" y="6286500"/>
            <a:ext cx="4000500" cy="0"/>
          </a:xfrm>
          <a:prstGeom prst="line">
            <a:avLst/>
          </a:prstGeom>
          <a:ln cap="flat" w="19050">
            <a:solidFill>
              <a:srgbClr val="6C82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47750" y="97155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FFFF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  ·  WIEDERHOLUNGEN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750" y="97155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16D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DAHXQSDpQZI</dc:identifier>
  <dcterms:modified xsi:type="dcterms:W3CDTF">2011-08-01T06:04:30Z</dcterms:modified>
  <cp:revision>1</cp:revision>
  <dc:title>MACH DAS NOCHMAL!</dc:title>
</cp:coreProperties>
</file>