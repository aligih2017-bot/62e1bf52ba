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IBM Plex Mono Bold" charset="1" panose="020B0809050203000203"/>
      <p:regular r:id="rId24"/>
    </p:embeddedFont>
    <p:embeddedFont>
      <p:font typeface="Montserrat Bold" charset="1" panose="00000800000000000000"/>
      <p:regular r:id="rId25"/>
    </p:embeddedFont>
    <p:embeddedFont>
      <p:font typeface="IBM Plex Sans" charset="1" panose="020B0503050203000203"/>
      <p:regular r:id="rId26"/>
    </p:embeddedFont>
    <p:embeddedFont>
      <p:font typeface="IBM Plex Sans Bold" charset="1" panose="020B08030502030002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85611" y="141160"/>
            <a:ext cx="7620000" cy="10287000"/>
          </a:xfrm>
          <a:custGeom>
            <a:avLst/>
            <a:gdLst/>
            <a:ahLst/>
            <a:cxnLst/>
            <a:rect r="r" b="b" t="t" l="l"/>
            <a:pathLst>
              <a:path h="10287000" w="7620000">
                <a:moveTo>
                  <a:pt x="0" y="0"/>
                </a:moveTo>
                <a:lnTo>
                  <a:pt x="7620000" y="0"/>
                </a:lnTo>
                <a:lnTo>
                  <a:pt x="7620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1906250" cy="10287000"/>
            <a:chOff x="0" y="0"/>
            <a:chExt cx="15875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875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5875000">
                  <a:moveTo>
                    <a:pt x="0" y="0"/>
                  </a:moveTo>
                  <a:lnTo>
                    <a:pt x="15875000" y="0"/>
                  </a:lnTo>
                  <a:lnTo>
                    <a:pt x="15875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81525">
                    <a:alpha val="100000"/>
                  </a:srgbClr>
                </a:gs>
                <a:gs pos="72000">
                  <a:srgbClr val="081525">
                    <a:alpha val="96000"/>
                  </a:srgbClr>
                </a:gs>
                <a:gs pos="100000">
                  <a:srgbClr val="081525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875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90600" y="838200"/>
            <a:ext cx="4953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2143125"/>
            <a:ext cx="9810750" cy="262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2"/>
              </a:lnSpc>
            </a:pPr>
            <a:r>
              <a:rPr lang="en-US" sz="6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 SOLL DER</a:t>
            </a:r>
          </a:p>
          <a:p>
            <a:pPr algn="l">
              <a:lnSpc>
                <a:spcPts val="6762"/>
              </a:lnSpc>
            </a:pPr>
            <a:r>
              <a:rPr lang="en-US" sz="6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COMPUTER TUN,</a:t>
            </a:r>
          </a:p>
          <a:p>
            <a:pPr algn="l">
              <a:lnSpc>
                <a:spcPts val="6762"/>
              </a:lnSpc>
            </a:pPr>
            <a:r>
              <a:rPr lang="en-US" sz="6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WENN …?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6105525"/>
            <a:ext cx="72390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Bedingungen und Entscheidungen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88571" y="1320070"/>
            <a:ext cx="409575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JA  →  WEG 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60719" y="1320070"/>
            <a:ext cx="409575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NEIN  →  WEG 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7048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3A7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RÜCKBLICK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23975"/>
            <a:ext cx="11430000" cy="59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4350" b="true">
                <a:solidFill>
                  <a:srgbClr val="102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 wissen wir noch?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905125" y="3714750"/>
            <a:ext cx="952500" cy="952500"/>
            <a:chOff x="0" y="0"/>
            <a:chExt cx="1270000" cy="127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635000" y="0"/>
                  </a:moveTo>
                  <a:cubicBezTo>
                    <a:pt x="985701" y="0"/>
                    <a:pt x="1270000" y="284299"/>
                    <a:pt x="1270000" y="635000"/>
                  </a:cubicBezTo>
                  <a:cubicBezTo>
                    <a:pt x="1270000" y="985701"/>
                    <a:pt x="985701" y="1270000"/>
                    <a:pt x="635000" y="1270000"/>
                  </a:cubicBezTo>
                  <a:cubicBezTo>
                    <a:pt x="284299" y="1270000"/>
                    <a:pt x="0" y="985701"/>
                    <a:pt x="0" y="635000"/>
                  </a:cubicBezTo>
                  <a:cubicBezTo>
                    <a:pt x="0" y="284299"/>
                    <a:pt x="284299" y="0"/>
                    <a:pt x="635000" y="0"/>
                  </a:cubicBezTo>
                  <a:close/>
                </a:path>
              </a:pathLst>
            </a:custGeom>
            <a:solidFill>
              <a:srgbClr val="3A7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270000" cy="1317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90"/>
                </a:lnSpc>
              </a:pPr>
              <a:r>
                <a:rPr lang="en-US" sz="28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33500" y="5076825"/>
            <a:ext cx="4095750" cy="64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9"/>
              </a:lnSpc>
            </a:pPr>
            <a:r>
              <a:rPr lang="en-US" sz="3849" b="true">
                <a:solidFill>
                  <a:srgbClr val="3A73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3500" y="5686425"/>
            <a:ext cx="4095750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60758C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Schritte planen</a:t>
            </a:r>
          </a:p>
        </p:txBody>
      </p:sp>
      <p:sp>
        <p:nvSpPr>
          <p:cNvPr name="AutoShape 9" id="9"/>
          <p:cNvSpPr/>
          <p:nvPr/>
        </p:nvSpPr>
        <p:spPr>
          <a:xfrm>
            <a:off x="5524500" y="4191000"/>
            <a:ext cx="952500" cy="0"/>
          </a:xfrm>
          <a:prstGeom prst="line">
            <a:avLst/>
          </a:prstGeom>
          <a:ln cap="rnd" w="47625">
            <a:solidFill>
              <a:srgbClr val="27D8E5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8143875" y="3714750"/>
            <a:ext cx="952500" cy="952500"/>
            <a:chOff x="0" y="0"/>
            <a:chExt cx="1270000" cy="127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635000" y="0"/>
                  </a:moveTo>
                  <a:cubicBezTo>
                    <a:pt x="985701" y="0"/>
                    <a:pt x="1270000" y="284299"/>
                    <a:pt x="1270000" y="635000"/>
                  </a:cubicBezTo>
                  <a:cubicBezTo>
                    <a:pt x="1270000" y="985701"/>
                    <a:pt x="985701" y="1270000"/>
                    <a:pt x="635000" y="1270000"/>
                  </a:cubicBezTo>
                  <a:cubicBezTo>
                    <a:pt x="284299" y="1270000"/>
                    <a:pt x="0" y="985701"/>
                    <a:pt x="0" y="635000"/>
                  </a:cubicBezTo>
                  <a:cubicBezTo>
                    <a:pt x="0" y="284299"/>
                    <a:pt x="284299" y="0"/>
                    <a:pt x="635000" y="0"/>
                  </a:cubicBezTo>
                  <a:close/>
                </a:path>
              </a:pathLst>
            </a:custGeom>
            <a:solidFill>
              <a:srgbClr val="3A7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70000" cy="1317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90"/>
                </a:lnSpc>
              </a:pPr>
              <a:r>
                <a:rPr lang="en-US" sz="28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572250" y="5076825"/>
            <a:ext cx="4095750" cy="64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9"/>
              </a:lnSpc>
            </a:pPr>
            <a:r>
              <a:rPr lang="en-US" sz="3849" b="true">
                <a:solidFill>
                  <a:srgbClr val="3A73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72250" y="5686425"/>
            <a:ext cx="4095750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60758C"/>
                </a:solidFill>
                <a:latin typeface="IBM Plex Sans"/>
                <a:ea typeface="IBM Plex Sans"/>
                <a:cs typeface="IBM Plex Sans"/>
                <a:sym typeface="IBM Plex Sans"/>
              </a:rPr>
              <a:t>Ausprobieren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0763250" y="4191000"/>
            <a:ext cx="952500" cy="0"/>
          </a:xfrm>
          <a:prstGeom prst="line">
            <a:avLst/>
          </a:prstGeom>
          <a:ln cap="rnd" w="47625">
            <a:solidFill>
              <a:srgbClr val="27D8E5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13382625" y="3714750"/>
            <a:ext cx="952500" cy="952500"/>
            <a:chOff x="0" y="0"/>
            <a:chExt cx="1270000" cy="127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635000" y="0"/>
                  </a:moveTo>
                  <a:cubicBezTo>
                    <a:pt x="985701" y="0"/>
                    <a:pt x="1270000" y="284299"/>
                    <a:pt x="1270000" y="635000"/>
                  </a:cubicBezTo>
                  <a:cubicBezTo>
                    <a:pt x="1270000" y="985701"/>
                    <a:pt x="985701" y="1270000"/>
                    <a:pt x="635000" y="1270000"/>
                  </a:cubicBezTo>
                  <a:cubicBezTo>
                    <a:pt x="284299" y="1270000"/>
                    <a:pt x="0" y="985701"/>
                    <a:pt x="0" y="635000"/>
                  </a:cubicBezTo>
                  <a:cubicBezTo>
                    <a:pt x="0" y="284299"/>
                    <a:pt x="284299" y="0"/>
                    <a:pt x="635000" y="0"/>
                  </a:cubicBezTo>
                  <a:close/>
                </a:path>
              </a:pathLst>
            </a:custGeom>
            <a:solidFill>
              <a:srgbClr val="FF6B66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270000" cy="1317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90"/>
                </a:lnSpc>
              </a:pPr>
              <a:r>
                <a:rPr lang="en-US" sz="28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811000" y="5076825"/>
            <a:ext cx="4095750" cy="64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9"/>
              </a:lnSpc>
            </a:pPr>
            <a:r>
              <a:rPr lang="en-US" sz="3849" b="true">
                <a:solidFill>
                  <a:srgbClr val="FF6B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DEBUGGING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11000" y="5686425"/>
            <a:ext cx="4095750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60758C"/>
                </a:solidFill>
                <a:latin typeface="IBM Plex Sans"/>
                <a:ea typeface="IBM Plex Sans"/>
                <a:cs typeface="IBM Plex Sans"/>
                <a:sym typeface="IBM Plex Sans"/>
              </a:rPr>
              <a:t>Fehler verbessern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0600" y="7429500"/>
            <a:ext cx="2857500" cy="495300"/>
            <a:chOff x="0" y="0"/>
            <a:chExt cx="3810000" cy="660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00" cy="660400"/>
            </a:xfrm>
            <a:custGeom>
              <a:avLst/>
              <a:gdLst/>
              <a:ahLst/>
              <a:cxnLst/>
              <a:rect r="r" b="b" t="t" l="l"/>
              <a:pathLst>
                <a:path h="660400" w="3810000">
                  <a:moveTo>
                    <a:pt x="110067" y="0"/>
                  </a:moveTo>
                  <a:lnTo>
                    <a:pt x="3699933" y="0"/>
                  </a:lnTo>
                  <a:cubicBezTo>
                    <a:pt x="3760722" y="0"/>
                    <a:pt x="3810000" y="49279"/>
                    <a:pt x="3810000" y="110067"/>
                  </a:cubicBezTo>
                  <a:lnTo>
                    <a:pt x="3810000" y="550333"/>
                  </a:lnTo>
                  <a:cubicBezTo>
                    <a:pt x="3810000" y="611121"/>
                    <a:pt x="3760722" y="660400"/>
                    <a:pt x="3699933" y="660400"/>
                  </a:cubicBezTo>
                  <a:lnTo>
                    <a:pt x="110067" y="660400"/>
                  </a:lnTo>
                  <a:cubicBezTo>
                    <a:pt x="49279" y="660400"/>
                    <a:pt x="0" y="611121"/>
                    <a:pt x="0" y="550333"/>
                  </a:cubicBezTo>
                  <a:lnTo>
                    <a:pt x="0" y="110067"/>
                  </a:lnTo>
                  <a:cubicBezTo>
                    <a:pt x="0" y="49279"/>
                    <a:pt x="49279" y="0"/>
                    <a:pt x="110067" y="0"/>
                  </a:cubicBezTo>
                  <a:close/>
                </a:path>
              </a:pathLst>
            </a:custGeom>
            <a:solidFill>
              <a:srgbClr val="3A73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38100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b="true" sz="1500" spc="75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↔  PARTNER-AUFTRAG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90600" y="8048625"/>
            <a:ext cx="1257300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10243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30 SEKUNDEN  ·  Erkläre deinem Sitznachbarn die drei Begriffe.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85800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3A7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ALLTAGSEINSTIEG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657350"/>
            <a:ext cx="106680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102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WENN es regnet,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600" y="2809875"/>
            <a:ext cx="15053928" cy="90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9"/>
              </a:lnSpc>
            </a:pPr>
            <a:r>
              <a:rPr lang="en-US" sz="5349" b="true">
                <a:solidFill>
                  <a:srgbClr val="3A73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DANN nehme ich einen Regenschirm.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0600" y="4495800"/>
            <a:ext cx="2857500" cy="495300"/>
            <a:chOff x="0" y="0"/>
            <a:chExt cx="3810000" cy="660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0000" cy="660400"/>
            </a:xfrm>
            <a:custGeom>
              <a:avLst/>
              <a:gdLst/>
              <a:ahLst/>
              <a:cxnLst/>
              <a:rect r="r" b="b" t="t" l="l"/>
              <a:pathLst>
                <a:path h="660400" w="3810000">
                  <a:moveTo>
                    <a:pt x="110067" y="0"/>
                  </a:moveTo>
                  <a:lnTo>
                    <a:pt x="3699933" y="0"/>
                  </a:lnTo>
                  <a:cubicBezTo>
                    <a:pt x="3760722" y="0"/>
                    <a:pt x="3810000" y="49279"/>
                    <a:pt x="3810000" y="110067"/>
                  </a:cubicBezTo>
                  <a:lnTo>
                    <a:pt x="3810000" y="550333"/>
                  </a:lnTo>
                  <a:cubicBezTo>
                    <a:pt x="3810000" y="611121"/>
                    <a:pt x="3760722" y="660400"/>
                    <a:pt x="3699933" y="660400"/>
                  </a:cubicBezTo>
                  <a:lnTo>
                    <a:pt x="110067" y="660400"/>
                  </a:lnTo>
                  <a:cubicBezTo>
                    <a:pt x="49279" y="660400"/>
                    <a:pt x="0" y="611121"/>
                    <a:pt x="0" y="550333"/>
                  </a:cubicBezTo>
                  <a:lnTo>
                    <a:pt x="0" y="110067"/>
                  </a:lnTo>
                  <a:cubicBezTo>
                    <a:pt x="0" y="49279"/>
                    <a:pt x="49279" y="0"/>
                    <a:pt x="110067" y="0"/>
                  </a:cubicBezTo>
                  <a:close/>
                </a:path>
              </a:pathLst>
            </a:custGeom>
            <a:solidFill>
              <a:srgbClr val="FFC857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8100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b="true" sz="1500" spc="75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DENKAUFGABE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0600" y="5067300"/>
            <a:ext cx="9048750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10243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Was passiert, wenn es nicht regnet?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0600" y="6667500"/>
            <a:ext cx="8858250" cy="2000250"/>
            <a:chOff x="0" y="0"/>
            <a:chExt cx="11811000" cy="266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11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11811000">
                  <a:moveTo>
                    <a:pt x="0" y="0"/>
                  </a:moveTo>
                  <a:lnTo>
                    <a:pt x="11811000" y="0"/>
                  </a:lnTo>
                  <a:lnTo>
                    <a:pt x="11811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811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09700" y="6896100"/>
            <a:ext cx="8096250" cy="1322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449">
                <a:solidFill>
                  <a:srgbClr val="10243B"/>
                </a:solidFill>
                <a:latin typeface="IBM Plex Sans"/>
                <a:ea typeface="IBM Plex Sans"/>
                <a:cs typeface="IBM Plex Sans"/>
                <a:sym typeface="IBM Plex Sans"/>
              </a:rPr>
              <a:t>Bedingung: es regnet</a:t>
            </a:r>
          </a:p>
          <a:p>
            <a:pPr algn="l">
              <a:lnSpc>
                <a:spcPts val="3552"/>
              </a:lnSpc>
            </a:pPr>
            <a:r>
              <a:rPr lang="en-US" sz="2449">
                <a:solidFill>
                  <a:srgbClr val="10243B"/>
                </a:solidFill>
                <a:latin typeface="IBM Plex Sans"/>
                <a:ea typeface="IBM Plex Sans"/>
                <a:cs typeface="IBM Plex Sans"/>
                <a:sym typeface="IBM Plex Sans"/>
              </a:rPr>
              <a:t>Handlung: Regenschirm nehmen</a:t>
            </a:r>
          </a:p>
          <a:p>
            <a:pPr algn="l">
              <a:lnSpc>
                <a:spcPts val="3552"/>
              </a:lnSpc>
            </a:pPr>
            <a:r>
              <a:rPr lang="en-US" sz="2449">
                <a:solidFill>
                  <a:srgbClr val="10243B"/>
                </a:solidFill>
                <a:latin typeface="IBM Plex Sans"/>
                <a:ea typeface="IBM Plex Sans"/>
                <a:cs typeface="IBM Plex Sans"/>
                <a:sym typeface="IBM Plex Sans"/>
              </a:rPr>
              <a:t>Nicht erfüllt: keine Handlung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668250" y="4000500"/>
            <a:ext cx="4000500" cy="4000500"/>
          </a:xfrm>
          <a:custGeom>
            <a:avLst/>
            <a:gdLst/>
            <a:ahLst/>
            <a:cxnLst/>
            <a:rect r="r" b="b" t="t" l="l"/>
            <a:pathLst>
              <a:path h="4000500" w="4000500">
                <a:moveTo>
                  <a:pt x="0" y="0"/>
                </a:moveTo>
                <a:lnTo>
                  <a:pt x="4000500" y="0"/>
                </a:lnTo>
                <a:lnTo>
                  <a:pt x="40005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47700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ROBOTER-CHALLENGE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23975"/>
            <a:ext cx="11906250" cy="59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WENN–DANN-Experiment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2905125"/>
            <a:ext cx="10763250" cy="781050"/>
            <a:chOff x="0" y="0"/>
            <a:chExt cx="14351000" cy="10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351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4351000">
                  <a:moveTo>
                    <a:pt x="0" y="0"/>
                  </a:moveTo>
                  <a:lnTo>
                    <a:pt x="14351000" y="0"/>
                  </a:lnTo>
                  <a:lnTo>
                    <a:pt x="14351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0283E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3510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14475" y="3095625"/>
            <a:ext cx="9715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START  →  aufstehen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0600" y="3971925"/>
            <a:ext cx="10763250" cy="781050"/>
            <a:chOff x="0" y="0"/>
            <a:chExt cx="14351000" cy="1041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51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4351000">
                  <a:moveTo>
                    <a:pt x="0" y="0"/>
                  </a:moveTo>
                  <a:lnTo>
                    <a:pt x="14351000" y="0"/>
                  </a:lnTo>
                  <a:lnTo>
                    <a:pt x="14351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0283E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3510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14475" y="4162425"/>
            <a:ext cx="9715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STOPP  →  hinsetzen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0600" y="5038725"/>
            <a:ext cx="10763250" cy="781050"/>
            <a:chOff x="0" y="0"/>
            <a:chExt cx="14351000" cy="1041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51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4351000">
                  <a:moveTo>
                    <a:pt x="0" y="0"/>
                  </a:moveTo>
                  <a:lnTo>
                    <a:pt x="14351000" y="0"/>
                  </a:lnTo>
                  <a:lnTo>
                    <a:pt x="14351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0283E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3510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14475" y="5229225"/>
            <a:ext cx="9715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ZAHL &gt; 5  →  Hand heben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0600" y="6105525"/>
            <a:ext cx="10763250" cy="781050"/>
            <a:chOff x="0" y="0"/>
            <a:chExt cx="14351000" cy="1041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351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4351000">
                  <a:moveTo>
                    <a:pt x="0" y="0"/>
                  </a:moveTo>
                  <a:lnTo>
                    <a:pt x="14351000" y="0"/>
                  </a:lnTo>
                  <a:lnTo>
                    <a:pt x="14351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0283E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3510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14475" y="6296025"/>
            <a:ext cx="97155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INFORMATIK  →  Roboterbewegung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2573000" y="2857500"/>
            <a:ext cx="4000500" cy="4000500"/>
          </a:xfrm>
          <a:custGeom>
            <a:avLst/>
            <a:gdLst/>
            <a:ahLst/>
            <a:cxnLst/>
            <a:rect r="r" b="b" t="t" l="l"/>
            <a:pathLst>
              <a:path h="4000500" w="4000500">
                <a:moveTo>
                  <a:pt x="0" y="0"/>
                </a:moveTo>
                <a:lnTo>
                  <a:pt x="4000500" y="0"/>
                </a:lnTo>
                <a:lnTo>
                  <a:pt x="40005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1" id="21"/>
          <p:cNvGrpSpPr/>
          <p:nvPr/>
        </p:nvGrpSpPr>
        <p:grpSpPr>
          <a:xfrm rot="0">
            <a:off x="12763500" y="6191250"/>
            <a:ext cx="4476750" cy="952500"/>
            <a:chOff x="0" y="0"/>
            <a:chExt cx="5969000" cy="127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69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5969000">
                  <a:moveTo>
                    <a:pt x="75660" y="0"/>
                  </a:moveTo>
                  <a:lnTo>
                    <a:pt x="5893340" y="0"/>
                  </a:lnTo>
                  <a:cubicBezTo>
                    <a:pt x="5935126" y="0"/>
                    <a:pt x="5969000" y="33874"/>
                    <a:pt x="5969000" y="75660"/>
                  </a:cubicBezTo>
                  <a:lnTo>
                    <a:pt x="5969000" y="1194340"/>
                  </a:lnTo>
                  <a:cubicBezTo>
                    <a:pt x="5969000" y="1236126"/>
                    <a:pt x="5935126" y="1270000"/>
                    <a:pt x="5893340" y="1270000"/>
                  </a:cubicBezTo>
                  <a:lnTo>
                    <a:pt x="75660" y="1270000"/>
                  </a:lnTo>
                  <a:cubicBezTo>
                    <a:pt x="33874" y="1270000"/>
                    <a:pt x="0" y="1236126"/>
                    <a:pt x="0" y="1194340"/>
                  </a:cubicBezTo>
                  <a:lnTo>
                    <a:pt x="0" y="75660"/>
                  </a:lnTo>
                  <a:cubicBezTo>
                    <a:pt x="0" y="33874"/>
                    <a:pt x="33874" y="0"/>
                    <a:pt x="75660" y="0"/>
                  </a:cubicBezTo>
                  <a:close/>
                </a:path>
              </a:pathLst>
            </a:custGeom>
            <a:solidFill>
              <a:srgbClr val="B8F34A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969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049250" y="6429375"/>
            <a:ext cx="3810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8152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Bedingung prüfen!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0600" y="8439150"/>
            <a:ext cx="95250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Was musste zuerst geprüft werden?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85800"/>
            <a:ext cx="4953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3A7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BEGRIFFSERKLÄRUNG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295400"/>
            <a:ext cx="7429500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300" b="true">
                <a:solidFill>
                  <a:srgbClr val="3A73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BEDINGUNG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600" y="2781300"/>
            <a:ext cx="828675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4"/>
              </a:lnSpc>
            </a:pPr>
            <a:r>
              <a:rPr lang="en-US" sz="3300" b="true">
                <a:solidFill>
                  <a:srgbClr val="10243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Eine Bedingung ist etwas,</a:t>
            </a:r>
          </a:p>
          <a:p>
            <a:pPr algn="l">
              <a:lnSpc>
                <a:spcPts val="3794"/>
              </a:lnSpc>
            </a:pPr>
            <a:r>
              <a:rPr lang="en-US" sz="3300" b="true">
                <a:solidFill>
                  <a:srgbClr val="10243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das geprüft wird.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0600" y="6238875"/>
            <a:ext cx="6667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60758C"/>
                </a:solidFill>
                <a:latin typeface="IBM Plex Sans"/>
                <a:ea typeface="IBM Plex Sans"/>
                <a:cs typeface="IBM Plex Sans"/>
                <a:sym typeface="IBM Plex Sans"/>
              </a:rPr>
              <a:t>Beispiel: Ampel ist grün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0" y="2857500"/>
            <a:ext cx="2857500" cy="1809750"/>
            <a:chOff x="0" y="0"/>
            <a:chExt cx="3810000" cy="241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810000">
                  <a:moveTo>
                    <a:pt x="84667" y="0"/>
                  </a:moveTo>
                  <a:lnTo>
                    <a:pt x="3725333" y="0"/>
                  </a:lnTo>
                  <a:cubicBezTo>
                    <a:pt x="3772093" y="0"/>
                    <a:pt x="3810000" y="37907"/>
                    <a:pt x="3810000" y="84667"/>
                  </a:cubicBezTo>
                  <a:lnTo>
                    <a:pt x="3810000" y="2328333"/>
                  </a:lnTo>
                  <a:cubicBezTo>
                    <a:pt x="3810000" y="2375093"/>
                    <a:pt x="3772093" y="2413000"/>
                    <a:pt x="3725333" y="2413000"/>
                  </a:cubicBezTo>
                  <a:lnTo>
                    <a:pt x="84667" y="2413000"/>
                  </a:lnTo>
                  <a:cubicBezTo>
                    <a:pt x="37907" y="2413000"/>
                    <a:pt x="0" y="2375093"/>
                    <a:pt x="0" y="2328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3A7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810000" cy="2460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WENN</a:t>
              </a:r>
            </a:p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Ampel grün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13287375" y="3762375"/>
            <a:ext cx="952500" cy="0"/>
          </a:xfrm>
          <a:prstGeom prst="line">
            <a:avLst/>
          </a:prstGeom>
          <a:ln cap="rnd" w="66675">
            <a:solidFill>
              <a:srgbClr val="27D8E5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14382750" y="2857500"/>
            <a:ext cx="2857500" cy="1809750"/>
            <a:chOff x="0" y="0"/>
            <a:chExt cx="3810000" cy="241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1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810000">
                  <a:moveTo>
                    <a:pt x="84667" y="0"/>
                  </a:moveTo>
                  <a:lnTo>
                    <a:pt x="3725333" y="0"/>
                  </a:lnTo>
                  <a:cubicBezTo>
                    <a:pt x="3772093" y="0"/>
                    <a:pt x="3810000" y="37907"/>
                    <a:pt x="3810000" y="84667"/>
                  </a:cubicBezTo>
                  <a:lnTo>
                    <a:pt x="3810000" y="2328333"/>
                  </a:lnTo>
                  <a:cubicBezTo>
                    <a:pt x="3810000" y="2375093"/>
                    <a:pt x="3772093" y="2413000"/>
                    <a:pt x="3725333" y="2413000"/>
                  </a:cubicBezTo>
                  <a:lnTo>
                    <a:pt x="84667" y="2413000"/>
                  </a:lnTo>
                  <a:cubicBezTo>
                    <a:pt x="37907" y="2413000"/>
                    <a:pt x="0" y="2375093"/>
                    <a:pt x="0" y="2328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B8F34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810000" cy="2460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08152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DANN</a:t>
              </a:r>
            </a:p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08152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fahren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858750" y="5524500"/>
            <a:ext cx="4000500" cy="4000500"/>
          </a:xfrm>
          <a:custGeom>
            <a:avLst/>
            <a:gdLst/>
            <a:ahLst/>
            <a:cxnLst/>
            <a:rect r="r" b="b" t="t" l="l"/>
            <a:pathLst>
              <a:path h="4000500" w="4000500">
                <a:moveTo>
                  <a:pt x="0" y="0"/>
                </a:moveTo>
                <a:lnTo>
                  <a:pt x="4000500" y="0"/>
                </a:lnTo>
                <a:lnTo>
                  <a:pt x="40005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82750" y="781050"/>
            <a:ext cx="2857500" cy="495300"/>
            <a:chOff x="0" y="0"/>
            <a:chExt cx="3810000" cy="66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" cy="660400"/>
            </a:xfrm>
            <a:custGeom>
              <a:avLst/>
              <a:gdLst/>
              <a:ahLst/>
              <a:cxnLst/>
              <a:rect r="r" b="b" t="t" l="l"/>
              <a:pathLst>
                <a:path h="660400" w="3810000">
                  <a:moveTo>
                    <a:pt x="110067" y="0"/>
                  </a:moveTo>
                  <a:lnTo>
                    <a:pt x="3699933" y="0"/>
                  </a:lnTo>
                  <a:cubicBezTo>
                    <a:pt x="3760722" y="0"/>
                    <a:pt x="3810000" y="49279"/>
                    <a:pt x="3810000" y="110067"/>
                  </a:cubicBezTo>
                  <a:lnTo>
                    <a:pt x="3810000" y="550333"/>
                  </a:lnTo>
                  <a:cubicBezTo>
                    <a:pt x="3810000" y="611121"/>
                    <a:pt x="3760722" y="660400"/>
                    <a:pt x="3699933" y="660400"/>
                  </a:cubicBezTo>
                  <a:lnTo>
                    <a:pt x="110067" y="660400"/>
                  </a:lnTo>
                  <a:cubicBezTo>
                    <a:pt x="49279" y="660400"/>
                    <a:pt x="0" y="611121"/>
                    <a:pt x="0" y="550333"/>
                  </a:cubicBezTo>
                  <a:lnTo>
                    <a:pt x="0" y="110067"/>
                  </a:lnTo>
                  <a:cubicBezTo>
                    <a:pt x="0" y="49279"/>
                    <a:pt x="49279" y="0"/>
                    <a:pt x="110067" y="0"/>
                  </a:cubicBezTo>
                  <a:close/>
                </a:path>
              </a:pathLst>
            </a:custGeom>
            <a:solidFill>
              <a:srgbClr val="3A73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100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b="true" sz="1500" spc="75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DETEKTIV-AUFGABE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685800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3A7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DETEKTIV-AUFGABE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1381125"/>
            <a:ext cx="14287500" cy="59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4350" b="true">
                <a:solidFill>
                  <a:srgbClr val="102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 ist Bedingung, was Handlung?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2200275"/>
            <a:ext cx="8572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60758C"/>
                </a:solidFill>
                <a:latin typeface="IBM Plex Sans"/>
                <a:ea typeface="IBM Plex Sans"/>
                <a:cs typeface="IBM Plex Sans"/>
                <a:sym typeface="IBM Plex Sans"/>
              </a:rPr>
              <a:t>Markiere in jedem Satz beide Teile.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0600" y="3429000"/>
            <a:ext cx="13811250" cy="1000125"/>
            <a:chOff x="0" y="0"/>
            <a:chExt cx="18415000" cy="1333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15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18415000">
                  <a:moveTo>
                    <a:pt x="0" y="0"/>
                  </a:moveTo>
                  <a:lnTo>
                    <a:pt x="18415000" y="0"/>
                  </a:lnTo>
                  <a:lnTo>
                    <a:pt x="18415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415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19225" y="3667125"/>
            <a:ext cx="1285875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0243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  WENN Akku leer  →  DANN Handy laden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0600" y="4857750"/>
            <a:ext cx="13811250" cy="1000125"/>
            <a:chOff x="0" y="0"/>
            <a:chExt cx="18415000" cy="1333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415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18415000">
                  <a:moveTo>
                    <a:pt x="0" y="0"/>
                  </a:moveTo>
                  <a:lnTo>
                    <a:pt x="18415000" y="0"/>
                  </a:lnTo>
                  <a:lnTo>
                    <a:pt x="18415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415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19225" y="5095875"/>
            <a:ext cx="1285875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0243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  WENN es regnet  →  DANN Regenschirm nehmen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0600" y="6286500"/>
            <a:ext cx="13811250" cy="1000125"/>
            <a:chOff x="0" y="0"/>
            <a:chExt cx="18415000" cy="1333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415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18415000">
                  <a:moveTo>
                    <a:pt x="0" y="0"/>
                  </a:moveTo>
                  <a:lnTo>
                    <a:pt x="18415000" y="0"/>
                  </a:lnTo>
                  <a:lnTo>
                    <a:pt x="18415000" y="1333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8415000" cy="137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19225" y="6524625"/>
            <a:ext cx="1285875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0243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  WENN Passwort richtig  →  DANN Zugang öffnen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906500" y="5429250"/>
            <a:ext cx="4000500" cy="4000500"/>
          </a:xfrm>
          <a:custGeom>
            <a:avLst/>
            <a:gdLst/>
            <a:ahLst/>
            <a:cxnLst/>
            <a:rect r="r" b="b" t="t" l="l"/>
            <a:pathLst>
              <a:path h="4000500" w="4000500">
                <a:moveTo>
                  <a:pt x="0" y="0"/>
                </a:moveTo>
                <a:lnTo>
                  <a:pt x="4000500" y="0"/>
                </a:lnTo>
                <a:lnTo>
                  <a:pt x="40005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8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523875"/>
            <a:ext cx="2857500" cy="495300"/>
            <a:chOff x="0" y="0"/>
            <a:chExt cx="3810000" cy="66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" cy="660400"/>
            </a:xfrm>
            <a:custGeom>
              <a:avLst/>
              <a:gdLst/>
              <a:ahLst/>
              <a:cxnLst/>
              <a:rect r="r" b="b" t="t" l="l"/>
              <a:pathLst>
                <a:path h="660400" w="3810000">
                  <a:moveTo>
                    <a:pt x="110067" y="0"/>
                  </a:moveTo>
                  <a:lnTo>
                    <a:pt x="3699933" y="0"/>
                  </a:lnTo>
                  <a:cubicBezTo>
                    <a:pt x="3760722" y="0"/>
                    <a:pt x="3810000" y="49279"/>
                    <a:pt x="3810000" y="110067"/>
                  </a:cubicBezTo>
                  <a:lnTo>
                    <a:pt x="3810000" y="550333"/>
                  </a:lnTo>
                  <a:cubicBezTo>
                    <a:pt x="3810000" y="611121"/>
                    <a:pt x="3760722" y="660400"/>
                    <a:pt x="3699933" y="660400"/>
                  </a:cubicBezTo>
                  <a:lnTo>
                    <a:pt x="110067" y="660400"/>
                  </a:lnTo>
                  <a:cubicBezTo>
                    <a:pt x="49279" y="660400"/>
                    <a:pt x="0" y="611121"/>
                    <a:pt x="0" y="550333"/>
                  </a:cubicBezTo>
                  <a:lnTo>
                    <a:pt x="0" y="110067"/>
                  </a:lnTo>
                  <a:cubicBezTo>
                    <a:pt x="0" y="49279"/>
                    <a:pt x="49279" y="0"/>
                    <a:pt x="110067" y="0"/>
                  </a:cubicBezTo>
                  <a:close/>
                </a:path>
              </a:pathLst>
            </a:custGeom>
            <a:solidFill>
              <a:srgbClr val="B8F34A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100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b="true" sz="1500" spc="75">
                  <a:solidFill>
                    <a:srgbClr val="08152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LÖSUNG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1209675"/>
            <a:ext cx="12858750" cy="59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Bedingung oder Handlung?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0600" y="2667000"/>
            <a:ext cx="15525750" cy="1143000"/>
            <a:chOff x="0" y="0"/>
            <a:chExt cx="20701000" cy="152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1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0701000">
                  <a:moveTo>
                    <a:pt x="0" y="0"/>
                  </a:moveTo>
                  <a:lnTo>
                    <a:pt x="20701000" y="0"/>
                  </a:lnTo>
                  <a:lnTo>
                    <a:pt x="20701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0283E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701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28750" y="2981325"/>
            <a:ext cx="762000" cy="58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 b="true">
                <a:solidFill>
                  <a:srgbClr val="B8F3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1750" y="2905125"/>
            <a:ext cx="6191250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BEDINGUNG  Akku leer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39250" y="2905125"/>
            <a:ext cx="6667500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HANDLUNG  Handy laden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0600" y="4476750"/>
            <a:ext cx="15525750" cy="1143000"/>
            <a:chOff x="0" y="0"/>
            <a:chExt cx="20701000" cy="152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701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0701000">
                  <a:moveTo>
                    <a:pt x="0" y="0"/>
                  </a:moveTo>
                  <a:lnTo>
                    <a:pt x="20701000" y="0"/>
                  </a:lnTo>
                  <a:lnTo>
                    <a:pt x="20701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0283E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701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28750" y="4791075"/>
            <a:ext cx="762000" cy="58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 b="true">
                <a:solidFill>
                  <a:srgbClr val="B8F3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71750" y="4714875"/>
            <a:ext cx="6191250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BEDINGUNG  Es regnet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39250" y="4714875"/>
            <a:ext cx="6667500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HANDLUNG  Regenschirm nehmen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0600" y="6286500"/>
            <a:ext cx="15525750" cy="1143000"/>
            <a:chOff x="0" y="0"/>
            <a:chExt cx="20701000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701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0701000">
                  <a:moveTo>
                    <a:pt x="0" y="0"/>
                  </a:moveTo>
                  <a:lnTo>
                    <a:pt x="20701000" y="0"/>
                  </a:lnTo>
                  <a:lnTo>
                    <a:pt x="20701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0283E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701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428750" y="6600825"/>
            <a:ext cx="762000" cy="58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 b="true">
                <a:solidFill>
                  <a:srgbClr val="B8F3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71750" y="6524625"/>
            <a:ext cx="6191250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BEDINGUNG  Passwort richtig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39250" y="6524625"/>
            <a:ext cx="6667500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HANDLUNG  Zugang öffnen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286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3A7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DAS SCHEMA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285875"/>
            <a:ext cx="11430000" cy="59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4350" b="true">
                <a:solidFill>
                  <a:srgbClr val="102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 entscheidet ein Computer.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14500" y="3143250"/>
            <a:ext cx="5715000" cy="2667000"/>
            <a:chOff x="0" y="0"/>
            <a:chExt cx="7620000" cy="355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7620000">
                  <a:moveTo>
                    <a:pt x="59267" y="0"/>
                  </a:moveTo>
                  <a:lnTo>
                    <a:pt x="7560733" y="0"/>
                  </a:lnTo>
                  <a:cubicBezTo>
                    <a:pt x="7593465" y="0"/>
                    <a:pt x="7620000" y="26535"/>
                    <a:pt x="7620000" y="59267"/>
                  </a:cubicBezTo>
                  <a:lnTo>
                    <a:pt x="7620000" y="3496733"/>
                  </a:lnTo>
                  <a:cubicBezTo>
                    <a:pt x="7620000" y="3529466"/>
                    <a:pt x="7593465" y="3556000"/>
                    <a:pt x="7560733" y="3556000"/>
                  </a:cubicBezTo>
                  <a:lnTo>
                    <a:pt x="59267" y="3556000"/>
                  </a:lnTo>
                  <a:cubicBezTo>
                    <a:pt x="26535" y="3556000"/>
                    <a:pt x="0" y="3529466"/>
                    <a:pt x="0" y="3496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3A73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7620000" cy="362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WENN</a:t>
              </a:r>
            </a:p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BEDINGUNG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7762875" y="4476750"/>
            <a:ext cx="2762250" cy="0"/>
          </a:xfrm>
          <a:prstGeom prst="line">
            <a:avLst/>
          </a:prstGeom>
          <a:ln cap="rnd" w="114300">
            <a:solidFill>
              <a:srgbClr val="27D8E5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" id="8"/>
          <p:cNvGrpSpPr/>
          <p:nvPr/>
        </p:nvGrpSpPr>
        <p:grpSpPr>
          <a:xfrm rot="0">
            <a:off x="10858500" y="3143250"/>
            <a:ext cx="5715000" cy="2667000"/>
            <a:chOff x="0" y="0"/>
            <a:chExt cx="7620000" cy="355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7620000">
                  <a:moveTo>
                    <a:pt x="59267" y="0"/>
                  </a:moveTo>
                  <a:lnTo>
                    <a:pt x="7560733" y="0"/>
                  </a:lnTo>
                  <a:cubicBezTo>
                    <a:pt x="7593465" y="0"/>
                    <a:pt x="7620000" y="26535"/>
                    <a:pt x="7620000" y="59267"/>
                  </a:cubicBezTo>
                  <a:lnTo>
                    <a:pt x="7620000" y="3496733"/>
                  </a:lnTo>
                  <a:cubicBezTo>
                    <a:pt x="7620000" y="3529466"/>
                    <a:pt x="7593465" y="3556000"/>
                    <a:pt x="7560733" y="3556000"/>
                  </a:cubicBezTo>
                  <a:lnTo>
                    <a:pt x="59267" y="3556000"/>
                  </a:lnTo>
                  <a:cubicBezTo>
                    <a:pt x="26535" y="3556000"/>
                    <a:pt x="0" y="3529466"/>
                    <a:pt x="0" y="3496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B8F34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7620000" cy="362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08152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DANN</a:t>
              </a:r>
            </a:p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08152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HANDLUNG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857500" y="7620000"/>
            <a:ext cx="12573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10243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WENN es regnet  →  DANN Regenschirm nehmen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619125"/>
            <a:ext cx="2857500" cy="495300"/>
            <a:chOff x="0" y="0"/>
            <a:chExt cx="3810000" cy="66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" cy="660400"/>
            </a:xfrm>
            <a:custGeom>
              <a:avLst/>
              <a:gdLst/>
              <a:ahLst/>
              <a:cxnLst/>
              <a:rect r="r" b="b" t="t" l="l"/>
              <a:pathLst>
                <a:path h="660400" w="3810000">
                  <a:moveTo>
                    <a:pt x="110067" y="0"/>
                  </a:moveTo>
                  <a:lnTo>
                    <a:pt x="3699933" y="0"/>
                  </a:lnTo>
                  <a:cubicBezTo>
                    <a:pt x="3760722" y="0"/>
                    <a:pt x="3810000" y="49279"/>
                    <a:pt x="3810000" y="110067"/>
                  </a:cubicBezTo>
                  <a:lnTo>
                    <a:pt x="3810000" y="550333"/>
                  </a:lnTo>
                  <a:cubicBezTo>
                    <a:pt x="3810000" y="611121"/>
                    <a:pt x="3760722" y="660400"/>
                    <a:pt x="3699933" y="660400"/>
                  </a:cubicBezTo>
                  <a:lnTo>
                    <a:pt x="110067" y="660400"/>
                  </a:lnTo>
                  <a:cubicBezTo>
                    <a:pt x="49279" y="660400"/>
                    <a:pt x="0" y="611121"/>
                    <a:pt x="0" y="550333"/>
                  </a:cubicBezTo>
                  <a:lnTo>
                    <a:pt x="0" y="110067"/>
                  </a:lnTo>
                  <a:cubicBezTo>
                    <a:pt x="0" y="49279"/>
                    <a:pt x="49279" y="0"/>
                    <a:pt x="110067" y="0"/>
                  </a:cubicBezTo>
                  <a:close/>
                </a:path>
              </a:pathLst>
            </a:custGeom>
            <a:solidFill>
              <a:srgbClr val="FFC857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100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b="true" sz="1500" spc="75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DENKAUFGABE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1304925"/>
            <a:ext cx="11430000" cy="59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4350" b="true">
                <a:solidFill>
                  <a:srgbClr val="102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Ergänze die Regeln sinnvoll.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2105025"/>
            <a:ext cx="8572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60758C"/>
                </a:solidFill>
                <a:latin typeface="IBM Plex Sans"/>
                <a:ea typeface="IBM Plex Sans"/>
                <a:cs typeface="IBM Plex Sans"/>
                <a:sym typeface="IBM Plex Sans"/>
              </a:rPr>
              <a:t>Achte auf eine eindeutige Handlung.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0600" y="3190875"/>
            <a:ext cx="13144500" cy="838200"/>
            <a:chOff x="0" y="0"/>
            <a:chExt cx="17526000" cy="1117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260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7526000">
                  <a:moveTo>
                    <a:pt x="0" y="0"/>
                  </a:moveTo>
                  <a:lnTo>
                    <a:pt x="17526000" y="0"/>
                  </a:lnTo>
                  <a:lnTo>
                    <a:pt x="17526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526000" cy="1155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28750" y="3390900"/>
            <a:ext cx="12001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0243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  WENN Ampel rot, DANN __________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0600" y="4429125"/>
            <a:ext cx="13144500" cy="838200"/>
            <a:chOff x="0" y="0"/>
            <a:chExt cx="17526000" cy="1117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5260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7526000">
                  <a:moveTo>
                    <a:pt x="0" y="0"/>
                  </a:moveTo>
                  <a:lnTo>
                    <a:pt x="17526000" y="0"/>
                  </a:lnTo>
                  <a:lnTo>
                    <a:pt x="17526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526000" cy="1155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28750" y="4629150"/>
            <a:ext cx="12001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0243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2  WENN Akku leer, DANN __________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0600" y="5667375"/>
            <a:ext cx="13144500" cy="838200"/>
            <a:chOff x="0" y="0"/>
            <a:chExt cx="17526000" cy="1117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5260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7526000">
                  <a:moveTo>
                    <a:pt x="0" y="0"/>
                  </a:moveTo>
                  <a:lnTo>
                    <a:pt x="17526000" y="0"/>
                  </a:lnTo>
                  <a:lnTo>
                    <a:pt x="17526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526000" cy="1155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28750" y="5867400"/>
            <a:ext cx="12001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0243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3  WENN Tür geschlossen, DANN __________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0600" y="6905625"/>
            <a:ext cx="13144500" cy="838200"/>
            <a:chOff x="0" y="0"/>
            <a:chExt cx="17526000" cy="1117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5260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7526000">
                  <a:moveTo>
                    <a:pt x="0" y="0"/>
                  </a:moveTo>
                  <a:lnTo>
                    <a:pt x="17526000" y="0"/>
                  </a:lnTo>
                  <a:lnTo>
                    <a:pt x="17526000" y="111760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7526000" cy="1155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28750" y="7105650"/>
            <a:ext cx="12001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0243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4  WENN kalt, DANN __________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3906500" y="5143500"/>
            <a:ext cx="4000500" cy="4000500"/>
          </a:xfrm>
          <a:custGeom>
            <a:avLst/>
            <a:gdLst/>
            <a:ahLst/>
            <a:cxnLst/>
            <a:rect r="r" b="b" t="t" l="l"/>
            <a:pathLst>
              <a:path h="4000500" w="4000500">
                <a:moveTo>
                  <a:pt x="0" y="0"/>
                </a:moveTo>
                <a:lnTo>
                  <a:pt x="4000500" y="0"/>
                </a:lnTo>
                <a:lnTo>
                  <a:pt x="40005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4" id="24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523875"/>
            <a:ext cx="2857500" cy="495300"/>
            <a:chOff x="0" y="0"/>
            <a:chExt cx="3810000" cy="66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" cy="660400"/>
            </a:xfrm>
            <a:custGeom>
              <a:avLst/>
              <a:gdLst/>
              <a:ahLst/>
              <a:cxnLst/>
              <a:rect r="r" b="b" t="t" l="l"/>
              <a:pathLst>
                <a:path h="660400" w="3810000">
                  <a:moveTo>
                    <a:pt x="110067" y="0"/>
                  </a:moveTo>
                  <a:lnTo>
                    <a:pt x="3699933" y="0"/>
                  </a:lnTo>
                  <a:cubicBezTo>
                    <a:pt x="3760722" y="0"/>
                    <a:pt x="3810000" y="49279"/>
                    <a:pt x="3810000" y="110067"/>
                  </a:cubicBezTo>
                  <a:lnTo>
                    <a:pt x="3810000" y="550333"/>
                  </a:lnTo>
                  <a:cubicBezTo>
                    <a:pt x="3810000" y="611121"/>
                    <a:pt x="3760722" y="660400"/>
                    <a:pt x="3699933" y="660400"/>
                  </a:cubicBezTo>
                  <a:lnTo>
                    <a:pt x="110067" y="660400"/>
                  </a:lnTo>
                  <a:cubicBezTo>
                    <a:pt x="49279" y="660400"/>
                    <a:pt x="0" y="611121"/>
                    <a:pt x="0" y="550333"/>
                  </a:cubicBezTo>
                  <a:lnTo>
                    <a:pt x="0" y="110067"/>
                  </a:lnTo>
                  <a:cubicBezTo>
                    <a:pt x="0" y="49279"/>
                    <a:pt x="49279" y="0"/>
                    <a:pt x="110067" y="0"/>
                  </a:cubicBezTo>
                  <a:close/>
                </a:path>
              </a:pathLst>
            </a:custGeom>
            <a:solidFill>
              <a:srgbClr val="B8F34A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100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b="true" sz="1500" spc="75">
                  <a:solidFill>
                    <a:srgbClr val="08152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LÖSUNG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1257300"/>
            <a:ext cx="10477500" cy="59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Mögliche Ergänzungen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0600" y="2809875"/>
            <a:ext cx="12573000" cy="781050"/>
            <a:chOff x="0" y="0"/>
            <a:chExt cx="16764000" cy="1041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64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0283E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7640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28750" y="3000375"/>
            <a:ext cx="112395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  →  halte ich an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0600" y="4000500"/>
            <a:ext cx="12573000" cy="781050"/>
            <a:chOff x="0" y="0"/>
            <a:chExt cx="16764000" cy="1041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764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0283E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7640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28750" y="4191000"/>
            <a:ext cx="112395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2  →  lade ich mein Handy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0600" y="5191125"/>
            <a:ext cx="12573000" cy="781050"/>
            <a:chOff x="0" y="0"/>
            <a:chExt cx="16764000" cy="1041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764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0283E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7640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28750" y="5381625"/>
            <a:ext cx="112395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3  →  öffne ich die Tür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0600" y="6381750"/>
            <a:ext cx="12573000" cy="781050"/>
            <a:chOff x="0" y="0"/>
            <a:chExt cx="16764000" cy="1041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64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0283E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67640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428750" y="6572250"/>
            <a:ext cx="1123950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4  →  ziehe ich eine Jacke an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811250" y="4905375"/>
            <a:ext cx="4000500" cy="4000500"/>
          </a:xfrm>
          <a:custGeom>
            <a:avLst/>
            <a:gdLst/>
            <a:ahLst/>
            <a:cxnLst/>
            <a:rect r="r" b="b" t="t" l="l"/>
            <a:pathLst>
              <a:path h="4000500" w="4000500">
                <a:moveTo>
                  <a:pt x="0" y="0"/>
                </a:moveTo>
                <a:lnTo>
                  <a:pt x="4000500" y="0"/>
                </a:lnTo>
                <a:lnTo>
                  <a:pt x="40005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3" id="23"/>
          <p:cNvSpPr txBox="true"/>
          <p:nvPr/>
        </p:nvSpPr>
        <p:spPr>
          <a:xfrm rot="0">
            <a:off x="990600" y="8143875"/>
            <a:ext cx="104775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27D8E5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Andere sinnvolle Antworten sind auch richtig.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1209675"/>
            <a:ext cx="11906250" cy="59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4350" b="true">
                <a:solidFill>
                  <a:srgbClr val="102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WENN–DANN steckt überall.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90600" y="2857500"/>
            <a:ext cx="4857750" cy="2367916"/>
            <a:chOff x="0" y="0"/>
            <a:chExt cx="6477000" cy="315722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477000" cy="3157221"/>
              <a:chOff x="0" y="0"/>
              <a:chExt cx="6477000" cy="315722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477000" cy="3157221"/>
              </a:xfrm>
              <a:custGeom>
                <a:avLst/>
                <a:gdLst/>
                <a:ahLst/>
                <a:cxnLst/>
                <a:rect r="r" b="b" t="t" l="l"/>
                <a:pathLst>
                  <a:path h="3157221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3157221"/>
                    </a:lnTo>
                    <a:lnTo>
                      <a:pt x="0" y="3157221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57150"/>
                <a:ext cx="6477000" cy="32143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31800" y="333375"/>
              <a:ext cx="5842000" cy="514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4" b="true">
                  <a:solidFill>
                    <a:srgbClr val="3A7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PASSWORT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31800" y="1132206"/>
              <a:ext cx="5842000" cy="1127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12"/>
                </a:lnSpc>
              </a:pPr>
              <a:r>
                <a:rPr lang="en-US" sz="2624" b="true">
                  <a:solidFill>
                    <a:srgbClr val="1024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WENN richtig</a:t>
              </a:r>
            </a:p>
            <a:p>
              <a:pPr algn="l">
                <a:lnSpc>
                  <a:spcPts val="3412"/>
                </a:lnSpc>
              </a:pPr>
              <a:r>
                <a:rPr lang="en-US" sz="2624" b="true">
                  <a:solidFill>
                    <a:srgbClr val="1024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DANN Zugang erlauben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24600" y="2857500"/>
            <a:ext cx="4857750" cy="2421256"/>
            <a:chOff x="0" y="0"/>
            <a:chExt cx="6477000" cy="322834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477000" cy="3228341"/>
              <a:chOff x="0" y="0"/>
              <a:chExt cx="6477000" cy="322834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477000" cy="3228341"/>
              </a:xfrm>
              <a:custGeom>
                <a:avLst/>
                <a:gdLst/>
                <a:ahLst/>
                <a:cxnLst/>
                <a:rect r="r" b="b" t="t" l="l"/>
                <a:pathLst>
                  <a:path h="3228341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3228341"/>
                    </a:lnTo>
                    <a:lnTo>
                      <a:pt x="0" y="3228341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6477000" cy="3275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1800" y="333375"/>
              <a:ext cx="5842000" cy="536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4"/>
                </a:lnSpc>
              </a:pPr>
              <a:r>
                <a:rPr lang="en-US" sz="2424" b="true">
                  <a:solidFill>
                    <a:srgbClr val="3A7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AKKU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1800" y="1154219"/>
              <a:ext cx="5842000" cy="11762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42"/>
                </a:lnSpc>
              </a:pPr>
              <a:r>
                <a:rPr lang="en-US" sz="2724" b="true">
                  <a:solidFill>
                    <a:srgbClr val="1024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WENN fast leer</a:t>
              </a:r>
            </a:p>
            <a:p>
              <a:pPr algn="l">
                <a:lnSpc>
                  <a:spcPts val="3542"/>
                </a:lnSpc>
              </a:pPr>
              <a:r>
                <a:rPr lang="en-US" sz="2724" b="true">
                  <a:solidFill>
                    <a:srgbClr val="1024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DANN Energiesparmodus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58600" y="2857500"/>
            <a:ext cx="4857750" cy="2421256"/>
            <a:chOff x="0" y="0"/>
            <a:chExt cx="6477000" cy="322834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477000" cy="3228341"/>
              <a:chOff x="0" y="0"/>
              <a:chExt cx="6477000" cy="322834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477000" cy="3228341"/>
              </a:xfrm>
              <a:custGeom>
                <a:avLst/>
                <a:gdLst/>
                <a:ahLst/>
                <a:cxnLst/>
                <a:rect r="r" b="b" t="t" l="l"/>
                <a:pathLst>
                  <a:path h="3228341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3228341"/>
                    </a:lnTo>
                    <a:lnTo>
                      <a:pt x="0" y="3228341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6477000" cy="3275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31800" y="333375"/>
              <a:ext cx="5842000" cy="536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94"/>
                </a:lnSpc>
              </a:pPr>
              <a:r>
                <a:rPr lang="en-US" sz="2424" b="true">
                  <a:solidFill>
                    <a:srgbClr val="3A7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AMPEL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31800" y="1154219"/>
              <a:ext cx="5842000" cy="11762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42"/>
                </a:lnSpc>
              </a:pPr>
              <a:r>
                <a:rPr lang="en-US" sz="2724" b="true">
                  <a:solidFill>
                    <a:srgbClr val="1024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WENN grün</a:t>
              </a:r>
            </a:p>
            <a:p>
              <a:pPr algn="l">
                <a:lnSpc>
                  <a:spcPts val="3542"/>
                </a:lnSpc>
              </a:pPr>
              <a:r>
                <a:rPr lang="en-US" sz="2724" b="true">
                  <a:solidFill>
                    <a:srgbClr val="1024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DANN fahren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90600" y="5619750"/>
            <a:ext cx="4857750" cy="2314575"/>
            <a:chOff x="0" y="0"/>
            <a:chExt cx="6477000" cy="3086101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477000" cy="3086101"/>
              <a:chOff x="0" y="0"/>
              <a:chExt cx="6477000" cy="308610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77000" cy="3086101"/>
              </a:xfrm>
              <a:custGeom>
                <a:avLst/>
                <a:gdLst/>
                <a:ahLst/>
                <a:cxnLst/>
                <a:rect r="r" b="b" t="t" l="l"/>
                <a:pathLst>
                  <a:path h="3086101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3086101"/>
                    </a:lnTo>
                    <a:lnTo>
                      <a:pt x="0" y="3086101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6477000" cy="31337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3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31800" y="333375"/>
              <a:ext cx="5842000" cy="492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4"/>
                </a:lnSpc>
              </a:pPr>
              <a:r>
                <a:rPr lang="en-US" sz="2224" b="true">
                  <a:solidFill>
                    <a:srgbClr val="3A7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HEIZUNG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31800" y="1110192"/>
              <a:ext cx="5842000" cy="1078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82"/>
                </a:lnSpc>
              </a:pPr>
              <a:r>
                <a:rPr lang="en-US" sz="2524" b="true">
                  <a:solidFill>
                    <a:srgbClr val="1024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WENN zu kalt</a:t>
              </a:r>
            </a:p>
            <a:p>
              <a:pPr algn="l">
                <a:lnSpc>
                  <a:spcPts val="3282"/>
                </a:lnSpc>
              </a:pPr>
              <a:r>
                <a:rPr lang="en-US" sz="2524" b="true">
                  <a:solidFill>
                    <a:srgbClr val="1024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DANN einschalten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24600" y="5619750"/>
            <a:ext cx="4857750" cy="2278380"/>
            <a:chOff x="0" y="0"/>
            <a:chExt cx="6477000" cy="303784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477000" cy="3037840"/>
              <a:chOff x="0" y="0"/>
              <a:chExt cx="6477000" cy="303784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477000" cy="3037840"/>
              </a:xfrm>
              <a:custGeom>
                <a:avLst/>
                <a:gdLst/>
                <a:ahLst/>
                <a:cxnLst/>
                <a:rect r="r" b="b" t="t" l="l"/>
                <a:pathLst>
                  <a:path h="303784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3037840"/>
                    </a:lnTo>
                    <a:lnTo>
                      <a:pt x="0" y="303784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477000" cy="30759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31800" y="342900"/>
              <a:ext cx="5842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true">
                  <a:solidFill>
                    <a:srgbClr val="3A73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SPIEL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31800" y="1012825"/>
              <a:ext cx="5842000" cy="1127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12"/>
                </a:lnSpc>
              </a:pPr>
              <a:r>
                <a:rPr lang="en-US" sz="2624" b="true">
                  <a:solidFill>
                    <a:srgbClr val="1024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WENN Treffer</a:t>
              </a:r>
            </a:p>
            <a:p>
              <a:pPr algn="l">
                <a:lnSpc>
                  <a:spcPts val="3412"/>
                </a:lnSpc>
              </a:pPr>
              <a:r>
                <a:rPr lang="en-US" sz="2624" b="true">
                  <a:solidFill>
                    <a:srgbClr val="1024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DANN Punkte erhöhen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3906500" y="6096000"/>
            <a:ext cx="4000500" cy="4000500"/>
          </a:xfrm>
          <a:custGeom>
            <a:avLst/>
            <a:gdLst/>
            <a:ahLst/>
            <a:cxnLst/>
            <a:rect r="r" b="b" t="t" l="l"/>
            <a:pathLst>
              <a:path h="4000500" w="4000500">
                <a:moveTo>
                  <a:pt x="0" y="0"/>
                </a:moveTo>
                <a:lnTo>
                  <a:pt x="4000500" y="0"/>
                </a:lnTo>
                <a:lnTo>
                  <a:pt x="40005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4" id="34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571500"/>
            <a:ext cx="2857500" cy="495300"/>
            <a:chOff x="0" y="0"/>
            <a:chExt cx="3810000" cy="66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" cy="660400"/>
            </a:xfrm>
            <a:custGeom>
              <a:avLst/>
              <a:gdLst/>
              <a:ahLst/>
              <a:cxnLst/>
              <a:rect r="r" b="b" t="t" l="l"/>
              <a:pathLst>
                <a:path h="660400" w="3810000">
                  <a:moveTo>
                    <a:pt x="110067" y="0"/>
                  </a:moveTo>
                  <a:lnTo>
                    <a:pt x="3699933" y="0"/>
                  </a:lnTo>
                  <a:cubicBezTo>
                    <a:pt x="3760722" y="0"/>
                    <a:pt x="3810000" y="49279"/>
                    <a:pt x="3810000" y="110067"/>
                  </a:cubicBezTo>
                  <a:lnTo>
                    <a:pt x="3810000" y="550333"/>
                  </a:lnTo>
                  <a:cubicBezTo>
                    <a:pt x="3810000" y="611121"/>
                    <a:pt x="3760722" y="660400"/>
                    <a:pt x="3699933" y="660400"/>
                  </a:cubicBezTo>
                  <a:lnTo>
                    <a:pt x="110067" y="660400"/>
                  </a:lnTo>
                  <a:cubicBezTo>
                    <a:pt x="49279" y="660400"/>
                    <a:pt x="0" y="611121"/>
                    <a:pt x="0" y="550333"/>
                  </a:cubicBezTo>
                  <a:lnTo>
                    <a:pt x="0" y="110067"/>
                  </a:lnTo>
                  <a:cubicBezTo>
                    <a:pt x="0" y="49279"/>
                    <a:pt x="49279" y="0"/>
                    <a:pt x="110067" y="0"/>
                  </a:cubicBezTo>
                  <a:close/>
                </a:path>
              </a:pathLst>
            </a:custGeom>
            <a:solidFill>
              <a:srgbClr val="3A73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100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b="true" sz="1500" spc="75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DETEKTIV-AUFGABE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1304925"/>
            <a:ext cx="10477500" cy="59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4350" b="true">
                <a:solidFill>
                  <a:srgbClr val="102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Finde die Bedingung!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2105025"/>
            <a:ext cx="8572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60758C"/>
                </a:solidFill>
                <a:latin typeface="IBM Plex Sans"/>
                <a:ea typeface="IBM Plex Sans"/>
                <a:cs typeface="IBM Plex Sans"/>
                <a:sym typeface="IBM Plex Sans"/>
              </a:rPr>
              <a:t>Markiere Bedingung und Handlung.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0600" y="3429000"/>
            <a:ext cx="13525500" cy="1028700"/>
            <a:chOff x="0" y="0"/>
            <a:chExt cx="180340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03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8034000">
                  <a:moveTo>
                    <a:pt x="0" y="0"/>
                  </a:moveTo>
                  <a:lnTo>
                    <a:pt x="18034000" y="0"/>
                  </a:lnTo>
                  <a:lnTo>
                    <a:pt x="1803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0340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28750" y="3667125"/>
            <a:ext cx="1285875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0243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  Akku &lt; 10 %  →  Energiesparmodus an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0600" y="5000625"/>
            <a:ext cx="13525500" cy="1028700"/>
            <a:chOff x="0" y="0"/>
            <a:chExt cx="18034000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03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8034000">
                  <a:moveTo>
                    <a:pt x="0" y="0"/>
                  </a:moveTo>
                  <a:lnTo>
                    <a:pt x="18034000" y="0"/>
                  </a:lnTo>
                  <a:lnTo>
                    <a:pt x="1803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0340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28750" y="5238750"/>
            <a:ext cx="1285875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0243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2  Passwort korrekt  →  Zugang freigeben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0600" y="6572250"/>
            <a:ext cx="13525500" cy="1028700"/>
            <a:chOff x="0" y="0"/>
            <a:chExt cx="18034000" cy="137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3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8034000">
                  <a:moveTo>
                    <a:pt x="0" y="0"/>
                  </a:moveTo>
                  <a:lnTo>
                    <a:pt x="18034000" y="0"/>
                  </a:lnTo>
                  <a:lnTo>
                    <a:pt x="1803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8034000" cy="140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28750" y="6810375"/>
            <a:ext cx="1285875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0243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3  Temperatur &lt; 18 °C  →  Heizung ein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811250" y="5524500"/>
            <a:ext cx="4000500" cy="4000500"/>
          </a:xfrm>
          <a:custGeom>
            <a:avLst/>
            <a:gdLst/>
            <a:ahLst/>
            <a:cxnLst/>
            <a:rect r="r" b="b" t="t" l="l"/>
            <a:pathLst>
              <a:path h="4000500" w="4000500">
                <a:moveTo>
                  <a:pt x="0" y="0"/>
                </a:moveTo>
                <a:lnTo>
                  <a:pt x="4000500" y="0"/>
                </a:lnTo>
                <a:lnTo>
                  <a:pt x="40005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8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523875"/>
            <a:ext cx="2857500" cy="495300"/>
            <a:chOff x="0" y="0"/>
            <a:chExt cx="3810000" cy="66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" cy="660400"/>
            </a:xfrm>
            <a:custGeom>
              <a:avLst/>
              <a:gdLst/>
              <a:ahLst/>
              <a:cxnLst/>
              <a:rect r="r" b="b" t="t" l="l"/>
              <a:pathLst>
                <a:path h="660400" w="3810000">
                  <a:moveTo>
                    <a:pt x="110067" y="0"/>
                  </a:moveTo>
                  <a:lnTo>
                    <a:pt x="3699933" y="0"/>
                  </a:lnTo>
                  <a:cubicBezTo>
                    <a:pt x="3760722" y="0"/>
                    <a:pt x="3810000" y="49279"/>
                    <a:pt x="3810000" y="110067"/>
                  </a:cubicBezTo>
                  <a:lnTo>
                    <a:pt x="3810000" y="550333"/>
                  </a:lnTo>
                  <a:cubicBezTo>
                    <a:pt x="3810000" y="611121"/>
                    <a:pt x="3760722" y="660400"/>
                    <a:pt x="3699933" y="660400"/>
                  </a:cubicBezTo>
                  <a:lnTo>
                    <a:pt x="110067" y="660400"/>
                  </a:lnTo>
                  <a:cubicBezTo>
                    <a:pt x="49279" y="660400"/>
                    <a:pt x="0" y="611121"/>
                    <a:pt x="0" y="550333"/>
                  </a:cubicBezTo>
                  <a:lnTo>
                    <a:pt x="0" y="110067"/>
                  </a:lnTo>
                  <a:cubicBezTo>
                    <a:pt x="0" y="49279"/>
                    <a:pt x="49279" y="0"/>
                    <a:pt x="110067" y="0"/>
                  </a:cubicBezTo>
                  <a:close/>
                </a:path>
              </a:pathLst>
            </a:custGeom>
            <a:solidFill>
              <a:srgbClr val="B8F34A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100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b="true" sz="1500" spc="75">
                  <a:solidFill>
                    <a:srgbClr val="08152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LÖSUNG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1257300"/>
            <a:ext cx="11430000" cy="59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Spuren richtig gelesen.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0600" y="2762250"/>
            <a:ext cx="15430500" cy="1285875"/>
            <a:chOff x="0" y="0"/>
            <a:chExt cx="20574000" cy="1714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574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10283E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574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24000" y="3057525"/>
            <a:ext cx="619125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BEDINGUNG</a:t>
            </a:r>
          </a:p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Akku &lt; 10 %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34500" y="3057525"/>
            <a:ext cx="619125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HANDLUNG</a:t>
            </a:r>
          </a:p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Energiesparmodus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0600" y="4572000"/>
            <a:ext cx="15430500" cy="1285875"/>
            <a:chOff x="0" y="0"/>
            <a:chExt cx="20574000" cy="1714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574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10283E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574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24000" y="4867275"/>
            <a:ext cx="619125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BEDINGUNG</a:t>
            </a:r>
          </a:p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Passwort korrekt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34500" y="4867275"/>
            <a:ext cx="619125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HANDLUNG</a:t>
            </a:r>
          </a:p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Zugang freigeben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0600" y="6381750"/>
            <a:ext cx="15430500" cy="1285875"/>
            <a:chOff x="0" y="0"/>
            <a:chExt cx="20574000" cy="1714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574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10283E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574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24000" y="6677025"/>
            <a:ext cx="619125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BEDINGUNG</a:t>
            </a:r>
          </a:p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Temperatur &lt; 18 °C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34500" y="6677025"/>
            <a:ext cx="619125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HANDLUNG</a:t>
            </a:r>
          </a:p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Heizung einschalten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619125"/>
            <a:ext cx="2857500" cy="495300"/>
            <a:chOff x="0" y="0"/>
            <a:chExt cx="3810000" cy="66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" cy="660400"/>
            </a:xfrm>
            <a:custGeom>
              <a:avLst/>
              <a:gdLst/>
              <a:ahLst/>
              <a:cxnLst/>
              <a:rect r="r" b="b" t="t" l="l"/>
              <a:pathLst>
                <a:path h="660400" w="3810000">
                  <a:moveTo>
                    <a:pt x="110067" y="0"/>
                  </a:moveTo>
                  <a:lnTo>
                    <a:pt x="3699933" y="0"/>
                  </a:lnTo>
                  <a:cubicBezTo>
                    <a:pt x="3760722" y="0"/>
                    <a:pt x="3810000" y="49279"/>
                    <a:pt x="3810000" y="110067"/>
                  </a:cubicBezTo>
                  <a:lnTo>
                    <a:pt x="3810000" y="550333"/>
                  </a:lnTo>
                  <a:cubicBezTo>
                    <a:pt x="3810000" y="611121"/>
                    <a:pt x="3760722" y="660400"/>
                    <a:pt x="3699933" y="660400"/>
                  </a:cubicBezTo>
                  <a:lnTo>
                    <a:pt x="110067" y="660400"/>
                  </a:lnTo>
                  <a:cubicBezTo>
                    <a:pt x="49279" y="660400"/>
                    <a:pt x="0" y="611121"/>
                    <a:pt x="0" y="550333"/>
                  </a:cubicBezTo>
                  <a:lnTo>
                    <a:pt x="0" y="110067"/>
                  </a:lnTo>
                  <a:cubicBezTo>
                    <a:pt x="0" y="49279"/>
                    <a:pt x="49279" y="0"/>
                    <a:pt x="110067" y="0"/>
                  </a:cubicBezTo>
                  <a:close/>
                </a:path>
              </a:pathLst>
            </a:custGeom>
            <a:solidFill>
              <a:srgbClr val="3A73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100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b="true" sz="1500" spc="75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PARTNER-CHALLENGE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1352550"/>
            <a:ext cx="12382500" cy="59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4350" b="true">
                <a:solidFill>
                  <a:srgbClr val="102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Programmiere deinen Partner.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3086100"/>
            <a:ext cx="14278942" cy="2248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4"/>
              </a:lnSpc>
            </a:pPr>
            <a:r>
              <a:rPr lang="en-US" sz="3675" b="true">
                <a:solidFill>
                  <a:srgbClr val="10243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  Drei eigene WENN–DANN-Regeln</a:t>
            </a:r>
          </a:p>
          <a:p>
            <a:pPr algn="l">
              <a:lnSpc>
                <a:spcPts val="6064"/>
              </a:lnSpc>
            </a:pPr>
            <a:r>
              <a:rPr lang="en-US" sz="3675" b="true">
                <a:solidFill>
                  <a:srgbClr val="10243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  Bedingung und Handlung eindeutig</a:t>
            </a:r>
          </a:p>
          <a:p>
            <a:pPr algn="l">
              <a:lnSpc>
                <a:spcPts val="6064"/>
              </a:lnSpc>
            </a:pPr>
            <a:r>
              <a:rPr lang="en-US" sz="3675" b="true">
                <a:solidFill>
                  <a:srgbClr val="10243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  Dein Partner versteht jede Regel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0600" y="7124700"/>
            <a:ext cx="12096750" cy="876300"/>
            <a:chOff x="0" y="0"/>
            <a:chExt cx="16129000" cy="116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1290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6129000">
                  <a:moveTo>
                    <a:pt x="0" y="0"/>
                  </a:moveTo>
                  <a:lnTo>
                    <a:pt x="16129000" y="0"/>
                  </a:lnTo>
                  <a:lnTo>
                    <a:pt x="16129000" y="1168400"/>
                  </a:lnTo>
                  <a:lnTo>
                    <a:pt x="0" y="1168400"/>
                  </a:lnTo>
                  <a:close/>
                </a:path>
              </a:pathLst>
            </a:custGeom>
            <a:solidFill>
              <a:srgbClr val="DFE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1290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71600" y="7391400"/>
            <a:ext cx="112395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A7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BEISPIEL  ·  WENN Zahl &gt; 10, DANN klatsche einmal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620750" y="4667250"/>
            <a:ext cx="4000500" cy="4000500"/>
          </a:xfrm>
          <a:custGeom>
            <a:avLst/>
            <a:gdLst/>
            <a:ahLst/>
            <a:cxnLst/>
            <a:rect r="r" b="b" t="t" l="l"/>
            <a:pathLst>
              <a:path h="4000500" w="4000500">
                <a:moveTo>
                  <a:pt x="0" y="0"/>
                </a:moveTo>
                <a:lnTo>
                  <a:pt x="4000500" y="0"/>
                </a:lnTo>
                <a:lnTo>
                  <a:pt x="40005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619125"/>
            <a:ext cx="2857500" cy="495300"/>
            <a:chOff x="0" y="0"/>
            <a:chExt cx="3810000" cy="66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" cy="660400"/>
            </a:xfrm>
            <a:custGeom>
              <a:avLst/>
              <a:gdLst/>
              <a:ahLst/>
              <a:cxnLst/>
              <a:rect r="r" b="b" t="t" l="l"/>
              <a:pathLst>
                <a:path h="660400" w="3810000">
                  <a:moveTo>
                    <a:pt x="110067" y="0"/>
                  </a:moveTo>
                  <a:lnTo>
                    <a:pt x="3699933" y="0"/>
                  </a:lnTo>
                  <a:cubicBezTo>
                    <a:pt x="3760722" y="0"/>
                    <a:pt x="3810000" y="49279"/>
                    <a:pt x="3810000" y="110067"/>
                  </a:cubicBezTo>
                  <a:lnTo>
                    <a:pt x="3810000" y="550333"/>
                  </a:lnTo>
                  <a:cubicBezTo>
                    <a:pt x="3810000" y="611121"/>
                    <a:pt x="3760722" y="660400"/>
                    <a:pt x="3699933" y="660400"/>
                  </a:cubicBezTo>
                  <a:lnTo>
                    <a:pt x="110067" y="660400"/>
                  </a:lnTo>
                  <a:cubicBezTo>
                    <a:pt x="49279" y="660400"/>
                    <a:pt x="0" y="611121"/>
                    <a:pt x="0" y="550333"/>
                  </a:cubicBezTo>
                  <a:lnTo>
                    <a:pt x="0" y="110067"/>
                  </a:lnTo>
                  <a:cubicBezTo>
                    <a:pt x="0" y="49279"/>
                    <a:pt x="49279" y="0"/>
                    <a:pt x="110067" y="0"/>
                  </a:cubicBezTo>
                  <a:close/>
                </a:path>
              </a:pathLst>
            </a:custGeom>
            <a:solidFill>
              <a:srgbClr val="3A73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100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b="true" sz="1500" spc="75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PARTNER-TEST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1304925"/>
            <a:ext cx="11430000" cy="59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4350" b="true">
                <a:solidFill>
                  <a:srgbClr val="102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Teste deinen Algorithmus.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43000" y="3238500"/>
            <a:ext cx="2952750" cy="1428750"/>
            <a:chOff x="0" y="0"/>
            <a:chExt cx="3937000" cy="190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7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937000">
                  <a:moveTo>
                    <a:pt x="90129" y="0"/>
                  </a:moveTo>
                  <a:lnTo>
                    <a:pt x="3846871" y="0"/>
                  </a:lnTo>
                  <a:cubicBezTo>
                    <a:pt x="3870775" y="0"/>
                    <a:pt x="3893700" y="9496"/>
                    <a:pt x="3910602" y="26398"/>
                  </a:cubicBezTo>
                  <a:cubicBezTo>
                    <a:pt x="3927504" y="43301"/>
                    <a:pt x="3937000" y="66225"/>
                    <a:pt x="3937000" y="90129"/>
                  </a:cubicBezTo>
                  <a:lnTo>
                    <a:pt x="3937000" y="1814871"/>
                  </a:lnTo>
                  <a:cubicBezTo>
                    <a:pt x="3937000" y="1838775"/>
                    <a:pt x="3927504" y="1861699"/>
                    <a:pt x="3910602" y="1878602"/>
                  </a:cubicBezTo>
                  <a:cubicBezTo>
                    <a:pt x="3893700" y="1895504"/>
                    <a:pt x="3870775" y="1905000"/>
                    <a:pt x="3846871" y="1905000"/>
                  </a:cubicBezTo>
                  <a:lnTo>
                    <a:pt x="90129" y="1905000"/>
                  </a:lnTo>
                  <a:cubicBezTo>
                    <a:pt x="66225" y="1905000"/>
                    <a:pt x="43301" y="1895504"/>
                    <a:pt x="26398" y="1878602"/>
                  </a:cubicBezTo>
                  <a:cubicBezTo>
                    <a:pt x="9496" y="1861699"/>
                    <a:pt x="0" y="1838775"/>
                    <a:pt x="0" y="1814871"/>
                  </a:cubicBezTo>
                  <a:lnTo>
                    <a:pt x="0" y="90129"/>
                  </a:lnTo>
                  <a:cubicBezTo>
                    <a:pt x="0" y="66225"/>
                    <a:pt x="9496" y="43301"/>
                    <a:pt x="26398" y="26398"/>
                  </a:cubicBezTo>
                  <a:cubicBezTo>
                    <a:pt x="43301" y="9496"/>
                    <a:pt x="66225" y="0"/>
                    <a:pt x="90129" y="0"/>
                  </a:cubicBezTo>
                  <a:close/>
                </a:path>
              </a:pathLst>
            </a:custGeom>
            <a:solidFill>
              <a:srgbClr val="3A73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37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REGEL TAUSCHEN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4238625" y="3952875"/>
            <a:ext cx="857250" cy="0"/>
          </a:xfrm>
          <a:prstGeom prst="line">
            <a:avLst/>
          </a:prstGeom>
          <a:ln cap="flat" w="47625">
            <a:solidFill>
              <a:srgbClr val="27D8E5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5238750" y="3238500"/>
            <a:ext cx="2952750" cy="1428750"/>
            <a:chOff x="0" y="0"/>
            <a:chExt cx="3937000" cy="190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37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937000">
                  <a:moveTo>
                    <a:pt x="90129" y="0"/>
                  </a:moveTo>
                  <a:lnTo>
                    <a:pt x="3846871" y="0"/>
                  </a:lnTo>
                  <a:cubicBezTo>
                    <a:pt x="3870775" y="0"/>
                    <a:pt x="3893700" y="9496"/>
                    <a:pt x="3910602" y="26398"/>
                  </a:cubicBezTo>
                  <a:cubicBezTo>
                    <a:pt x="3927504" y="43301"/>
                    <a:pt x="3937000" y="66225"/>
                    <a:pt x="3937000" y="90129"/>
                  </a:cubicBezTo>
                  <a:lnTo>
                    <a:pt x="3937000" y="1814871"/>
                  </a:lnTo>
                  <a:cubicBezTo>
                    <a:pt x="3937000" y="1838775"/>
                    <a:pt x="3927504" y="1861699"/>
                    <a:pt x="3910602" y="1878602"/>
                  </a:cubicBezTo>
                  <a:cubicBezTo>
                    <a:pt x="3893700" y="1895504"/>
                    <a:pt x="3870775" y="1905000"/>
                    <a:pt x="3846871" y="1905000"/>
                  </a:cubicBezTo>
                  <a:lnTo>
                    <a:pt x="90129" y="1905000"/>
                  </a:lnTo>
                  <a:cubicBezTo>
                    <a:pt x="66225" y="1905000"/>
                    <a:pt x="43301" y="1895504"/>
                    <a:pt x="26398" y="1878602"/>
                  </a:cubicBezTo>
                  <a:cubicBezTo>
                    <a:pt x="9496" y="1861699"/>
                    <a:pt x="0" y="1838775"/>
                    <a:pt x="0" y="1814871"/>
                  </a:cubicBezTo>
                  <a:lnTo>
                    <a:pt x="0" y="90129"/>
                  </a:lnTo>
                  <a:cubicBezTo>
                    <a:pt x="0" y="66225"/>
                    <a:pt x="9496" y="43301"/>
                    <a:pt x="26398" y="26398"/>
                  </a:cubicBezTo>
                  <a:cubicBezTo>
                    <a:pt x="43301" y="9496"/>
                    <a:pt x="66225" y="0"/>
                    <a:pt x="90129" y="0"/>
                  </a:cubicBezTo>
                  <a:close/>
                </a:path>
              </a:pathLst>
            </a:custGeom>
            <a:solidFill>
              <a:srgbClr val="3A73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937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BEDINGUNG PRÜFEN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8334375" y="3952875"/>
            <a:ext cx="857250" cy="0"/>
          </a:xfrm>
          <a:prstGeom prst="line">
            <a:avLst/>
          </a:prstGeom>
          <a:ln cap="flat" w="47625">
            <a:solidFill>
              <a:srgbClr val="27D8E5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9334500" y="3238500"/>
            <a:ext cx="2952750" cy="1428750"/>
            <a:chOff x="0" y="0"/>
            <a:chExt cx="3937000" cy="190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37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937000">
                  <a:moveTo>
                    <a:pt x="90129" y="0"/>
                  </a:moveTo>
                  <a:lnTo>
                    <a:pt x="3846871" y="0"/>
                  </a:lnTo>
                  <a:cubicBezTo>
                    <a:pt x="3870775" y="0"/>
                    <a:pt x="3893700" y="9496"/>
                    <a:pt x="3910602" y="26398"/>
                  </a:cubicBezTo>
                  <a:cubicBezTo>
                    <a:pt x="3927504" y="43301"/>
                    <a:pt x="3937000" y="66225"/>
                    <a:pt x="3937000" y="90129"/>
                  </a:cubicBezTo>
                  <a:lnTo>
                    <a:pt x="3937000" y="1814871"/>
                  </a:lnTo>
                  <a:cubicBezTo>
                    <a:pt x="3937000" y="1838775"/>
                    <a:pt x="3927504" y="1861699"/>
                    <a:pt x="3910602" y="1878602"/>
                  </a:cubicBezTo>
                  <a:cubicBezTo>
                    <a:pt x="3893700" y="1895504"/>
                    <a:pt x="3870775" y="1905000"/>
                    <a:pt x="3846871" y="1905000"/>
                  </a:cubicBezTo>
                  <a:lnTo>
                    <a:pt x="90129" y="1905000"/>
                  </a:lnTo>
                  <a:cubicBezTo>
                    <a:pt x="66225" y="1905000"/>
                    <a:pt x="43301" y="1895504"/>
                    <a:pt x="26398" y="1878602"/>
                  </a:cubicBezTo>
                  <a:cubicBezTo>
                    <a:pt x="9496" y="1861699"/>
                    <a:pt x="0" y="1838775"/>
                    <a:pt x="0" y="1814871"/>
                  </a:cubicBezTo>
                  <a:lnTo>
                    <a:pt x="0" y="90129"/>
                  </a:lnTo>
                  <a:cubicBezTo>
                    <a:pt x="0" y="66225"/>
                    <a:pt x="9496" y="43301"/>
                    <a:pt x="26398" y="26398"/>
                  </a:cubicBezTo>
                  <a:cubicBezTo>
                    <a:pt x="43301" y="9496"/>
                    <a:pt x="66225" y="0"/>
                    <a:pt x="90129" y="0"/>
                  </a:cubicBezTo>
                  <a:close/>
                </a:path>
              </a:pathLst>
            </a:custGeom>
            <a:solidFill>
              <a:srgbClr val="3A73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937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HANDLUNG AUSFÜHREN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2430125" y="3952875"/>
            <a:ext cx="857250" cy="0"/>
          </a:xfrm>
          <a:prstGeom prst="line">
            <a:avLst/>
          </a:prstGeom>
          <a:ln cap="flat" w="47625">
            <a:solidFill>
              <a:srgbClr val="27D8E5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3430250" y="3238500"/>
            <a:ext cx="2952750" cy="1428750"/>
            <a:chOff x="0" y="0"/>
            <a:chExt cx="3937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37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937000">
                  <a:moveTo>
                    <a:pt x="90129" y="0"/>
                  </a:moveTo>
                  <a:lnTo>
                    <a:pt x="3846871" y="0"/>
                  </a:lnTo>
                  <a:cubicBezTo>
                    <a:pt x="3870775" y="0"/>
                    <a:pt x="3893700" y="9496"/>
                    <a:pt x="3910602" y="26398"/>
                  </a:cubicBezTo>
                  <a:cubicBezTo>
                    <a:pt x="3927504" y="43301"/>
                    <a:pt x="3937000" y="66225"/>
                    <a:pt x="3937000" y="90129"/>
                  </a:cubicBezTo>
                  <a:lnTo>
                    <a:pt x="3937000" y="1814871"/>
                  </a:lnTo>
                  <a:cubicBezTo>
                    <a:pt x="3937000" y="1838775"/>
                    <a:pt x="3927504" y="1861699"/>
                    <a:pt x="3910602" y="1878602"/>
                  </a:cubicBezTo>
                  <a:cubicBezTo>
                    <a:pt x="3893700" y="1895504"/>
                    <a:pt x="3870775" y="1905000"/>
                    <a:pt x="3846871" y="1905000"/>
                  </a:cubicBezTo>
                  <a:lnTo>
                    <a:pt x="90129" y="1905000"/>
                  </a:lnTo>
                  <a:cubicBezTo>
                    <a:pt x="66225" y="1905000"/>
                    <a:pt x="43301" y="1895504"/>
                    <a:pt x="26398" y="1878602"/>
                  </a:cubicBezTo>
                  <a:cubicBezTo>
                    <a:pt x="9496" y="1861699"/>
                    <a:pt x="0" y="1838775"/>
                    <a:pt x="0" y="1814871"/>
                  </a:cubicBezTo>
                  <a:lnTo>
                    <a:pt x="0" y="90129"/>
                  </a:lnTo>
                  <a:cubicBezTo>
                    <a:pt x="0" y="66225"/>
                    <a:pt x="9496" y="43301"/>
                    <a:pt x="26398" y="26398"/>
                  </a:cubicBezTo>
                  <a:cubicBezTo>
                    <a:pt x="43301" y="9496"/>
                    <a:pt x="66225" y="0"/>
                    <a:pt x="90129" y="0"/>
                  </a:cubicBezTo>
                  <a:close/>
                </a:path>
              </a:pathLst>
            </a:custGeom>
            <a:solidFill>
              <a:srgbClr val="B8F34A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937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081525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VERBESSERN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90600" y="7105650"/>
            <a:ext cx="1114425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10243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Was passiert, wenn die Bedingung nicht erfüllt ist?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0600" y="7905750"/>
            <a:ext cx="1000125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3A7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Die Handlung wird nicht ausgeführt.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8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523875"/>
            <a:ext cx="2857500" cy="495300"/>
            <a:chOff x="0" y="0"/>
            <a:chExt cx="3810000" cy="66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" cy="660400"/>
            </a:xfrm>
            <a:custGeom>
              <a:avLst/>
              <a:gdLst/>
              <a:ahLst/>
              <a:cxnLst/>
              <a:rect r="r" b="b" t="t" l="l"/>
              <a:pathLst>
                <a:path h="660400" w="3810000">
                  <a:moveTo>
                    <a:pt x="110067" y="0"/>
                  </a:moveTo>
                  <a:lnTo>
                    <a:pt x="3699933" y="0"/>
                  </a:lnTo>
                  <a:cubicBezTo>
                    <a:pt x="3760722" y="0"/>
                    <a:pt x="3810000" y="49279"/>
                    <a:pt x="3810000" y="110067"/>
                  </a:cubicBezTo>
                  <a:lnTo>
                    <a:pt x="3810000" y="550333"/>
                  </a:lnTo>
                  <a:cubicBezTo>
                    <a:pt x="3810000" y="611121"/>
                    <a:pt x="3760722" y="660400"/>
                    <a:pt x="3699933" y="660400"/>
                  </a:cubicBezTo>
                  <a:lnTo>
                    <a:pt x="110067" y="660400"/>
                  </a:lnTo>
                  <a:cubicBezTo>
                    <a:pt x="49279" y="660400"/>
                    <a:pt x="0" y="611121"/>
                    <a:pt x="0" y="550333"/>
                  </a:cubicBezTo>
                  <a:lnTo>
                    <a:pt x="0" y="110067"/>
                  </a:lnTo>
                  <a:cubicBezTo>
                    <a:pt x="0" y="49279"/>
                    <a:pt x="49279" y="0"/>
                    <a:pt x="110067" y="0"/>
                  </a:cubicBezTo>
                  <a:close/>
                </a:path>
              </a:pathLst>
            </a:custGeom>
            <a:solidFill>
              <a:srgbClr val="FF6B6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100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b="true" sz="1500" spc="75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FEHLERSUCHE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1257300"/>
            <a:ext cx="9525000" cy="59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Ist diese Regel gut?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0600" y="2762250"/>
            <a:ext cx="7620000" cy="3619500"/>
            <a:chOff x="0" y="0"/>
            <a:chExt cx="10160000" cy="482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4826000"/>
                  </a:lnTo>
                  <a:lnTo>
                    <a:pt x="0" y="4826000"/>
                  </a:lnTo>
                  <a:close/>
                </a:path>
              </a:pathLst>
            </a:custGeom>
            <a:solidFill>
              <a:srgbClr val="3A1E2C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1600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76375" y="3105150"/>
            <a:ext cx="6572250" cy="88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3"/>
              </a:lnSpc>
            </a:pPr>
            <a:r>
              <a:rPr lang="en-US" sz="2625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WENN es warm ist,</a:t>
            </a:r>
          </a:p>
          <a:p>
            <a:pPr algn="l">
              <a:lnSpc>
                <a:spcPts val="3543"/>
              </a:lnSpc>
            </a:pPr>
            <a:r>
              <a:rPr lang="en-US" sz="2625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DANN ziehe ich eine Jacke an.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6375" y="5438775"/>
            <a:ext cx="6477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6B66"/>
                </a:solidFill>
                <a:latin typeface="IBM Plex Sans"/>
                <a:ea typeface="IBM Plex Sans"/>
                <a:cs typeface="IBM Plex Sans"/>
                <a:sym typeface="IBM Plex Sans"/>
              </a:rPr>
              <a:t>„warm“ ist nicht eindeutig.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715500" y="2762250"/>
            <a:ext cx="7620000" cy="3619500"/>
            <a:chOff x="0" y="0"/>
            <a:chExt cx="10160000" cy="482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60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4826000"/>
                  </a:lnTo>
                  <a:lnTo>
                    <a:pt x="0" y="4826000"/>
                  </a:lnTo>
                  <a:close/>
                </a:path>
              </a:pathLst>
            </a:custGeom>
            <a:solidFill>
              <a:srgbClr val="B8F34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1600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39375" y="3105150"/>
            <a:ext cx="6572250" cy="88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3"/>
              </a:lnSpc>
            </a:pPr>
            <a:r>
              <a:rPr lang="en-US" sz="2625" b="true">
                <a:solidFill>
                  <a:srgbClr val="08152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WENN Temperatur &lt; 10 °C,</a:t>
            </a:r>
          </a:p>
          <a:p>
            <a:pPr algn="l">
              <a:lnSpc>
                <a:spcPts val="3543"/>
              </a:lnSpc>
            </a:pPr>
            <a:r>
              <a:rPr lang="en-US" sz="2625" b="true">
                <a:solidFill>
                  <a:srgbClr val="08152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DANN Jacke anziehen.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39375" y="5438775"/>
            <a:ext cx="6477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081525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Computer brauchen genaue Bedingungen.</a:t>
            </a:r>
          </a:p>
        </p:txBody>
      </p:sp>
      <p:sp>
        <p:nvSpPr>
          <p:cNvPr name="AutoShape 16" id="16"/>
          <p:cNvSpPr/>
          <p:nvPr/>
        </p:nvSpPr>
        <p:spPr>
          <a:xfrm>
            <a:off x="8763000" y="4572000"/>
            <a:ext cx="714375" cy="0"/>
          </a:xfrm>
          <a:prstGeom prst="line">
            <a:avLst/>
          </a:prstGeom>
          <a:ln cap="flat" w="76200">
            <a:solidFill>
              <a:srgbClr val="27D8E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7" id="17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619125"/>
            <a:ext cx="2857500" cy="495300"/>
            <a:chOff x="0" y="0"/>
            <a:chExt cx="3810000" cy="66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" cy="660400"/>
            </a:xfrm>
            <a:custGeom>
              <a:avLst/>
              <a:gdLst/>
              <a:ahLst/>
              <a:cxnLst/>
              <a:rect r="r" b="b" t="t" l="l"/>
              <a:pathLst>
                <a:path h="660400" w="3810000">
                  <a:moveTo>
                    <a:pt x="110067" y="0"/>
                  </a:moveTo>
                  <a:lnTo>
                    <a:pt x="3699933" y="0"/>
                  </a:lnTo>
                  <a:cubicBezTo>
                    <a:pt x="3760722" y="0"/>
                    <a:pt x="3810000" y="49279"/>
                    <a:pt x="3810000" y="110067"/>
                  </a:cubicBezTo>
                  <a:lnTo>
                    <a:pt x="3810000" y="550333"/>
                  </a:lnTo>
                  <a:cubicBezTo>
                    <a:pt x="3810000" y="611121"/>
                    <a:pt x="3760722" y="660400"/>
                    <a:pt x="3699933" y="660400"/>
                  </a:cubicBezTo>
                  <a:lnTo>
                    <a:pt x="110067" y="660400"/>
                  </a:lnTo>
                  <a:cubicBezTo>
                    <a:pt x="49279" y="660400"/>
                    <a:pt x="0" y="611121"/>
                    <a:pt x="0" y="550333"/>
                  </a:cubicBezTo>
                  <a:lnTo>
                    <a:pt x="0" y="110067"/>
                  </a:lnTo>
                  <a:cubicBezTo>
                    <a:pt x="0" y="49279"/>
                    <a:pt x="49279" y="0"/>
                    <a:pt x="110067" y="0"/>
                  </a:cubicBezTo>
                  <a:close/>
                </a:path>
              </a:pathLst>
            </a:custGeom>
            <a:solidFill>
              <a:srgbClr val="3A73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100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b="true" sz="1500" spc="75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HEFTEINTRAG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76375" y="1865567"/>
            <a:ext cx="12382500" cy="59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4"/>
              </a:lnSpc>
            </a:pPr>
            <a:r>
              <a:rPr lang="en-US" sz="4350" b="true">
                <a:solidFill>
                  <a:srgbClr val="102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Bedingungen – Wenn–Dann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0600" y="2762250"/>
            <a:ext cx="12001500" cy="5810250"/>
            <a:chOff x="0" y="0"/>
            <a:chExt cx="16002000" cy="774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02000" cy="7747000"/>
            </a:xfrm>
            <a:custGeom>
              <a:avLst/>
              <a:gdLst/>
              <a:ahLst/>
              <a:cxnLst/>
              <a:rect r="r" b="b" t="t" l="l"/>
              <a:pathLst>
                <a:path h="7747000" w="16002000">
                  <a:moveTo>
                    <a:pt x="0" y="0"/>
                  </a:moveTo>
                  <a:lnTo>
                    <a:pt x="16002000" y="0"/>
                  </a:lnTo>
                  <a:lnTo>
                    <a:pt x="16002000" y="7747000"/>
                  </a:lnTo>
                  <a:lnTo>
                    <a:pt x="0" y="774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002000" cy="778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76375" y="3095625"/>
            <a:ext cx="16568475" cy="3617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3610">
                <a:solidFill>
                  <a:srgbClr val="10243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Computer treffen Entscheidungen nach festen Regeln.</a:t>
            </a:r>
          </a:p>
          <a:p>
            <a:pPr algn="l">
              <a:lnSpc>
                <a:spcPts val="4874"/>
              </a:lnSpc>
            </a:pPr>
          </a:p>
          <a:p>
            <a:pPr algn="l">
              <a:lnSpc>
                <a:spcPts val="4874"/>
              </a:lnSpc>
            </a:pPr>
            <a:r>
              <a:rPr lang="en-US" sz="3610">
                <a:solidFill>
                  <a:srgbClr val="10243B"/>
                </a:solidFill>
                <a:latin typeface="IBM Plex Sans"/>
                <a:ea typeface="IBM Plex Sans"/>
                <a:cs typeface="IBM Plex Sans"/>
                <a:sym typeface="IBM Plex Sans"/>
              </a:rPr>
              <a:t>Bedingung = etwas, das geprüft wird</a:t>
            </a:r>
          </a:p>
          <a:p>
            <a:pPr algn="l">
              <a:lnSpc>
                <a:spcPts val="4874"/>
              </a:lnSpc>
            </a:pPr>
            <a:r>
              <a:rPr lang="en-US" sz="3610">
                <a:solidFill>
                  <a:srgbClr val="10243B"/>
                </a:solidFill>
                <a:latin typeface="IBM Plex Sans"/>
                <a:ea typeface="IBM Plex Sans"/>
                <a:cs typeface="IBM Plex Sans"/>
                <a:sym typeface="IBM Plex Sans"/>
              </a:rPr>
              <a:t>Erfüllt? → Handlung wird ausgeführt</a:t>
            </a:r>
          </a:p>
          <a:p>
            <a:pPr algn="l">
              <a:lnSpc>
                <a:spcPts val="4874"/>
              </a:lnSpc>
            </a:pPr>
          </a:p>
          <a:p>
            <a:pPr algn="l">
              <a:lnSpc>
                <a:spcPts val="4874"/>
              </a:lnSpc>
            </a:pPr>
            <a:r>
              <a:rPr lang="en-US" sz="3610">
                <a:solidFill>
                  <a:srgbClr val="10243B"/>
                </a:solidFill>
                <a:latin typeface="IBM Plex Sans"/>
                <a:ea typeface="IBM Plex Sans"/>
                <a:cs typeface="IBM Plex Sans"/>
                <a:sym typeface="IBM Plex Sans"/>
              </a:rPr>
              <a:t>WENN es regnet → DANN Regenschirm nehmen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70403" y="7498199"/>
            <a:ext cx="11144250" cy="43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574" b="true">
                <a:solidFill>
                  <a:srgbClr val="3A73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WENN  BEDINGUNG   →   DANN  HANDLUNG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620750" y="5429250"/>
            <a:ext cx="4000500" cy="4000500"/>
          </a:xfrm>
          <a:custGeom>
            <a:avLst/>
            <a:gdLst/>
            <a:ahLst/>
            <a:cxnLst/>
            <a:rect r="r" b="b" t="t" l="l"/>
            <a:pathLst>
              <a:path h="4000500" w="4000500">
                <a:moveTo>
                  <a:pt x="0" y="0"/>
                </a:moveTo>
                <a:lnTo>
                  <a:pt x="4000500" y="0"/>
                </a:lnTo>
                <a:lnTo>
                  <a:pt x="40005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60758C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723900"/>
            <a:ext cx="5905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NÄCHSTE MISSION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857375"/>
            <a:ext cx="13239750" cy="176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2"/>
              </a:lnSpc>
            </a:pPr>
            <a:r>
              <a:rPr lang="en-US" sz="6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 passiert, wenn die</a:t>
            </a:r>
          </a:p>
          <a:p>
            <a:pPr algn="l">
              <a:lnSpc>
                <a:spcPts val="6762"/>
              </a:lnSpc>
            </a:pPr>
            <a:r>
              <a:rPr lang="en-US" sz="6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Bedingung NICHT erfüllt ist?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600" y="5238750"/>
            <a:ext cx="1000125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150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WENN es regnet  →  Regenschirm</a:t>
            </a:r>
          </a:p>
          <a:p>
            <a:pPr algn="l">
              <a:lnSpc>
                <a:spcPts val="4725"/>
              </a:lnSpc>
            </a:pPr>
            <a:r>
              <a:rPr lang="en-US" sz="3150" b="true">
                <a:solidFill>
                  <a:srgbClr val="B8F34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SONST  →  ???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0600" y="7791450"/>
            <a:ext cx="1285875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WENN … DANN … SONST …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525500" y="5381625"/>
            <a:ext cx="4000500" cy="4000500"/>
          </a:xfrm>
          <a:custGeom>
            <a:avLst/>
            <a:gdLst/>
            <a:ahLst/>
            <a:cxnLst/>
            <a:rect r="r" b="b" t="t" l="l"/>
            <a:pathLst>
              <a:path h="4000500" w="4000500">
                <a:moveTo>
                  <a:pt x="0" y="0"/>
                </a:moveTo>
                <a:lnTo>
                  <a:pt x="4000500" y="0"/>
                </a:lnTo>
                <a:lnTo>
                  <a:pt x="4000500" y="4000500"/>
                </a:lnTo>
                <a:lnTo>
                  <a:pt x="0" y="400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990600" y="9686925"/>
            <a:ext cx="5905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27D8E5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MISSION 03  /  ENTSCHEIDUNGEN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73500" y="9686925"/>
            <a:ext cx="7239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DAHXKRY3ZHI</dc:identifier>
  <dcterms:modified xsi:type="dcterms:W3CDTF">2011-08-01T06:04:30Z</dcterms:modified>
  <cp:revision>1</cp:revision>
  <dc:title>Was passiert, wenn es nicht regnet?</dc:title>
</cp:coreProperties>
</file>